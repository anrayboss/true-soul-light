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這是本次課程的精華總覽，強調透過定位和系統打破低薪內耗，實現優雅變現。</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三天的課程層層遞進，從商業底層思維到內容生產，再到高客單與線上課設計。</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療癒師常陷入自我內耗的死循環。要拯救他人，必須先讓自己穩定落地。</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穩定的能量與收入是支持療癒事業的基石，佛心價無法持久。</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整合定位能產生化學反應，將原有紅海專長升維，形成無可替代的護城河。</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這三個案例說明如何無縫融合舊專業與新能量，在日常場景中優雅引流。</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 好友就是你的私域金礦，盲目群發是自殺行為，必須進行精細化管理。</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標籤能幫你精準過濾客群，把 80% 的精力花在 20% 的 A/B 級精準客戶身上。</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一句話說清定位，用測驗作為誘餌，無痛引流新朋友進入你的官方 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成交式官網是為了建立信任與成交而設計，而非單純的資訊展示。</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透過超低門檻體驗，快速篩選出有需求的客戶，進而進行後端高價值方案轉化。</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賺錢跟呼吸一樣簡單。打破匱乏的思維慣性，用豐盛能量吸引財富。</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客戶買的是解決方案，而不是你的證書清單。定位必須讓名字與核心功能畫上等號。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好的定位能把勞力密集的服務升級為高客單價的能量與代碼校準服務。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銷售是用推的，吸引是用吸的。在自媒體中定期發布暖身文是建立信任的關鍵。</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只是工具，你的個人經驗、真實感受與獨特語氣才是貼文的靈魂。</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定價是許多療癒師的卡點，透過 AI 可以快速將這個痛點化為共鳴貼文。</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現場示範 AI 如何在短短 5 分鐘內，將冰冷的個案紀錄轉化為有溫度的故事。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低價體驗配合精美官網與贈品，能大幅降低陌生客戶的防線，主動建立連結。</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一套落地的線上成交系統，能讓你在旅行、休息時依然有持續收入，實現時間自由。</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痛苦可以轉化為強大反彈的動能。你的動力燃油是什麼？這是你前行的核心。</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低價是破冰，高價值方案是真正幫客戶解決問題的完整療癒系統。</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像醫生診斷一樣，不推銷，只給予專業的分析與下一步的解決方案建議。</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靈巧的支付工具是促成成交的催化劑，讓愛流動，也讓客戶無痛買單。</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錄播加直播陪跑是目前最推崇的知識變現模式，能最大化釋放老師的時間。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不要用大腦限制了能量的流動，線上化能幫你突破時間與空間的限制，擴大影響力。</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精準定位、高共鳴內容與低門檻體驗，成功協助 Ani 實現副業到全職的過渡。</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名額有限，透過人工審核過濾無自媒體基礎者，確保資源留給真正準備好的老師。</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立刻開始行動！明晚 7:30 講座將繼續分享更多自媒體實戰與系統對接。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9180000">
            <a:off x="11548870" y="2040148"/>
            <a:ext cx="914400" cy="914400"/>
          </a:xfrm>
          <a:prstGeom prst="rect">
            <a:avLst/>
          </a:prstGeom>
          <a:noFill/>
        </p:spPr>
        <p:txBody>
          <a:bodyPr wrap="none" lIns="0" tIns="0" rIns="0" bIns="0">
            <a:spAutoFit/>
          </a:bodyPr>
          <a:lstStyle/>
          <a:p>
            <a:r>
              <a:rPr sz="3800">
                <a:solidFill>
                  <a:srgbClr val="F4F0E6"/>
                </a:solidFill>
                <a:latin typeface="M PLUS Rounded 1c"/>
              </a:rPr>
              <a:t>☥</a:t>
            </a:r>
          </a:p>
        </p:txBody>
      </p:sp>
      <p:sp>
        <p:nvSpPr>
          <p:cNvPr id="4" name="TextBox 3"/>
          <p:cNvSpPr txBox="1"/>
          <p:nvPr/>
        </p:nvSpPr>
        <p:spPr>
          <a:xfrm rot="1860000">
            <a:off x="10030519" y="375269"/>
            <a:ext cx="914400" cy="914400"/>
          </a:xfrm>
          <a:prstGeom prst="rect">
            <a:avLst/>
          </a:prstGeom>
          <a:noFill/>
        </p:spPr>
        <p:txBody>
          <a:bodyPr wrap="none" lIns="0" tIns="0" rIns="0" bIns="0">
            <a:spAutoFit/>
          </a:bodyPr>
          <a:lstStyle/>
          <a:p>
            <a:r>
              <a:rPr sz="4000">
                <a:solidFill>
                  <a:srgbClr val="F4F0E6"/>
                </a:solidFill>
                <a:latin typeface="M PLUS Rounded 1c"/>
              </a:rPr>
              <a:t>☥</a:t>
            </a:r>
          </a:p>
        </p:txBody>
      </p:sp>
      <p:sp>
        <p:nvSpPr>
          <p:cNvPr id="5" name="TextBox 4"/>
          <p:cNvSpPr txBox="1"/>
          <p:nvPr/>
        </p:nvSpPr>
        <p:spPr>
          <a:xfrm rot="4740000">
            <a:off x="7261169" y="417258"/>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6" name="TextBox 5"/>
          <p:cNvSpPr txBox="1"/>
          <p:nvPr/>
        </p:nvSpPr>
        <p:spPr>
          <a:xfrm rot="16620000">
            <a:off x="10997801" y="6339184"/>
            <a:ext cx="914400" cy="914400"/>
          </a:xfrm>
          <a:prstGeom prst="rect">
            <a:avLst/>
          </a:prstGeom>
          <a:noFill/>
        </p:spPr>
        <p:txBody>
          <a:bodyPr wrap="none" lIns="0" tIns="0" rIns="0" bIns="0">
            <a:spAutoFit/>
          </a:bodyPr>
          <a:lstStyle/>
          <a:p>
            <a:r>
              <a:rPr sz="4000">
                <a:solidFill>
                  <a:srgbClr val="F4F0E6"/>
                </a:solidFill>
                <a:latin typeface="M PLUS Rounded 1c"/>
              </a:rPr>
              <a:t>♥</a:t>
            </a:r>
          </a:p>
        </p:txBody>
      </p:sp>
      <p:sp>
        <p:nvSpPr>
          <p:cNvPr id="7" name="TextBox 6"/>
          <p:cNvSpPr txBox="1"/>
          <p:nvPr/>
        </p:nvSpPr>
        <p:spPr>
          <a:xfrm rot="11820000">
            <a:off x="924031" y="2927561"/>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8" name="TextBox 7"/>
          <p:cNvSpPr txBox="1"/>
          <p:nvPr/>
        </p:nvSpPr>
        <p:spPr>
          <a:xfrm rot="13200000">
            <a:off x="10533906" y="775713"/>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9" name="TextBox 8"/>
          <p:cNvSpPr txBox="1"/>
          <p:nvPr/>
        </p:nvSpPr>
        <p:spPr>
          <a:xfrm>
            <a:off x="914400" y="2011680"/>
            <a:ext cx="10362895" cy="3200400"/>
          </a:xfrm>
          <a:prstGeom prst="rect">
            <a:avLst/>
          </a:prstGeom>
          <a:noFill/>
        </p:spPr>
        <p:txBody>
          <a:bodyPr wrap="square" lIns="0" tIns="0" rIns="0" bIns="0">
            <a:spAutoFit/>
          </a:bodyPr>
          <a:lstStyle/>
          <a:p>
            <a:pPr algn="ctr">
              <a:spcAft>
                <a:spcPts val="1400"/>
              </a:spcAft>
            </a:pPr>
            <a:r>
              <a:rPr sz="4400" b="1">
                <a:solidFill>
                  <a:srgbClr val="B8975A"/>
                </a:solidFill>
                <a:latin typeface="M PLUS Rounded 1c"/>
              </a:rPr>
              <a:t>莎莉身心靈</a:t>
            </a:r>
          </a:p>
          <a:p>
            <a:pPr algn="ctr"/>
            <a:r>
              <a:rPr sz="2400">
                <a:solidFill>
                  <a:srgbClr val="C5A880"/>
                </a:solidFill>
                <a:latin typeface="M PLUS Rounded 1c"/>
              </a:rPr>
              <a:t>全職與整合型療癒師落地變現指南</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8840000">
            <a:off x="482983" y="5577168"/>
            <a:ext cx="914400" cy="914400"/>
          </a:xfrm>
          <a:prstGeom prst="rect">
            <a:avLst/>
          </a:prstGeom>
          <a:noFill/>
        </p:spPr>
        <p:txBody>
          <a:bodyPr wrap="none" lIns="0" tIns="0" rIns="0" bIns="0">
            <a:spAutoFit/>
          </a:bodyPr>
          <a:lstStyle/>
          <a:p>
            <a:r>
              <a:rPr sz="3600">
                <a:solidFill>
                  <a:srgbClr val="F4F0E6"/>
                </a:solidFill>
                <a:latin typeface="M PLUS Rounded 1c"/>
              </a:rPr>
              <a:t>✦</a:t>
            </a:r>
          </a:p>
        </p:txBody>
      </p:sp>
      <p:sp>
        <p:nvSpPr>
          <p:cNvPr id="4" name="TextBox 3"/>
          <p:cNvSpPr txBox="1"/>
          <p:nvPr/>
        </p:nvSpPr>
        <p:spPr>
          <a:xfrm rot="20880000">
            <a:off x="838228" y="2789100"/>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5" name="TextBox 4"/>
          <p:cNvSpPr txBox="1"/>
          <p:nvPr/>
        </p:nvSpPr>
        <p:spPr>
          <a:xfrm rot="21480000">
            <a:off x="10781919" y="6139410"/>
            <a:ext cx="914400" cy="914400"/>
          </a:xfrm>
          <a:prstGeom prst="rect">
            <a:avLst/>
          </a:prstGeom>
          <a:noFill/>
        </p:spPr>
        <p:txBody>
          <a:bodyPr wrap="none" lIns="0" tIns="0" rIns="0" bIns="0">
            <a:spAutoFit/>
          </a:bodyPr>
          <a:lstStyle/>
          <a:p>
            <a:r>
              <a:rPr sz="3100">
                <a:solidFill>
                  <a:srgbClr val="F4F0E6"/>
                </a:solidFill>
                <a:latin typeface="M PLUS Rounded 1c"/>
              </a:rPr>
              <a:t>☥</a:t>
            </a:r>
          </a:p>
        </p:txBody>
      </p:sp>
      <p:sp>
        <p:nvSpPr>
          <p:cNvPr id="6" name="TextBox 5"/>
          <p:cNvSpPr txBox="1"/>
          <p:nvPr/>
        </p:nvSpPr>
        <p:spPr>
          <a:xfrm rot="12120000">
            <a:off x="3550752" y="6270442"/>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7" name="TextBox 6"/>
          <p:cNvSpPr txBox="1"/>
          <p:nvPr/>
        </p:nvSpPr>
        <p:spPr>
          <a:xfrm rot="12780000">
            <a:off x="11691447" y="3287812"/>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8" name="TextBox 7"/>
          <p:cNvSpPr txBox="1"/>
          <p:nvPr/>
        </p:nvSpPr>
        <p:spPr>
          <a:xfrm rot="5940000">
            <a:off x="790824" y="2723563"/>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9" name="TextBox 8"/>
          <p:cNvSpPr txBox="1"/>
          <p:nvPr/>
        </p:nvSpPr>
        <p:spPr>
          <a:xfrm rot="18840000">
            <a:off x="525332" y="6256542"/>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10" name="TextBox 9"/>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內容核心摘要</a:t>
            </a:r>
          </a:p>
        </p:txBody>
      </p:sp>
      <p:sp>
        <p:nvSpPr>
          <p:cNvPr id="11" name="Rectangle 10"/>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645920"/>
            <a:ext cx="10728655" cy="4389120"/>
          </a:xfrm>
          <a:prstGeom prst="rect">
            <a:avLst/>
          </a:prstGeom>
          <a:noFill/>
        </p:spPr>
        <p:txBody>
          <a:bodyPr wrap="square" lIns="0" tIns="0" rIns="0" bIns="0">
            <a:spAutoFit/>
          </a:bodyPr>
          <a:lstStyle/>
          <a:p>
            <a:pPr>
              <a:spcBef>
                <a:spcPts val="600"/>
              </a:spcBef>
              <a:spcAft>
                <a:spcPts val="1000"/>
              </a:spcAft>
            </a:pPr>
            <a:r>
              <a:rPr sz="2000">
                <a:solidFill>
                  <a:srgbClr val="3C3C3C"/>
                </a:solidFill>
                <a:latin typeface="M PLUS Rounded 1c"/>
              </a:rPr>
              <a:t>打破「學很多、賺很少」的低薪循環，透過「吸引取代銷售」打造安心收入系統。</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核心挑戰</a:t>
            </a:r>
            <a:r>
              <a:rPr sz="2000">
                <a:solidFill>
                  <a:srgbClr val="3C3C3C"/>
                </a:solidFill>
                <a:latin typeface="M PLUS Rounded 1c"/>
              </a:rPr>
              <a:t>：多數療癒師月入低於 4 萬，能量內耗，能力無法落地。</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定位升維</a:t>
            </a:r>
            <a:r>
              <a:rPr sz="20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b="1" sz="1800">
                <a:solidFill>
                  <a:srgbClr val="8C6D3E"/>
                </a:solidFill>
                <a:latin typeface="M PLUS Rounded 1c"/>
              </a:rPr>
              <a:t>全職療癒師</a:t>
            </a:r>
            <a:r>
              <a:rPr sz="1800">
                <a:solidFill>
                  <a:srgbClr val="3C3C3C"/>
                </a:solidFill>
                <a:latin typeface="M PLUS Rounded 1c"/>
              </a:rPr>
              <a:t>：穩定自身能量，用人類聽懂的語言溝通。</a:t>
            </a:r>
          </a:p>
          <a:p>
            <a:pPr lvl="1">
              <a:spcBef>
                <a:spcPts val="400"/>
              </a:spcBef>
              <a:spcAft>
                <a:spcPts val="800"/>
              </a:spcAft>
            </a:pPr>
            <a:r>
              <a:rPr b="1" sz="1800">
                <a:solidFill>
                  <a:srgbClr val="C5A880"/>
                </a:solidFill>
                <a:latin typeface="M PLUS Rounded 1c"/>
              </a:rPr>
              <a:t>• </a:t>
            </a:r>
            <a:r>
              <a:rPr b="1" sz="1800">
                <a:solidFill>
                  <a:srgbClr val="8C6D3E"/>
                </a:solidFill>
                <a:latin typeface="M PLUS Rounded 1c"/>
              </a:rPr>
              <a:t>整合型定位</a:t>
            </a:r>
            <a:r>
              <a:rPr sz="1800">
                <a:solidFill>
                  <a:srgbClr val="3C3C3C"/>
                </a:solidFill>
                <a:latin typeface="M PLUS Rounded 1c"/>
              </a:rPr>
              <a:t>：結合原有專長（推拿、美容、護理等）創造差異化。</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成交系統</a:t>
            </a:r>
            <a:r>
              <a:rPr sz="2000">
                <a:solidFill>
                  <a:srgbClr val="3C3C3C"/>
                </a:solidFill>
                <a:latin typeface="M PLUS Rounded 1c"/>
              </a:rPr>
              <a:t>：以</a:t>
            </a:r>
            <a:r>
              <a:rPr b="1" sz="2000">
                <a:solidFill>
                  <a:srgbClr val="8C6D3E"/>
                </a:solidFill>
                <a:latin typeface="M PLUS Rounded 1c"/>
              </a:rPr>
              <a:t>成交式官網</a:t>
            </a:r>
            <a:r>
              <a:rPr sz="2000">
                <a:solidFill>
                  <a:srgbClr val="3C3C3C"/>
                </a:solidFill>
                <a:latin typeface="M PLUS Rounded 1c"/>
              </a:rPr>
              <a:t>為核心，透過</a:t>
            </a:r>
            <a:r>
              <a:rPr b="1" sz="2000">
                <a:solidFill>
                  <a:srgbClr val="8C6D3E"/>
                </a:solidFill>
                <a:latin typeface="M PLUS Rounded 1c"/>
              </a:rPr>
              <a:t>極低體驗價 (NTD 111-199 / 約 USD 3.5-6.2)</a:t>
            </a:r>
            <a:r>
              <a:rPr sz="2000">
                <a:solidFill>
                  <a:srgbClr val="3C3C3C"/>
                </a:solidFill>
                <a:latin typeface="M PLUS Rounded 1c"/>
              </a:rPr>
              <a:t> 建立信任，進階成交</a:t>
            </a:r>
            <a:r>
              <a:rPr b="1" sz="2000">
                <a:solidFill>
                  <a:srgbClr val="8C6D3E"/>
                </a:solidFill>
                <a:latin typeface="M PLUS Rounded 1c"/>
              </a:rPr>
              <a:t>高價值方案 (NTD 12,000+ / 約 USD 375)</a:t>
            </a:r>
            <a:r>
              <a:rPr sz="2000">
                <a:solidFill>
                  <a:srgbClr val="3C3C3C"/>
                </a:solidFill>
                <a:latin typeface="M PLUS Rounded 1c"/>
              </a:rP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7500000">
            <a:off x="11781091" y="2778973"/>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4" name="TextBox 3"/>
          <p:cNvSpPr txBox="1"/>
          <p:nvPr/>
        </p:nvSpPr>
        <p:spPr>
          <a:xfrm rot="7980000">
            <a:off x="11288138" y="6573625"/>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5" name="TextBox 4"/>
          <p:cNvSpPr txBox="1"/>
          <p:nvPr/>
        </p:nvSpPr>
        <p:spPr>
          <a:xfrm rot="11400000">
            <a:off x="7462186" y="245854"/>
            <a:ext cx="914400" cy="914400"/>
          </a:xfrm>
          <a:prstGeom prst="rect">
            <a:avLst/>
          </a:prstGeom>
          <a:noFill/>
        </p:spPr>
        <p:txBody>
          <a:bodyPr wrap="none" lIns="0" tIns="0" rIns="0" bIns="0">
            <a:spAutoFit/>
          </a:bodyPr>
          <a:lstStyle/>
          <a:p>
            <a:r>
              <a:rPr sz="4000">
                <a:solidFill>
                  <a:srgbClr val="F4F0E6"/>
                </a:solidFill>
                <a:latin typeface="M PLUS Rounded 1c"/>
              </a:rPr>
              <a:t>✦</a:t>
            </a:r>
          </a:p>
        </p:txBody>
      </p:sp>
      <p:sp>
        <p:nvSpPr>
          <p:cNvPr id="6" name="TextBox 5"/>
          <p:cNvSpPr txBox="1"/>
          <p:nvPr/>
        </p:nvSpPr>
        <p:spPr>
          <a:xfrm rot="5940000">
            <a:off x="7636575" y="6581470"/>
            <a:ext cx="914400" cy="914400"/>
          </a:xfrm>
          <a:prstGeom prst="rect">
            <a:avLst/>
          </a:prstGeom>
          <a:noFill/>
        </p:spPr>
        <p:txBody>
          <a:bodyPr wrap="none" lIns="0" tIns="0" rIns="0" bIns="0">
            <a:spAutoFit/>
          </a:bodyPr>
          <a:lstStyle/>
          <a:p>
            <a:r>
              <a:rPr sz="3600">
                <a:solidFill>
                  <a:srgbClr val="F4F0E6"/>
                </a:solidFill>
                <a:latin typeface="M PLUS Rounded 1c"/>
              </a:rPr>
              <a:t>✦</a:t>
            </a:r>
          </a:p>
        </p:txBody>
      </p:sp>
      <p:sp>
        <p:nvSpPr>
          <p:cNvPr id="7" name="TextBox 6"/>
          <p:cNvSpPr txBox="1"/>
          <p:nvPr/>
        </p:nvSpPr>
        <p:spPr>
          <a:xfrm rot="10560000">
            <a:off x="4099496" y="617955"/>
            <a:ext cx="914400" cy="914400"/>
          </a:xfrm>
          <a:prstGeom prst="rect">
            <a:avLst/>
          </a:prstGeom>
          <a:noFill/>
        </p:spPr>
        <p:txBody>
          <a:bodyPr wrap="none" lIns="0" tIns="0" rIns="0" bIns="0">
            <a:spAutoFit/>
          </a:bodyPr>
          <a:lstStyle/>
          <a:p>
            <a:r>
              <a:rPr sz="4700">
                <a:solidFill>
                  <a:srgbClr val="F4F0E6"/>
                </a:solidFill>
                <a:latin typeface="M PLUS Rounded 1c"/>
              </a:rPr>
              <a:t>☥</a:t>
            </a:r>
          </a:p>
        </p:txBody>
      </p:sp>
      <p:sp>
        <p:nvSpPr>
          <p:cNvPr id="8" name="TextBox 7"/>
          <p:cNvSpPr txBox="1"/>
          <p:nvPr/>
        </p:nvSpPr>
        <p:spPr>
          <a:xfrm rot="8520000">
            <a:off x="282165" y="961980"/>
            <a:ext cx="914400" cy="914400"/>
          </a:xfrm>
          <a:prstGeom prst="rect">
            <a:avLst/>
          </a:prstGeom>
          <a:noFill/>
        </p:spPr>
        <p:txBody>
          <a:bodyPr wrap="none" lIns="0" tIns="0" rIns="0" bIns="0">
            <a:spAutoFit/>
          </a:bodyPr>
          <a:lstStyle/>
          <a:p>
            <a:r>
              <a:rPr sz="4000">
                <a:solidFill>
                  <a:srgbClr val="F4F0E6"/>
                </a:solidFill>
                <a:latin typeface="M PLUS Rounded 1c"/>
              </a:rPr>
              <a:t>♥</a:t>
            </a:r>
          </a:p>
        </p:txBody>
      </p:sp>
      <p:sp>
        <p:nvSpPr>
          <p:cNvPr id="9" name="TextBox 8"/>
          <p:cNvSpPr txBox="1"/>
          <p:nvPr/>
        </p:nvSpPr>
        <p:spPr>
          <a:xfrm rot="15060000">
            <a:off x="11497554" y="1778637"/>
            <a:ext cx="914400" cy="914400"/>
          </a:xfrm>
          <a:prstGeom prst="rect">
            <a:avLst/>
          </a:prstGeom>
          <a:noFill/>
        </p:spPr>
        <p:txBody>
          <a:bodyPr wrap="none" lIns="0" tIns="0" rIns="0" bIns="0">
            <a:spAutoFit/>
          </a:bodyPr>
          <a:lstStyle/>
          <a:p>
            <a:r>
              <a:rPr sz="4200">
                <a:solidFill>
                  <a:srgbClr val="F4F0E6"/>
                </a:solidFill>
                <a:latin typeface="M PLUS Rounded 1c"/>
              </a:rPr>
              <a:t>♥</a:t>
            </a:r>
          </a:p>
        </p:txBody>
      </p:sp>
      <p:sp>
        <p:nvSpPr>
          <p:cNvPr id="10" name="TextBox 9"/>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課程大綱：三天商業變現架構</a:t>
            </a:r>
          </a:p>
        </p:txBody>
      </p:sp>
      <p:sp>
        <p:nvSpPr>
          <p:cNvPr id="11" name="Rectangle 10"/>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第一天：療癒師收入藍圖與三大誤區</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現狀剖析、整合定位、私域經營、成交系統與 Sally 的翻轉故事。</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第二天：自媒體經營與高共鳴 IP 定位</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靈魂定位 (IP)、避開變現盲區、AI 寫作靈魂原則與現場實測。</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第三天：多元收入與線上課程設計</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動力燃油、個案與線上課策略、醫生診斷式諮詢與分期付款。</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4280000">
            <a:off x="11746743" y="424982"/>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4" name="TextBox 3"/>
          <p:cNvSpPr txBox="1"/>
          <p:nvPr/>
        </p:nvSpPr>
        <p:spPr>
          <a:xfrm rot="15960000">
            <a:off x="11051657" y="3290113"/>
            <a:ext cx="914400" cy="914400"/>
          </a:xfrm>
          <a:prstGeom prst="rect">
            <a:avLst/>
          </a:prstGeom>
          <a:noFill/>
        </p:spPr>
        <p:txBody>
          <a:bodyPr wrap="none" lIns="0" tIns="0" rIns="0" bIns="0">
            <a:spAutoFit/>
          </a:bodyPr>
          <a:lstStyle/>
          <a:p>
            <a:r>
              <a:rPr sz="4400">
                <a:solidFill>
                  <a:srgbClr val="F4F0E6"/>
                </a:solidFill>
                <a:latin typeface="M PLUS Rounded 1c"/>
              </a:rPr>
              <a:t>✦</a:t>
            </a:r>
          </a:p>
        </p:txBody>
      </p:sp>
      <p:sp>
        <p:nvSpPr>
          <p:cNvPr id="5" name="TextBox 4"/>
          <p:cNvSpPr txBox="1"/>
          <p:nvPr/>
        </p:nvSpPr>
        <p:spPr>
          <a:xfrm rot="4860000">
            <a:off x="6347110" y="6612465"/>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6" name="TextBox 5"/>
          <p:cNvSpPr txBox="1"/>
          <p:nvPr/>
        </p:nvSpPr>
        <p:spPr>
          <a:xfrm rot="780000">
            <a:off x="10887793" y="3151272"/>
            <a:ext cx="914400" cy="914400"/>
          </a:xfrm>
          <a:prstGeom prst="rect">
            <a:avLst/>
          </a:prstGeom>
          <a:noFill/>
        </p:spPr>
        <p:txBody>
          <a:bodyPr wrap="none" lIns="0" tIns="0" rIns="0" bIns="0">
            <a:spAutoFit/>
          </a:bodyPr>
          <a:lstStyle/>
          <a:p>
            <a:r>
              <a:rPr sz="3600">
                <a:solidFill>
                  <a:srgbClr val="F4F0E6"/>
                </a:solidFill>
                <a:latin typeface="M PLUS Rounded 1c"/>
              </a:rPr>
              <a:t>✦</a:t>
            </a:r>
          </a:p>
        </p:txBody>
      </p:sp>
      <p:sp>
        <p:nvSpPr>
          <p:cNvPr id="7" name="TextBox 6"/>
          <p:cNvSpPr txBox="1"/>
          <p:nvPr/>
        </p:nvSpPr>
        <p:spPr>
          <a:xfrm rot="420000">
            <a:off x="1583081" y="835431"/>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8" name="TextBox 7"/>
          <p:cNvSpPr txBox="1"/>
          <p:nvPr/>
        </p:nvSpPr>
        <p:spPr>
          <a:xfrm rot="12480000">
            <a:off x="11776211" y="2349109"/>
            <a:ext cx="914400" cy="914400"/>
          </a:xfrm>
          <a:prstGeom prst="rect">
            <a:avLst/>
          </a:prstGeom>
          <a:noFill/>
        </p:spPr>
        <p:txBody>
          <a:bodyPr wrap="none" lIns="0" tIns="0" rIns="0" bIns="0">
            <a:spAutoFit/>
          </a:bodyPr>
          <a:lstStyle/>
          <a:p>
            <a:r>
              <a:rPr sz="3100">
                <a:solidFill>
                  <a:srgbClr val="F4F0E6"/>
                </a:solidFill>
                <a:latin typeface="M PLUS Rounded 1c"/>
              </a:rPr>
              <a:t>☥</a:t>
            </a:r>
          </a:p>
        </p:txBody>
      </p:sp>
      <p:sp>
        <p:nvSpPr>
          <p:cNvPr id="9" name="TextBox 8"/>
          <p:cNvSpPr txBox="1"/>
          <p:nvPr/>
        </p:nvSpPr>
        <p:spPr>
          <a:xfrm rot="4740000">
            <a:off x="1176177" y="6387610"/>
            <a:ext cx="914400" cy="914400"/>
          </a:xfrm>
          <a:prstGeom prst="rect">
            <a:avLst/>
          </a:prstGeom>
          <a:noFill/>
        </p:spPr>
        <p:txBody>
          <a:bodyPr wrap="none" lIns="0" tIns="0" rIns="0" bIns="0">
            <a:spAutoFit/>
          </a:bodyPr>
          <a:lstStyle/>
          <a:p>
            <a:r>
              <a:rPr sz="4800">
                <a:solidFill>
                  <a:srgbClr val="F4F0E6"/>
                </a:solidFill>
                <a:latin typeface="M PLUS Rounded 1c"/>
              </a:rPr>
              <a:t>♥</a:t>
            </a:r>
          </a:p>
        </p:txBody>
      </p:sp>
      <p:sp>
        <p:nvSpPr>
          <p:cNvPr id="10" name="TextBox 9"/>
          <p:cNvSpPr txBox="1"/>
          <p:nvPr/>
        </p:nvSpPr>
        <p:spPr>
          <a:xfrm rot="16260000">
            <a:off x="340757" y="4751781"/>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11" name="TextBox 10"/>
          <p:cNvSpPr txBox="1"/>
          <p:nvPr/>
        </p:nvSpPr>
        <p:spPr>
          <a:xfrm rot="2700000">
            <a:off x="1296111" y="6390844"/>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12" name="TextBox 11"/>
          <p:cNvSpPr txBox="1"/>
          <p:nvPr/>
        </p:nvSpPr>
        <p:spPr>
          <a:xfrm>
            <a:off x="914400" y="2011680"/>
            <a:ext cx="10362895" cy="3200400"/>
          </a:xfrm>
          <a:prstGeom prst="rect">
            <a:avLst/>
          </a:prstGeom>
          <a:noFill/>
        </p:spPr>
        <p:txBody>
          <a:bodyPr wrap="square" lIns="0" tIns="0" rIns="0" bIns="0">
            <a:spAutoFit/>
          </a:bodyPr>
          <a:lstStyle/>
          <a:p>
            <a:pPr algn="ctr">
              <a:spcAft>
                <a:spcPts val="1400"/>
              </a:spcAft>
            </a:pPr>
            <a:r>
              <a:rPr sz="4400" b="1">
                <a:solidFill>
                  <a:srgbClr val="B8975A"/>
                </a:solidFill>
                <a:latin typeface="M PLUS Rounded 1c"/>
              </a:rPr>
              <a:t>第一天：療癒師收入藍圖與三大誤區</a:t>
            </a:r>
          </a:p>
          <a:p>
            <a:pPr algn="ctr"/>
            <a:r>
              <a:rPr sz="2400">
                <a:solidFill>
                  <a:srgbClr val="C5A880"/>
                </a:solidFill>
                <a:latin typeface="M PLUS Rounded 1c"/>
              </a:rPr>
              <a:t>建立落地思維 ➔ 疏通私域流量 ➔ 導入成交系統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2300000">
            <a:off x="1027238" y="2102301"/>
            <a:ext cx="914400" cy="914400"/>
          </a:xfrm>
          <a:prstGeom prst="rect">
            <a:avLst/>
          </a:prstGeom>
          <a:noFill/>
        </p:spPr>
        <p:txBody>
          <a:bodyPr wrap="none" lIns="0" tIns="0" rIns="0" bIns="0">
            <a:spAutoFit/>
          </a:bodyPr>
          <a:lstStyle/>
          <a:p>
            <a:r>
              <a:rPr sz="4800">
                <a:solidFill>
                  <a:srgbClr val="F4F0E6"/>
                </a:solidFill>
                <a:latin typeface="M PLUS Rounded 1c"/>
              </a:rPr>
              <a:t>♥</a:t>
            </a:r>
          </a:p>
        </p:txBody>
      </p:sp>
      <p:sp>
        <p:nvSpPr>
          <p:cNvPr id="4" name="TextBox 3"/>
          <p:cNvSpPr txBox="1"/>
          <p:nvPr/>
        </p:nvSpPr>
        <p:spPr>
          <a:xfrm rot="20700000">
            <a:off x="308021" y="880607"/>
            <a:ext cx="914400" cy="914400"/>
          </a:xfrm>
          <a:prstGeom prst="rect">
            <a:avLst/>
          </a:prstGeom>
          <a:noFill/>
        </p:spPr>
        <p:txBody>
          <a:bodyPr wrap="none" lIns="0" tIns="0" rIns="0" bIns="0">
            <a:spAutoFit/>
          </a:bodyPr>
          <a:lstStyle/>
          <a:p>
            <a:r>
              <a:rPr sz="4400">
                <a:solidFill>
                  <a:srgbClr val="F4F0E6"/>
                </a:solidFill>
                <a:latin typeface="M PLUS Rounded 1c"/>
              </a:rPr>
              <a:t>♥</a:t>
            </a:r>
          </a:p>
        </p:txBody>
      </p:sp>
      <p:sp>
        <p:nvSpPr>
          <p:cNvPr id="5" name="TextBox 4"/>
          <p:cNvSpPr txBox="1"/>
          <p:nvPr/>
        </p:nvSpPr>
        <p:spPr>
          <a:xfrm rot="7440000">
            <a:off x="11009116" y="673796"/>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6" name="TextBox 5"/>
          <p:cNvSpPr txBox="1"/>
          <p:nvPr/>
        </p:nvSpPr>
        <p:spPr>
          <a:xfrm rot="19800000">
            <a:off x="6318289" y="571388"/>
            <a:ext cx="914400" cy="914400"/>
          </a:xfrm>
          <a:prstGeom prst="rect">
            <a:avLst/>
          </a:prstGeom>
          <a:noFill/>
        </p:spPr>
        <p:txBody>
          <a:bodyPr wrap="none" lIns="0" tIns="0" rIns="0" bIns="0">
            <a:spAutoFit/>
          </a:bodyPr>
          <a:lstStyle/>
          <a:p>
            <a:r>
              <a:rPr sz="2800">
                <a:solidFill>
                  <a:srgbClr val="F4F0E6"/>
                </a:solidFill>
                <a:latin typeface="M PLUS Rounded 1c"/>
              </a:rPr>
              <a:t>♥</a:t>
            </a:r>
          </a:p>
        </p:txBody>
      </p:sp>
      <p:sp>
        <p:nvSpPr>
          <p:cNvPr id="7" name="TextBox 6"/>
          <p:cNvSpPr txBox="1"/>
          <p:nvPr/>
        </p:nvSpPr>
        <p:spPr>
          <a:xfrm rot="15600000">
            <a:off x="11420505" y="3405747"/>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8" name="TextBox 7"/>
          <p:cNvSpPr txBox="1"/>
          <p:nvPr/>
        </p:nvSpPr>
        <p:spPr>
          <a:xfrm rot="12960000">
            <a:off x="1126710" y="2538814"/>
            <a:ext cx="914400" cy="914400"/>
          </a:xfrm>
          <a:prstGeom prst="rect">
            <a:avLst/>
          </a:prstGeom>
          <a:noFill/>
        </p:spPr>
        <p:txBody>
          <a:bodyPr wrap="none" lIns="0" tIns="0" rIns="0" bIns="0">
            <a:spAutoFit/>
          </a:bodyPr>
          <a:lstStyle/>
          <a:p>
            <a:r>
              <a:rPr sz="2400">
                <a:solidFill>
                  <a:srgbClr val="F4F0E6"/>
                </a:solidFill>
                <a:latin typeface="M PLUS Rounded 1c"/>
              </a:rPr>
              <a:t>♥</a:t>
            </a:r>
          </a:p>
        </p:txBody>
      </p:sp>
      <p:sp>
        <p:nvSpPr>
          <p:cNvPr id="9" name="TextBox 8"/>
          <p:cNvSpPr txBox="1"/>
          <p:nvPr/>
        </p:nvSpPr>
        <p:spPr>
          <a:xfrm rot="14040000">
            <a:off x="1185801" y="4172621"/>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10" name="TextBox 9"/>
          <p:cNvSpPr txBox="1"/>
          <p:nvPr/>
        </p:nvSpPr>
        <p:spPr>
          <a:xfrm rot="17220000">
            <a:off x="5166508" y="701578"/>
            <a:ext cx="914400" cy="914400"/>
          </a:xfrm>
          <a:prstGeom prst="rect">
            <a:avLst/>
          </a:prstGeom>
          <a:noFill/>
        </p:spPr>
        <p:txBody>
          <a:bodyPr wrap="none" lIns="0" tIns="0" rIns="0" bIns="0">
            <a:spAutoFit/>
          </a:bodyPr>
          <a:lstStyle/>
          <a:p>
            <a:r>
              <a:rPr sz="4400">
                <a:solidFill>
                  <a:srgbClr val="F4F0E6"/>
                </a:solidFill>
                <a:latin typeface="M PLUS Rounded 1c"/>
              </a:rPr>
              <a:t>♥</a:t>
            </a:r>
          </a:p>
        </p:txBody>
      </p:sp>
      <p:sp>
        <p:nvSpPr>
          <p:cNvPr id="11" name="TextBox 10"/>
          <p:cNvSpPr txBox="1"/>
          <p:nvPr/>
        </p:nvSpPr>
        <p:spPr>
          <a:xfrm rot="9540000">
            <a:off x="11164186" y="6571316"/>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12" name="TextBox 11"/>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療癒師現狀剖析：為什麼能力無法落地？</a:t>
            </a:r>
          </a:p>
        </p:txBody>
      </p:sp>
      <p:sp>
        <p:nvSpPr>
          <p:cNvPr id="13" name="Rectangle 12"/>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學很多、花很多，但賺很少</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多數人停留在 </a:t>
            </a:r>
            <a:r>
              <a:rPr b="1" sz="1800">
                <a:solidFill>
                  <a:srgbClr val="8C6D3E"/>
                </a:solidFill>
                <a:latin typeface="M PLUS Rounded 1c"/>
              </a:rPr>
              <a:t>NTD 40,000 (約 USD 1,250)</a:t>
            </a:r>
            <a:r>
              <a:rPr sz="1800">
                <a:solidFill>
                  <a:srgbClr val="3C3C3C"/>
                </a:solidFill>
                <a:latin typeface="M PLUS Rounded 1c"/>
              </a:rPr>
              <a:t> 以下的月收入水準。</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全市場僅有 </a:t>
            </a:r>
            <a:r>
              <a:rPr b="1" sz="1800">
                <a:solidFill>
                  <a:srgbClr val="8C6D3E"/>
                </a:solidFill>
                <a:latin typeface="M PLUS Rounded 1c"/>
              </a:rPr>
              <a:t>8%</a:t>
            </a:r>
            <a:r>
              <a:rPr sz="1800">
                <a:solidFill>
                  <a:srgbClr val="3C3C3C"/>
                </a:solidFill>
                <a:latin typeface="M PLUS Rounded 1c"/>
              </a:rPr>
              <a:t> 的身心靈工作者月入能達 </a:t>
            </a:r>
            <a:r>
              <a:rPr b="1" sz="1800">
                <a:solidFill>
                  <a:srgbClr val="8C6D3E"/>
                </a:solidFill>
                <a:latin typeface="M PLUS Rounded 1c"/>
              </a:rPr>
              <a:t>NTD 80,000 (約 USD 2,500)</a:t>
            </a:r>
            <a:r>
              <a:rPr sz="1800">
                <a:solidFill>
                  <a:srgbClr val="3C3C3C"/>
                </a:solidFill>
                <a:latin typeface="M PLUS Rounded 1c"/>
              </a:rPr>
              <a:t> 以上。</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能量不穩定，陷入情緒內耗</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自己容易焦慮房租、開銷與案源，卻想協助他人不內耗。</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能力未落地，溝通產生隔閡</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使用虛無飄渺的「靈性語言」，而非大眾聽得懂的「人類語言」。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920000">
            <a:off x="814208" y="425763"/>
            <a:ext cx="914400" cy="914400"/>
          </a:xfrm>
          <a:prstGeom prst="rect">
            <a:avLst/>
          </a:prstGeom>
          <a:noFill/>
        </p:spPr>
        <p:txBody>
          <a:bodyPr wrap="none" lIns="0" tIns="0" rIns="0" bIns="0">
            <a:spAutoFit/>
          </a:bodyPr>
          <a:lstStyle/>
          <a:p>
            <a:r>
              <a:rPr sz="2800">
                <a:solidFill>
                  <a:srgbClr val="F4F0E6"/>
                </a:solidFill>
                <a:latin typeface="M PLUS Rounded 1c"/>
              </a:rPr>
              <a:t>♥</a:t>
            </a:r>
          </a:p>
        </p:txBody>
      </p:sp>
      <p:sp>
        <p:nvSpPr>
          <p:cNvPr id="4" name="TextBox 3"/>
          <p:cNvSpPr txBox="1"/>
          <p:nvPr/>
        </p:nvSpPr>
        <p:spPr>
          <a:xfrm rot="3600000">
            <a:off x="5776488" y="497455"/>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5" name="TextBox 4"/>
          <p:cNvSpPr txBox="1"/>
          <p:nvPr/>
        </p:nvSpPr>
        <p:spPr>
          <a:xfrm rot="16020000">
            <a:off x="335097" y="1670787"/>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6" name="TextBox 5"/>
          <p:cNvSpPr txBox="1"/>
          <p:nvPr/>
        </p:nvSpPr>
        <p:spPr>
          <a:xfrm rot="3180000">
            <a:off x="3318725" y="6671254"/>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7" name="TextBox 6"/>
          <p:cNvSpPr txBox="1"/>
          <p:nvPr/>
        </p:nvSpPr>
        <p:spPr>
          <a:xfrm rot="4560000">
            <a:off x="1027449" y="1386909"/>
            <a:ext cx="914400" cy="914400"/>
          </a:xfrm>
          <a:prstGeom prst="rect">
            <a:avLst/>
          </a:prstGeom>
          <a:noFill/>
        </p:spPr>
        <p:txBody>
          <a:bodyPr wrap="none" lIns="0" tIns="0" rIns="0" bIns="0">
            <a:spAutoFit/>
          </a:bodyPr>
          <a:lstStyle/>
          <a:p>
            <a:r>
              <a:rPr sz="3100">
                <a:solidFill>
                  <a:srgbClr val="F4F0E6"/>
                </a:solidFill>
                <a:latin typeface="M PLUS Rounded 1c"/>
              </a:rPr>
              <a:t>♥</a:t>
            </a:r>
          </a:p>
        </p:txBody>
      </p:sp>
      <p:sp>
        <p:nvSpPr>
          <p:cNvPr id="8" name="TextBox 7"/>
          <p:cNvSpPr txBox="1"/>
          <p:nvPr/>
        </p:nvSpPr>
        <p:spPr>
          <a:xfrm rot="15300000">
            <a:off x="4730778" y="6618304"/>
            <a:ext cx="914400" cy="914400"/>
          </a:xfrm>
          <a:prstGeom prst="rect">
            <a:avLst/>
          </a:prstGeom>
          <a:noFill/>
        </p:spPr>
        <p:txBody>
          <a:bodyPr wrap="none" lIns="0" tIns="0" rIns="0" bIns="0">
            <a:spAutoFit/>
          </a:bodyPr>
          <a:lstStyle/>
          <a:p>
            <a:r>
              <a:rPr sz="3100">
                <a:solidFill>
                  <a:srgbClr val="F4F0E6"/>
                </a:solidFill>
                <a:latin typeface="M PLUS Rounded 1c"/>
              </a:rPr>
              <a:t>☥</a:t>
            </a:r>
          </a:p>
        </p:txBody>
      </p:sp>
      <p:sp>
        <p:nvSpPr>
          <p:cNvPr id="9" name="TextBox 8"/>
          <p:cNvSpPr txBox="1"/>
          <p:nvPr/>
        </p:nvSpPr>
        <p:spPr>
          <a:xfrm rot="18240000">
            <a:off x="11474859" y="779141"/>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10" name="TextBox 9"/>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破局之道：全職療癒師的落地指標</a:t>
            </a:r>
          </a:p>
        </p:txBody>
      </p:sp>
      <p:sp>
        <p:nvSpPr>
          <p:cNvPr id="11" name="Rectangle 10"/>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能量穩定為首要</a:t>
            </a:r>
            <a:r>
              <a:rPr sz="2000">
                <a:solidFill>
                  <a:srgbClr val="3C3C3C"/>
                </a:solidFill>
                <a:latin typeface="M PLUS Rounded 1c"/>
              </a:rPr>
              <a:t>：自己必須做到所傳授的狀態（如財務健康、生活不內耗）。</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語言落地為關鍵</a:t>
            </a:r>
            <a:r>
              <a:rPr sz="2000">
                <a:solidFill>
                  <a:srgbClr val="3C3C3C"/>
                </a:solidFill>
                <a:latin typeface="M PLUS Rounded 1c"/>
              </a:rPr>
              <a:t>：學習用一般大眾聽得懂的話，進行個案諮詢或教學。</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收入穩定為支撐</a:t>
            </a:r>
            <a:r>
              <a:rPr sz="2000">
                <a:solidFill>
                  <a:srgbClr val="3C3C3C"/>
                </a:solidFill>
                <a:latin typeface="M PLUS Rounded 1c"/>
              </a:rPr>
              <a:t>：避免因過度「佛心價」導致無法維持基本生活。</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0560000">
            <a:off x="10792942" y="832366"/>
            <a:ext cx="914400" cy="914400"/>
          </a:xfrm>
          <a:prstGeom prst="rect">
            <a:avLst/>
          </a:prstGeom>
          <a:noFill/>
        </p:spPr>
        <p:txBody>
          <a:bodyPr wrap="none" lIns="0" tIns="0" rIns="0" bIns="0">
            <a:spAutoFit/>
          </a:bodyPr>
          <a:lstStyle/>
          <a:p>
            <a:r>
              <a:rPr sz="2800">
                <a:solidFill>
                  <a:srgbClr val="F4F0E6"/>
                </a:solidFill>
                <a:latin typeface="M PLUS Rounded 1c"/>
              </a:rPr>
              <a:t>✦</a:t>
            </a:r>
          </a:p>
        </p:txBody>
      </p:sp>
      <p:sp>
        <p:nvSpPr>
          <p:cNvPr id="4" name="TextBox 3"/>
          <p:cNvSpPr txBox="1"/>
          <p:nvPr/>
        </p:nvSpPr>
        <p:spPr>
          <a:xfrm rot="14340000">
            <a:off x="11734797" y="6500562"/>
            <a:ext cx="914400" cy="914400"/>
          </a:xfrm>
          <a:prstGeom prst="rect">
            <a:avLst/>
          </a:prstGeom>
          <a:noFill/>
        </p:spPr>
        <p:txBody>
          <a:bodyPr wrap="none" lIns="0" tIns="0" rIns="0" bIns="0">
            <a:spAutoFit/>
          </a:bodyPr>
          <a:lstStyle/>
          <a:p>
            <a:r>
              <a:rPr sz="3100">
                <a:solidFill>
                  <a:srgbClr val="F4F0E6"/>
                </a:solidFill>
                <a:latin typeface="M PLUS Rounded 1c"/>
              </a:rPr>
              <a:t>✦</a:t>
            </a:r>
          </a:p>
        </p:txBody>
      </p:sp>
      <p:sp>
        <p:nvSpPr>
          <p:cNvPr id="5" name="TextBox 4"/>
          <p:cNvSpPr txBox="1"/>
          <p:nvPr/>
        </p:nvSpPr>
        <p:spPr>
          <a:xfrm rot="5700000">
            <a:off x="4846701" y="6230977"/>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6" name="TextBox 5"/>
          <p:cNvSpPr txBox="1"/>
          <p:nvPr/>
        </p:nvSpPr>
        <p:spPr>
          <a:xfrm rot="360000">
            <a:off x="11669154" y="2060790"/>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7" name="TextBox 6"/>
          <p:cNvSpPr txBox="1"/>
          <p:nvPr/>
        </p:nvSpPr>
        <p:spPr>
          <a:xfrm rot="17400000">
            <a:off x="11157775" y="1350174"/>
            <a:ext cx="914400" cy="914400"/>
          </a:xfrm>
          <a:prstGeom prst="rect">
            <a:avLst/>
          </a:prstGeom>
          <a:noFill/>
        </p:spPr>
        <p:txBody>
          <a:bodyPr wrap="none" lIns="0" tIns="0" rIns="0" bIns="0">
            <a:spAutoFit/>
          </a:bodyPr>
          <a:lstStyle/>
          <a:p>
            <a:r>
              <a:rPr sz="4800">
                <a:solidFill>
                  <a:srgbClr val="F4F0E6"/>
                </a:solidFill>
                <a:latin typeface="M PLUS Rounded 1c"/>
              </a:rPr>
              <a:t>♥</a:t>
            </a:r>
          </a:p>
        </p:txBody>
      </p:sp>
      <p:sp>
        <p:nvSpPr>
          <p:cNvPr id="8" name="TextBox 7"/>
          <p:cNvSpPr txBox="1"/>
          <p:nvPr/>
        </p:nvSpPr>
        <p:spPr>
          <a:xfrm rot="18600000">
            <a:off x="475439" y="489014"/>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9" name="TextBox 8"/>
          <p:cNvSpPr txBox="1"/>
          <p:nvPr/>
        </p:nvSpPr>
        <p:spPr>
          <a:xfrm rot="5820000">
            <a:off x="11523115" y="6509334"/>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10" name="TextBox 9"/>
          <p:cNvSpPr txBox="1"/>
          <p:nvPr/>
        </p:nvSpPr>
        <p:spPr>
          <a:xfrm rot="3360000">
            <a:off x="11635912" y="6346309"/>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11" name="TextBox 10"/>
          <p:cNvSpPr txBox="1"/>
          <p:nvPr/>
        </p:nvSpPr>
        <p:spPr>
          <a:xfrm>
            <a:off x="731520" y="548640"/>
            <a:ext cx="10728655" cy="731520"/>
          </a:xfrm>
          <a:prstGeom prst="rect">
            <a:avLst/>
          </a:prstGeom>
          <a:noFill/>
        </p:spPr>
        <p:txBody>
          <a:bodyPr wrap="square" lIns="0" tIns="0" rIns="0" bIns="0">
            <a:spAutoFit/>
          </a:bodyPr>
          <a:lstStyle/>
          <a:p>
            <a:r>
              <a:rPr sz="3200" b="1">
                <a:solidFill>
                  <a:srgbClr val="C084FC"/>
                </a:solidFill>
                <a:latin typeface="Microsoft JhengHei"/>
              </a:rPr>
              <a:t>整合型定位：專長 + 身心靈 = 質變方程式</a:t>
            </a:r>
          </a:p>
        </p:txBody>
      </p:sp>
      <p:sp>
        <p:nvSpPr>
          <p:cNvPr id="12" name="Rectangle 11"/>
          <p:cNvSpPr/>
          <p:nvPr/>
        </p:nvSpPr>
        <p:spPr>
          <a:xfrm>
            <a:off x="731520" y="1371600"/>
            <a:ext cx="10728655" cy="19050"/>
          </a:xfrm>
          <a:prstGeom prst="rect">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7280" y="1645920"/>
            <a:ext cx="4114800" cy="1645920"/>
          </a:xfrm>
          <a:prstGeom prst="roundRect">
            <a:avLst>
              <a:gd name="adj" fmla="val 5000"/>
            </a:avLst>
          </a:prstGeom>
          <a:solidFill>
            <a:srgbClr val="1E1B4B"/>
          </a:solidFill>
          <a:ln w="2540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pPr>
            <a:r>
              <a:rPr b="1" sz="1800">
                <a:solidFill>
                  <a:srgbClr val="FFFFFF"/>
                </a:solidFill>
                <a:latin typeface="Microsoft JhengHei"/>
              </a:rPr>
              <a:t>您原有的專業</a:t>
            </a:r>
          </a:p>
          <a:p>
            <a:pPr algn="ctr"/>
            <a:r>
              <a:rPr sz="1300">
                <a:solidFill>
                  <a:srgbClr val="C7D2FE"/>
                </a:solidFill>
                <a:latin typeface="Microsoft JhengHei"/>
              </a:rPr>
              <a:t>如：推拿整脊、美容芳療、保險經紀、幼教護理等實體專長</a:t>
            </a:r>
          </a:p>
        </p:txBody>
      </p:sp>
      <p:sp>
        <p:nvSpPr>
          <p:cNvPr id="14" name="TextBox 13"/>
          <p:cNvSpPr txBox="1"/>
          <p:nvPr/>
        </p:nvSpPr>
        <p:spPr>
          <a:xfrm>
            <a:off x="5394960" y="2148840"/>
            <a:ext cx="457200" cy="457200"/>
          </a:xfrm>
          <a:prstGeom prst="rect">
            <a:avLst/>
          </a:prstGeom>
          <a:noFill/>
        </p:spPr>
        <p:txBody>
          <a:bodyPr wrap="none">
            <a:spAutoFit/>
          </a:bodyPr>
          <a:lstStyle/>
          <a:p>
            <a:pPr algn="ctr"/>
            <a:r>
              <a:rPr b="1" sz="3600">
                <a:solidFill>
                  <a:srgbClr val="A855F7"/>
                </a:solidFill>
                <a:latin typeface="Microsoft JhengHei"/>
              </a:rPr>
              <a:t>+</a:t>
            </a:r>
          </a:p>
        </p:txBody>
      </p:sp>
      <p:sp>
        <p:nvSpPr>
          <p:cNvPr id="15" name="Rounded Rectangle 14"/>
          <p:cNvSpPr/>
          <p:nvPr/>
        </p:nvSpPr>
        <p:spPr>
          <a:xfrm>
            <a:off x="6035040" y="1645920"/>
            <a:ext cx="4114800" cy="1645920"/>
          </a:xfrm>
          <a:prstGeom prst="roundRect">
            <a:avLst>
              <a:gd name="adj" fmla="val 5000"/>
            </a:avLst>
          </a:prstGeom>
          <a:solidFill>
            <a:srgbClr val="3B0764"/>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pPr>
            <a:r>
              <a:rPr b="1" sz="1800">
                <a:solidFill>
                  <a:srgbClr val="FFFFFF"/>
                </a:solidFill>
                <a:latin typeface="Microsoft JhengHei"/>
              </a:rPr>
              <a:t>熱愛的身心靈能力</a:t>
            </a:r>
          </a:p>
          <a:p>
            <a:pPr algn="ctr"/>
            <a:r>
              <a:rPr sz="1300">
                <a:solidFill>
                  <a:srgbClr val="E9D5FF"/>
                </a:solidFill>
                <a:latin typeface="Microsoft JhengHei"/>
              </a:rPr>
              <a:t>如：靈氣、生命數字、情緒溝通、奇門占卜、正念引導等</a:t>
            </a:r>
          </a:p>
        </p:txBody>
      </p:sp>
      <p:sp>
        <p:nvSpPr>
          <p:cNvPr id="16" name="Down Arrow 15"/>
          <p:cNvSpPr/>
          <p:nvPr/>
        </p:nvSpPr>
        <p:spPr>
          <a:xfrm>
            <a:off x="5440680" y="3566160"/>
            <a:ext cx="365760" cy="457200"/>
          </a:xfrm>
          <a:prstGeom prst="downArrow">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980590" y="4297680"/>
            <a:ext cx="7315200" cy="1645920"/>
          </a:xfrm>
          <a:prstGeom prst="roundRect">
            <a:avLst>
              <a:gd name="adj" fmla="val 5000"/>
            </a:avLst>
          </a:prstGeom>
          <a:solidFill>
            <a:srgbClr val="0F172A"/>
          </a:solidFill>
          <a:ln w="3175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pPr>
            <a:r>
              <a:rPr b="1" sz="2000">
                <a:solidFill>
                  <a:srgbClr val="F472B6"/>
                </a:solidFill>
                <a:latin typeface="Microsoft JhengHei"/>
              </a:rPr>
              <a:t>✨ 整合型定位 (質變與差異化) ✨</a:t>
            </a:r>
          </a:p>
          <a:p>
            <a:pPr algn="ctr"/>
            <a:r>
              <a:rPr sz="1400">
                <a:solidFill>
                  <a:srgbClr val="F1F5F9"/>
                </a:solidFill>
                <a:latin typeface="Microsoft JhengHei"/>
              </a:rPr>
              <a:t>拉高生命維度，在原有紅海競爭中脫穎而出，成為同業中唯一的發光點。</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900000">
            <a:off x="11022989" y="855571"/>
            <a:ext cx="914400" cy="914400"/>
          </a:xfrm>
          <a:prstGeom prst="rect">
            <a:avLst/>
          </a:prstGeom>
          <a:noFill/>
        </p:spPr>
        <p:txBody>
          <a:bodyPr wrap="none" lIns="0" tIns="0" rIns="0" bIns="0">
            <a:spAutoFit/>
          </a:bodyPr>
          <a:lstStyle/>
          <a:p>
            <a:r>
              <a:rPr sz="2400">
                <a:solidFill>
                  <a:srgbClr val="F4F0E6"/>
                </a:solidFill>
                <a:latin typeface="M PLUS Rounded 1c"/>
              </a:rPr>
              <a:t>☥</a:t>
            </a:r>
          </a:p>
        </p:txBody>
      </p:sp>
      <p:sp>
        <p:nvSpPr>
          <p:cNvPr id="4" name="TextBox 3"/>
          <p:cNvSpPr txBox="1"/>
          <p:nvPr/>
        </p:nvSpPr>
        <p:spPr>
          <a:xfrm rot="5520000">
            <a:off x="9221054" y="6465887"/>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5" name="TextBox 4"/>
          <p:cNvSpPr txBox="1"/>
          <p:nvPr/>
        </p:nvSpPr>
        <p:spPr>
          <a:xfrm rot="120000">
            <a:off x="11792496" y="2537489"/>
            <a:ext cx="914400" cy="914400"/>
          </a:xfrm>
          <a:prstGeom prst="rect">
            <a:avLst/>
          </a:prstGeom>
          <a:noFill/>
        </p:spPr>
        <p:txBody>
          <a:bodyPr wrap="none" lIns="0" tIns="0" rIns="0" bIns="0">
            <a:spAutoFit/>
          </a:bodyPr>
          <a:lstStyle/>
          <a:p>
            <a:r>
              <a:rPr sz="4800">
                <a:solidFill>
                  <a:srgbClr val="F4F0E6"/>
                </a:solidFill>
                <a:latin typeface="M PLUS Rounded 1c"/>
              </a:rPr>
              <a:t>♥</a:t>
            </a:r>
          </a:p>
        </p:txBody>
      </p:sp>
      <p:sp>
        <p:nvSpPr>
          <p:cNvPr id="6" name="TextBox 5"/>
          <p:cNvSpPr txBox="1"/>
          <p:nvPr/>
        </p:nvSpPr>
        <p:spPr>
          <a:xfrm rot="420000">
            <a:off x="12003005" y="4529773"/>
            <a:ext cx="914400" cy="914400"/>
          </a:xfrm>
          <a:prstGeom prst="rect">
            <a:avLst/>
          </a:prstGeom>
          <a:noFill/>
        </p:spPr>
        <p:txBody>
          <a:bodyPr wrap="none" lIns="0" tIns="0" rIns="0" bIns="0">
            <a:spAutoFit/>
          </a:bodyPr>
          <a:lstStyle/>
          <a:p>
            <a:r>
              <a:rPr sz="3800">
                <a:solidFill>
                  <a:srgbClr val="F4F0E6"/>
                </a:solidFill>
                <a:latin typeface="M PLUS Rounded 1c"/>
              </a:rPr>
              <a:t>✦</a:t>
            </a:r>
          </a:p>
        </p:txBody>
      </p:sp>
      <p:sp>
        <p:nvSpPr>
          <p:cNvPr id="7" name="TextBox 6"/>
          <p:cNvSpPr txBox="1"/>
          <p:nvPr/>
        </p:nvSpPr>
        <p:spPr>
          <a:xfrm rot="6960000">
            <a:off x="801437" y="4695974"/>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8" name="TextBox 7"/>
          <p:cNvSpPr txBox="1"/>
          <p:nvPr/>
        </p:nvSpPr>
        <p:spPr>
          <a:xfrm rot="13620000">
            <a:off x="1283045" y="6113233"/>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9" name="TextBox 8"/>
          <p:cNvSpPr txBox="1"/>
          <p:nvPr/>
        </p:nvSpPr>
        <p:spPr>
          <a:xfrm rot="6720000">
            <a:off x="665428" y="3504585"/>
            <a:ext cx="914400" cy="914400"/>
          </a:xfrm>
          <a:prstGeom prst="rect">
            <a:avLst/>
          </a:prstGeom>
          <a:noFill/>
        </p:spPr>
        <p:txBody>
          <a:bodyPr wrap="none" lIns="0" tIns="0" rIns="0" bIns="0">
            <a:spAutoFit/>
          </a:bodyPr>
          <a:lstStyle/>
          <a:p>
            <a:r>
              <a:rPr sz="2900">
                <a:solidFill>
                  <a:srgbClr val="F4F0E6"/>
                </a:solidFill>
                <a:latin typeface="M PLUS Rounded 1c"/>
              </a:rPr>
              <a:t>♥</a:t>
            </a:r>
          </a:p>
        </p:txBody>
      </p:sp>
      <p:sp>
        <p:nvSpPr>
          <p:cNvPr id="10" name="TextBox 9"/>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實務案例：芳療、護理與推拿師的整合實戰</a:t>
            </a:r>
          </a:p>
        </p:txBody>
      </p:sp>
      <p:sp>
        <p:nvSpPr>
          <p:cNvPr id="11" name="Rectangle 10"/>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美容芳療師 + 生命數字</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做臉部/身體撥筋時，藉生命數字免費算 </a:t>
            </a:r>
            <a:r>
              <a:rPr b="1" sz="1800">
                <a:solidFill>
                  <a:srgbClr val="8C6D3E"/>
                </a:solidFill>
                <a:latin typeface="M PLUS Rounded 1c"/>
              </a:rPr>
              <a:t>10-15 分鐘</a:t>
            </a:r>
            <a:r>
              <a:rPr sz="18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聊感情與工作，進而推薦補運水晶，成功轉化。</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大醫院護理師 + 情緒溝通</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繁忙工作中支持病人家屬情緒，合流引流發展為情緒疏通副業。</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推拿師 + 身心靈推廣</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聚會場合幫肩頸緊繃者現場推拿 </a:t>
            </a:r>
            <a:r>
              <a:rPr b="1" sz="1800">
                <a:solidFill>
                  <a:srgbClr val="8C6D3E"/>
                </a:solidFill>
                <a:latin typeface="M PLUS Rounded 1c"/>
              </a:rPr>
              <a:t>3-5 分鐘</a:t>
            </a:r>
            <a:r>
              <a:rPr sz="1800">
                <a:solidFill>
                  <a:srgbClr val="3C3C3C"/>
                </a:solidFill>
                <a:latin typeface="M PLUS Rounded 1c"/>
              </a:rPr>
              <a:t>，順暢體驗引來全場索取聯絡方式。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7140000">
            <a:off x="5403076" y="859226"/>
            <a:ext cx="914400" cy="914400"/>
          </a:xfrm>
          <a:prstGeom prst="rect">
            <a:avLst/>
          </a:prstGeom>
          <a:noFill/>
        </p:spPr>
        <p:txBody>
          <a:bodyPr wrap="none" lIns="0" tIns="0" rIns="0" bIns="0">
            <a:spAutoFit/>
          </a:bodyPr>
          <a:lstStyle/>
          <a:p>
            <a:r>
              <a:rPr sz="3700">
                <a:solidFill>
                  <a:srgbClr val="F4F0E6"/>
                </a:solidFill>
                <a:latin typeface="M PLUS Rounded 1c"/>
              </a:rPr>
              <a:t>♥</a:t>
            </a:r>
          </a:p>
        </p:txBody>
      </p:sp>
      <p:sp>
        <p:nvSpPr>
          <p:cNvPr id="4" name="TextBox 3"/>
          <p:cNvSpPr txBox="1"/>
          <p:nvPr/>
        </p:nvSpPr>
        <p:spPr>
          <a:xfrm rot="3300000">
            <a:off x="2503217" y="6206746"/>
            <a:ext cx="914400" cy="914400"/>
          </a:xfrm>
          <a:prstGeom prst="rect">
            <a:avLst/>
          </a:prstGeom>
          <a:noFill/>
        </p:spPr>
        <p:txBody>
          <a:bodyPr wrap="none" lIns="0" tIns="0" rIns="0" bIns="0">
            <a:spAutoFit/>
          </a:bodyPr>
          <a:lstStyle/>
          <a:p>
            <a:r>
              <a:rPr sz="3800">
                <a:solidFill>
                  <a:srgbClr val="F4F0E6"/>
                </a:solidFill>
                <a:latin typeface="M PLUS Rounded 1c"/>
              </a:rPr>
              <a:t>♥</a:t>
            </a:r>
          </a:p>
        </p:txBody>
      </p:sp>
      <p:sp>
        <p:nvSpPr>
          <p:cNvPr id="5" name="TextBox 4"/>
          <p:cNvSpPr txBox="1"/>
          <p:nvPr/>
        </p:nvSpPr>
        <p:spPr>
          <a:xfrm rot="6360000">
            <a:off x="11212265" y="6411853"/>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6" name="TextBox 5"/>
          <p:cNvSpPr txBox="1"/>
          <p:nvPr/>
        </p:nvSpPr>
        <p:spPr>
          <a:xfrm rot="6660000">
            <a:off x="1060326" y="2077391"/>
            <a:ext cx="914400" cy="914400"/>
          </a:xfrm>
          <a:prstGeom prst="rect">
            <a:avLst/>
          </a:prstGeom>
          <a:noFill/>
        </p:spPr>
        <p:txBody>
          <a:bodyPr wrap="none" lIns="0" tIns="0" rIns="0" bIns="0">
            <a:spAutoFit/>
          </a:bodyPr>
          <a:lstStyle/>
          <a:p>
            <a:r>
              <a:rPr sz="3300">
                <a:solidFill>
                  <a:srgbClr val="F4F0E6"/>
                </a:solidFill>
                <a:latin typeface="M PLUS Rounded 1c"/>
              </a:rPr>
              <a:t>♥</a:t>
            </a:r>
          </a:p>
        </p:txBody>
      </p:sp>
      <p:sp>
        <p:nvSpPr>
          <p:cNvPr id="7" name="TextBox 6"/>
          <p:cNvSpPr txBox="1"/>
          <p:nvPr/>
        </p:nvSpPr>
        <p:spPr>
          <a:xfrm rot="5400000">
            <a:off x="11768071" y="3945229"/>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8" name="TextBox 7"/>
          <p:cNvSpPr txBox="1"/>
          <p:nvPr/>
        </p:nvSpPr>
        <p:spPr>
          <a:xfrm rot="15420000">
            <a:off x="11609890" y="1294492"/>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9" name="TextBox 8"/>
          <p:cNvSpPr txBox="1"/>
          <p:nvPr/>
        </p:nvSpPr>
        <p:spPr>
          <a:xfrm rot="5580000">
            <a:off x="7142752" y="832586"/>
            <a:ext cx="914400" cy="914400"/>
          </a:xfrm>
          <a:prstGeom prst="rect">
            <a:avLst/>
          </a:prstGeom>
          <a:noFill/>
        </p:spPr>
        <p:txBody>
          <a:bodyPr wrap="none" lIns="0" tIns="0" rIns="0" bIns="0">
            <a:spAutoFit/>
          </a:bodyPr>
          <a:lstStyle/>
          <a:p>
            <a:r>
              <a:rPr sz="4200">
                <a:solidFill>
                  <a:srgbClr val="F4F0E6"/>
                </a:solidFill>
                <a:latin typeface="M PLUS Rounded 1c"/>
              </a:rPr>
              <a:t>✦</a:t>
            </a:r>
          </a:p>
        </p:txBody>
      </p:sp>
      <p:sp>
        <p:nvSpPr>
          <p:cNvPr id="10" name="TextBox 9"/>
          <p:cNvSpPr txBox="1"/>
          <p:nvPr/>
        </p:nvSpPr>
        <p:spPr>
          <a:xfrm rot="8100000">
            <a:off x="670928" y="3922749"/>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11" name="TextBox 10"/>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私域流量經營：別放著現成金礦去公域撈人</a:t>
            </a:r>
          </a:p>
        </p:txBody>
      </p:sp>
      <p:sp>
        <p:nvSpPr>
          <p:cNvPr id="12" name="Rectangle 11"/>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私域與公域</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私域工具：個人 LINE、LINE 群組、LINE 社群（隱私保護、不可互加）及 LINE OA 官方帳號（可由小幫手協作）。</a:t>
            </a:r>
          </a:p>
          <a:p>
            <a:pPr lvl="1">
              <a:spcBef>
                <a:spcPts val="400"/>
              </a:spcBef>
              <a:spcAft>
                <a:spcPts val="800"/>
              </a:spcAft>
            </a:pPr>
            <a:r>
              <a:rPr b="1" sz="1800">
                <a:solidFill>
                  <a:srgbClr val="C5A880"/>
                </a:solidFill>
                <a:latin typeface="M PLUS Rounded 1c"/>
              </a:rPr>
              <a:t>• </a:t>
            </a:r>
            <a:r>
              <a:rPr b="1" sz="1800">
                <a:solidFill>
                  <a:srgbClr val="8C6D3E"/>
                </a:solidFill>
                <a:latin typeface="M PLUS Rounded 1c"/>
              </a:rPr>
              <a:t>常見誤區</a:t>
            </a:r>
            <a:r>
              <a:rPr sz="1800">
                <a:solidFill>
                  <a:srgbClr val="3C3C3C"/>
                </a:solidFill>
                <a:latin typeface="M PLUS Rounded 1c"/>
              </a:rPr>
              <a:t>：放著手機裡成百上千個 LINE 好友不用，卻一直往公域社群媒體撈人。</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正確經營</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避免盲目群發冗長廣告，否則容易引起反感被封鎖。</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透過標籤管理進行精準經營。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4560000">
            <a:off x="11648620" y="817616"/>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4" name="TextBox 3"/>
          <p:cNvSpPr txBox="1"/>
          <p:nvPr/>
        </p:nvSpPr>
        <p:spPr>
          <a:xfrm rot="20760000">
            <a:off x="11338734" y="1603560"/>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5" name="TextBox 4"/>
          <p:cNvSpPr txBox="1"/>
          <p:nvPr/>
        </p:nvSpPr>
        <p:spPr>
          <a:xfrm rot="12180000">
            <a:off x="11669581" y="5497101"/>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6" name="TextBox 5"/>
          <p:cNvSpPr txBox="1"/>
          <p:nvPr/>
        </p:nvSpPr>
        <p:spPr>
          <a:xfrm rot="3300000">
            <a:off x="1071572" y="323548"/>
            <a:ext cx="914400" cy="914400"/>
          </a:xfrm>
          <a:prstGeom prst="rect">
            <a:avLst/>
          </a:prstGeom>
          <a:noFill/>
        </p:spPr>
        <p:txBody>
          <a:bodyPr wrap="none" lIns="0" tIns="0" rIns="0" bIns="0">
            <a:spAutoFit/>
          </a:bodyPr>
          <a:lstStyle/>
          <a:p>
            <a:r>
              <a:rPr sz="4800">
                <a:solidFill>
                  <a:srgbClr val="F4F0E6"/>
                </a:solidFill>
                <a:latin typeface="M PLUS Rounded 1c"/>
              </a:rPr>
              <a:t>☥</a:t>
            </a:r>
          </a:p>
        </p:txBody>
      </p:sp>
      <p:sp>
        <p:nvSpPr>
          <p:cNvPr id="7" name="TextBox 6"/>
          <p:cNvSpPr txBox="1"/>
          <p:nvPr/>
        </p:nvSpPr>
        <p:spPr>
          <a:xfrm rot="2760000">
            <a:off x="9910689" y="5989075"/>
            <a:ext cx="914400" cy="914400"/>
          </a:xfrm>
          <a:prstGeom prst="rect">
            <a:avLst/>
          </a:prstGeom>
          <a:noFill/>
        </p:spPr>
        <p:txBody>
          <a:bodyPr wrap="none" lIns="0" tIns="0" rIns="0" bIns="0">
            <a:spAutoFit/>
          </a:bodyPr>
          <a:lstStyle/>
          <a:p>
            <a:r>
              <a:rPr sz="2400">
                <a:solidFill>
                  <a:srgbClr val="F4F0E6"/>
                </a:solidFill>
                <a:latin typeface="M PLUS Rounded 1c"/>
              </a:rPr>
              <a:t>☥</a:t>
            </a:r>
          </a:p>
        </p:txBody>
      </p:sp>
      <p:sp>
        <p:nvSpPr>
          <p:cNvPr id="8" name="TextBox 7"/>
          <p:cNvSpPr txBox="1"/>
          <p:nvPr/>
        </p:nvSpPr>
        <p:spPr>
          <a:xfrm rot="3840000">
            <a:off x="637137" y="5745349"/>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9" name="TextBox 8"/>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ABC 標籤分類法：金牌保險經紀人的 LINE 好友管理法</a:t>
            </a:r>
          </a:p>
        </p:txBody>
      </p:sp>
      <p:sp>
        <p:nvSpPr>
          <p:cNvPr id="10" name="Rectangle 9"/>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A 級（最精準客戶）</a:t>
            </a:r>
            <a:r>
              <a:rPr sz="2000">
                <a:solidFill>
                  <a:srgbClr val="3C3C3C"/>
                </a:solidFill>
                <a:latin typeface="M PLUS Rounded 1c"/>
              </a:rPr>
              <a:t>：已付過錢、體驗過或對活動非常有興趣者。</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B 級（暖化中客戶）</a:t>
            </a:r>
            <a:r>
              <a:rPr sz="2000">
                <a:solidFill>
                  <a:srgbClr val="3C3C3C"/>
                </a:solidFill>
                <a:latin typeface="M PLUS Rounded 1c"/>
              </a:rPr>
              <a:t>：有聊過身心靈且有興趣，有潛力轉為 A 級者。</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C 級（觀望中客戶）</a:t>
            </a:r>
            <a:r>
              <a:rPr sz="2000">
                <a:solidFill>
                  <a:srgbClr val="3C3C3C"/>
                </a:solidFill>
                <a:latin typeface="M PLUS Rounded 1c"/>
              </a:rPr>
              <a:t>：僅點頭之交，未來有機會者。</a:t>
            </a:r>
          </a:p>
          <a:p>
            <a:pPr>
              <a:spcBef>
                <a:spcPts val="400"/>
              </a:spcBef>
              <a:spcAft>
                <a:spcPts val="800"/>
              </a:spcAft>
            </a:pPr>
            <a:r>
              <a:rPr b="1" sz="2000">
                <a:solidFill>
                  <a:srgbClr val="C5A880"/>
                </a:solidFill>
                <a:latin typeface="M PLUS Rounded 1c"/>
              </a:rPr>
              <a:t>✦ </a:t>
            </a:r>
            <a:r>
              <a:rPr sz="2000">
                <a:solidFill>
                  <a:srgbClr val="3C3C3C"/>
                </a:solidFill>
                <a:latin typeface="M PLUS Rounded 1c"/>
              </a:rPr>
              <a:t>*💡 很久沒聊的朋友先不打標籤，先專注在精準客戶。*</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標籤命名小技巧</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在個人名字旁使用特殊符號標籤（例如 `🅰️`、`🅱️`），避免搜尋時跑出無關資訊。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9300000">
            <a:off x="1147167" y="4581428"/>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4" name="TextBox 3"/>
          <p:cNvSpPr txBox="1"/>
          <p:nvPr/>
        </p:nvSpPr>
        <p:spPr>
          <a:xfrm rot="16260000">
            <a:off x="651939" y="6373114"/>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5" name="TextBox 4"/>
          <p:cNvSpPr txBox="1"/>
          <p:nvPr/>
        </p:nvSpPr>
        <p:spPr>
          <a:xfrm rot="14280000">
            <a:off x="2920431" y="6382530"/>
            <a:ext cx="914400" cy="914400"/>
          </a:xfrm>
          <a:prstGeom prst="rect">
            <a:avLst/>
          </a:prstGeom>
          <a:noFill/>
        </p:spPr>
        <p:txBody>
          <a:bodyPr wrap="none" lIns="0" tIns="0" rIns="0" bIns="0">
            <a:spAutoFit/>
          </a:bodyPr>
          <a:lstStyle/>
          <a:p>
            <a:r>
              <a:rPr sz="2800">
                <a:solidFill>
                  <a:srgbClr val="F4F0E6"/>
                </a:solidFill>
                <a:latin typeface="M PLUS Rounded 1c"/>
              </a:rPr>
              <a:t>☥</a:t>
            </a:r>
          </a:p>
        </p:txBody>
      </p:sp>
      <p:sp>
        <p:nvSpPr>
          <p:cNvPr id="6" name="TextBox 5"/>
          <p:cNvSpPr txBox="1"/>
          <p:nvPr/>
        </p:nvSpPr>
        <p:spPr>
          <a:xfrm rot="3780000">
            <a:off x="2060069" y="350349"/>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7" name="TextBox 6"/>
          <p:cNvSpPr txBox="1"/>
          <p:nvPr/>
        </p:nvSpPr>
        <p:spPr>
          <a:xfrm rot="16680000">
            <a:off x="11873517" y="1874911"/>
            <a:ext cx="914400" cy="914400"/>
          </a:xfrm>
          <a:prstGeom prst="rect">
            <a:avLst/>
          </a:prstGeom>
          <a:noFill/>
        </p:spPr>
        <p:txBody>
          <a:bodyPr wrap="none" lIns="0" tIns="0" rIns="0" bIns="0">
            <a:spAutoFit/>
          </a:bodyPr>
          <a:lstStyle/>
          <a:p>
            <a:r>
              <a:rPr sz="4800">
                <a:solidFill>
                  <a:srgbClr val="F4F0E6"/>
                </a:solidFill>
                <a:latin typeface="M PLUS Rounded 1c"/>
              </a:rPr>
              <a:t>☥</a:t>
            </a:r>
          </a:p>
        </p:txBody>
      </p:sp>
      <p:sp>
        <p:nvSpPr>
          <p:cNvPr id="8" name="TextBox 7"/>
          <p:cNvSpPr txBox="1"/>
          <p:nvPr/>
        </p:nvSpPr>
        <p:spPr>
          <a:xfrm rot="10680000">
            <a:off x="782519" y="3083309"/>
            <a:ext cx="914400" cy="914400"/>
          </a:xfrm>
          <a:prstGeom prst="rect">
            <a:avLst/>
          </a:prstGeom>
          <a:noFill/>
        </p:spPr>
        <p:txBody>
          <a:bodyPr wrap="none" lIns="0" tIns="0" rIns="0" bIns="0">
            <a:spAutoFit/>
          </a:bodyPr>
          <a:lstStyle/>
          <a:p>
            <a:r>
              <a:rPr sz="2400">
                <a:solidFill>
                  <a:srgbClr val="F4F0E6"/>
                </a:solidFill>
                <a:latin typeface="M PLUS Rounded 1c"/>
              </a:rPr>
              <a:t>☥</a:t>
            </a:r>
          </a:p>
        </p:txBody>
      </p:sp>
      <p:sp>
        <p:nvSpPr>
          <p:cNvPr id="9" name="TextBox 8"/>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新朋友引流：口頭定位介紹與 QR Code 電子名片</a:t>
            </a:r>
          </a:p>
        </p:txBody>
      </p:sp>
      <p:sp>
        <p:nvSpPr>
          <p:cNvPr id="10" name="Rectangle 9"/>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清晰的口頭定位介紹</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當新朋友反問「你在做什麼的」時：</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*「我是靈性品牌落地師，專門助推身心靈老師把專業轉化為持續收入的品牌。」*</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發送電子名片與 QR Code</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設計帶有個人照片與 QR Code 的精美電子名片（連向官方 LINE OA）。</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以誘餌引導加入：「名片裡有免費的『光行者靈魂測驗』，有興趣可以玩玩看！」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0800000">
            <a:off x="11237444" y="4828516"/>
            <a:ext cx="914400" cy="914400"/>
          </a:xfrm>
          <a:prstGeom prst="rect">
            <a:avLst/>
          </a:prstGeom>
          <a:noFill/>
        </p:spPr>
        <p:txBody>
          <a:bodyPr wrap="none" lIns="0" tIns="0" rIns="0" bIns="0">
            <a:spAutoFit/>
          </a:bodyPr>
          <a:lstStyle/>
          <a:p>
            <a:r>
              <a:rPr sz="4000">
                <a:solidFill>
                  <a:srgbClr val="F4F0E6"/>
                </a:solidFill>
                <a:latin typeface="M PLUS Rounded 1c"/>
              </a:rPr>
              <a:t>✦</a:t>
            </a:r>
          </a:p>
        </p:txBody>
      </p:sp>
      <p:sp>
        <p:nvSpPr>
          <p:cNvPr id="4" name="TextBox 3"/>
          <p:cNvSpPr txBox="1"/>
          <p:nvPr/>
        </p:nvSpPr>
        <p:spPr>
          <a:xfrm rot="4260000">
            <a:off x="2376137" y="6224477"/>
            <a:ext cx="914400" cy="914400"/>
          </a:xfrm>
          <a:prstGeom prst="rect">
            <a:avLst/>
          </a:prstGeom>
          <a:noFill/>
        </p:spPr>
        <p:txBody>
          <a:bodyPr wrap="none" lIns="0" tIns="0" rIns="0" bIns="0">
            <a:spAutoFit/>
          </a:bodyPr>
          <a:lstStyle/>
          <a:p>
            <a:r>
              <a:rPr sz="4400">
                <a:solidFill>
                  <a:srgbClr val="F4F0E6"/>
                </a:solidFill>
                <a:latin typeface="M PLUS Rounded 1c"/>
              </a:rPr>
              <a:t>☥</a:t>
            </a:r>
          </a:p>
        </p:txBody>
      </p:sp>
      <p:sp>
        <p:nvSpPr>
          <p:cNvPr id="5" name="TextBox 4"/>
          <p:cNvSpPr txBox="1"/>
          <p:nvPr/>
        </p:nvSpPr>
        <p:spPr>
          <a:xfrm rot="7800000">
            <a:off x="1107074" y="2497080"/>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6" name="TextBox 5"/>
          <p:cNvSpPr txBox="1"/>
          <p:nvPr/>
        </p:nvSpPr>
        <p:spPr>
          <a:xfrm rot="21060000">
            <a:off x="6518114" y="494124"/>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7" name="TextBox 6"/>
          <p:cNvSpPr txBox="1"/>
          <p:nvPr/>
        </p:nvSpPr>
        <p:spPr>
          <a:xfrm rot="2160000">
            <a:off x="11695444" y="827168"/>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8" name="TextBox 7"/>
          <p:cNvSpPr txBox="1"/>
          <p:nvPr/>
        </p:nvSpPr>
        <p:spPr>
          <a:xfrm rot="17280000">
            <a:off x="915524" y="3431852"/>
            <a:ext cx="914400" cy="914400"/>
          </a:xfrm>
          <a:prstGeom prst="rect">
            <a:avLst/>
          </a:prstGeom>
          <a:noFill/>
        </p:spPr>
        <p:txBody>
          <a:bodyPr wrap="none" lIns="0" tIns="0" rIns="0" bIns="0">
            <a:spAutoFit/>
          </a:bodyPr>
          <a:lstStyle/>
          <a:p>
            <a:r>
              <a:rPr sz="4300">
                <a:solidFill>
                  <a:srgbClr val="F4F0E6"/>
                </a:solidFill>
                <a:latin typeface="M PLUS Rounded 1c"/>
              </a:rPr>
              <a:t>✦</a:t>
            </a:r>
          </a:p>
        </p:txBody>
      </p:sp>
      <p:sp>
        <p:nvSpPr>
          <p:cNvPr id="9" name="TextBox 8"/>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系統致富：成交式官網 vs 傳統名片網站</a:t>
            </a:r>
          </a:p>
        </p:txBody>
      </p:sp>
      <p:sp>
        <p:nvSpPr>
          <p:cNvPr id="10" name="Rectangle 9"/>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傳統網站（名片/行錄式）</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直接標出昂貴價格（例如希塔療癒課程 </a:t>
            </a:r>
            <a:r>
              <a:rPr b="1" sz="1800">
                <a:solidFill>
                  <a:srgbClr val="8C6D3E"/>
                </a:solidFill>
                <a:latin typeface="M PLUS Rounded 1c"/>
              </a:rPr>
              <a:t>NTD 73,880 (約 USD 2,300)</a:t>
            </a:r>
            <a:r>
              <a:rPr sz="18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客戶缺乏信任，容易直接被嚇跑。</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成交式官網（解決痛點與建立信任）</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直擊痛點，先給客戶甜頭。</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提供極低體驗價（如 </a:t>
            </a:r>
            <a:r>
              <a:rPr b="1" sz="1800">
                <a:solidFill>
                  <a:srgbClr val="8C6D3E"/>
                </a:solidFill>
                <a:latin typeface="M PLUS Rounded 1c"/>
              </a:rPr>
              <a:t>NTD 199 (約 USD 6.2)</a:t>
            </a:r>
            <a:r>
              <a:rPr sz="1800">
                <a:solidFill>
                  <a:srgbClr val="3C3C3C"/>
                </a:solidFill>
                <a:latin typeface="M PLUS Rounded 1c"/>
              </a:rPr>
              <a:t> 體驗諮詢），讓客戶無痛體驗、主動走上前。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1520000">
            <a:off x="11390227" y="2832896"/>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4" name="TextBox 3"/>
          <p:cNvSpPr txBox="1"/>
          <p:nvPr/>
        </p:nvSpPr>
        <p:spPr>
          <a:xfrm rot="12600000">
            <a:off x="633480" y="3721298"/>
            <a:ext cx="914400" cy="914400"/>
          </a:xfrm>
          <a:prstGeom prst="rect">
            <a:avLst/>
          </a:prstGeom>
          <a:noFill/>
        </p:spPr>
        <p:txBody>
          <a:bodyPr wrap="none" lIns="0" tIns="0" rIns="0" bIns="0">
            <a:spAutoFit/>
          </a:bodyPr>
          <a:lstStyle/>
          <a:p>
            <a:r>
              <a:rPr sz="3800">
                <a:solidFill>
                  <a:srgbClr val="F4F0E6"/>
                </a:solidFill>
                <a:latin typeface="M PLUS Rounded 1c"/>
              </a:rPr>
              <a:t>✦</a:t>
            </a:r>
          </a:p>
        </p:txBody>
      </p:sp>
      <p:sp>
        <p:nvSpPr>
          <p:cNvPr id="5" name="TextBox 4"/>
          <p:cNvSpPr txBox="1"/>
          <p:nvPr/>
        </p:nvSpPr>
        <p:spPr>
          <a:xfrm rot="18300000">
            <a:off x="11084233" y="1513043"/>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6" name="TextBox 5"/>
          <p:cNvSpPr txBox="1"/>
          <p:nvPr/>
        </p:nvSpPr>
        <p:spPr>
          <a:xfrm rot="15540000">
            <a:off x="10945192" y="5255515"/>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7" name="TextBox 6"/>
          <p:cNvSpPr txBox="1"/>
          <p:nvPr/>
        </p:nvSpPr>
        <p:spPr>
          <a:xfrm rot="5880000">
            <a:off x="10342078" y="6371667"/>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8" name="TextBox 7"/>
          <p:cNvSpPr txBox="1"/>
          <p:nvPr/>
        </p:nvSpPr>
        <p:spPr>
          <a:xfrm rot="14520000">
            <a:off x="324616" y="3838609"/>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9" name="TextBox 8"/>
          <p:cNvSpPr txBox="1"/>
          <p:nvPr/>
        </p:nvSpPr>
        <p:spPr>
          <a:xfrm rot="20220000">
            <a:off x="188942" y="910055"/>
            <a:ext cx="914400" cy="914400"/>
          </a:xfrm>
          <a:prstGeom prst="rect">
            <a:avLst/>
          </a:prstGeom>
          <a:noFill/>
        </p:spPr>
        <p:txBody>
          <a:bodyPr wrap="none" lIns="0" tIns="0" rIns="0" bIns="0">
            <a:spAutoFit/>
          </a:bodyPr>
          <a:lstStyle/>
          <a:p>
            <a:r>
              <a:rPr sz="4400">
                <a:solidFill>
                  <a:srgbClr val="F4F0E6"/>
                </a:solidFill>
                <a:latin typeface="M PLUS Rounded 1c"/>
              </a:rPr>
              <a:t>♥</a:t>
            </a:r>
          </a:p>
        </p:txBody>
      </p:sp>
      <p:sp>
        <p:nvSpPr>
          <p:cNvPr id="10" name="TextBox 9"/>
          <p:cNvSpPr txBox="1"/>
          <p:nvPr/>
        </p:nvSpPr>
        <p:spPr>
          <a:xfrm rot="1800000">
            <a:off x="273019" y="4942458"/>
            <a:ext cx="914400" cy="914400"/>
          </a:xfrm>
          <a:prstGeom prst="rect">
            <a:avLst/>
          </a:prstGeom>
          <a:noFill/>
        </p:spPr>
        <p:txBody>
          <a:bodyPr wrap="none" lIns="0" tIns="0" rIns="0" bIns="0">
            <a:spAutoFit/>
          </a:bodyPr>
          <a:lstStyle/>
          <a:p>
            <a:r>
              <a:rPr sz="4200">
                <a:solidFill>
                  <a:srgbClr val="F4F0E6"/>
                </a:solidFill>
                <a:latin typeface="M PLUS Rounded 1c"/>
              </a:rPr>
              <a:t>✦</a:t>
            </a:r>
          </a:p>
        </p:txBody>
      </p:sp>
      <p:sp>
        <p:nvSpPr>
          <p:cNvPr id="11" name="TextBox 10"/>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案例分享 (1)：Yuka 的紫微斗數好運顯化與 NTD 199 體驗</a:t>
            </a:r>
          </a:p>
        </p:txBody>
      </p:sp>
      <p:sp>
        <p:nvSpPr>
          <p:cNvPr id="12" name="Rectangle 11"/>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學員背景</a:t>
            </a:r>
            <a:r>
              <a:rPr sz="2000">
                <a:solidFill>
                  <a:srgbClr val="3C3C3C"/>
                </a:solidFill>
                <a:latin typeface="M PLUS Rounded 1c"/>
              </a:rPr>
              <a:t>：Yuka 擁有 2 萬粉絲的社群平台帳號，但變現卡關。</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調整方案</a:t>
            </a:r>
            <a:r>
              <a:rPr sz="20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重新定位為「紫微斗數好運顯化顧問」。</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推出限量的 </a:t>
            </a:r>
            <a:r>
              <a:rPr b="1" sz="1800">
                <a:solidFill>
                  <a:srgbClr val="8C6D3E"/>
                </a:solidFill>
                <a:latin typeface="M PLUS Rounded 1c"/>
              </a:rPr>
              <a:t>NTD 199 (約 USD 6.2)</a:t>
            </a:r>
            <a:r>
              <a:rPr sz="1800">
                <a:solidFill>
                  <a:srgbClr val="3C3C3C"/>
                </a:solidFill>
                <a:latin typeface="M PLUS Rounded 1c"/>
              </a:rPr>
              <a:t> 體驗諮詢。</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顯化成果</a:t>
            </a:r>
            <a:r>
              <a:rPr sz="20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配合直播贈送「金錢靈氣」，成功吸引大量客戶。</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每月諮詢客量迅速突破 </a:t>
            </a:r>
            <a:r>
              <a:rPr b="1" sz="1800">
                <a:solidFill>
                  <a:srgbClr val="8C6D3E"/>
                </a:solidFill>
                <a:latin typeface="M PLUS Rounded 1c"/>
              </a:rPr>
              <a:t>50 人</a:t>
            </a:r>
            <a:r>
              <a:rPr sz="1800">
                <a:solidFill>
                  <a:srgbClr val="3C3C3C"/>
                </a:solidFill>
                <a:latin typeface="M PLUS Rounded 1c"/>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7100000">
            <a:off x="3079895" y="411284"/>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4" name="TextBox 3"/>
          <p:cNvSpPr txBox="1"/>
          <p:nvPr/>
        </p:nvSpPr>
        <p:spPr>
          <a:xfrm rot="4380000">
            <a:off x="1111506" y="5762783"/>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5" name="TextBox 4"/>
          <p:cNvSpPr txBox="1"/>
          <p:nvPr/>
        </p:nvSpPr>
        <p:spPr>
          <a:xfrm rot="5640000">
            <a:off x="289765" y="5868784"/>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6" name="TextBox 5"/>
          <p:cNvSpPr txBox="1"/>
          <p:nvPr/>
        </p:nvSpPr>
        <p:spPr>
          <a:xfrm rot="19020000">
            <a:off x="4042181" y="6655268"/>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7" name="TextBox 6"/>
          <p:cNvSpPr txBox="1"/>
          <p:nvPr/>
        </p:nvSpPr>
        <p:spPr>
          <a:xfrm rot="9060000">
            <a:off x="2491159" y="650193"/>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8" name="TextBox 7"/>
          <p:cNvSpPr txBox="1"/>
          <p:nvPr/>
        </p:nvSpPr>
        <p:spPr>
          <a:xfrm rot="2580000">
            <a:off x="11198924" y="1768374"/>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9" name="TextBox 8"/>
          <p:cNvSpPr txBox="1"/>
          <p:nvPr/>
        </p:nvSpPr>
        <p:spPr>
          <a:xfrm rot="11460000">
            <a:off x="11192535" y="637275"/>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10" name="TextBox 9"/>
          <p:cNvSpPr txBox="1"/>
          <p:nvPr/>
        </p:nvSpPr>
        <p:spPr>
          <a:xfrm rot="12360000">
            <a:off x="11576861" y="4064253"/>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11" name="TextBox 10"/>
          <p:cNvSpPr txBox="1"/>
          <p:nvPr/>
        </p:nvSpPr>
        <p:spPr>
          <a:xfrm rot="16140000">
            <a:off x="795150" y="6557910"/>
            <a:ext cx="914400" cy="914400"/>
          </a:xfrm>
          <a:prstGeom prst="rect">
            <a:avLst/>
          </a:prstGeom>
          <a:noFill/>
        </p:spPr>
        <p:txBody>
          <a:bodyPr wrap="none" lIns="0" tIns="0" rIns="0" bIns="0">
            <a:spAutoFit/>
          </a:bodyPr>
          <a:lstStyle/>
          <a:p>
            <a:r>
              <a:rPr sz="3300">
                <a:solidFill>
                  <a:srgbClr val="F4F0E6"/>
                </a:solidFill>
                <a:latin typeface="M PLUS Rounded 1c"/>
              </a:rPr>
              <a:t>✦</a:t>
            </a:r>
          </a:p>
        </p:txBody>
      </p:sp>
      <p:sp>
        <p:nvSpPr>
          <p:cNvPr id="12" name="TextBox 11"/>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Sally 的逆境翻轉：負債 NTD 4,000,000 的顯化契機</a:t>
            </a:r>
          </a:p>
        </p:txBody>
      </p:sp>
      <p:sp>
        <p:nvSpPr>
          <p:cNvPr id="13" name="Rectangle 12"/>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龐氏騙局的打擊</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曾被騙走 </a:t>
            </a:r>
            <a:r>
              <a:rPr b="1" sz="1800">
                <a:solidFill>
                  <a:srgbClr val="8C6D3E"/>
                </a:solidFill>
                <a:latin typeface="M PLUS Rounded 1c"/>
              </a:rPr>
              <a:t>NTD 4,000,000 多元 (約 USD 125,000)</a:t>
            </a:r>
            <a:r>
              <a:rPr sz="18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當時月收僅 NTD 70,000 - 80,000 (約 USD 2,180 - 2,500)，需不吃不喝還債 7 年。</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反常識的決定</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在最負債時仍毅然多付 </a:t>
            </a:r>
            <a:r>
              <a:rPr b="1" sz="1800">
                <a:solidFill>
                  <a:srgbClr val="8C6D3E"/>
                </a:solidFill>
                <a:latin typeface="M PLUS Rounded 1c"/>
              </a:rPr>
              <a:t>NTD 250,000 (約 USD 7,800)</a:t>
            </a:r>
            <a:r>
              <a:rPr sz="1800">
                <a:solidFill>
                  <a:srgbClr val="3C3C3C"/>
                </a:solidFill>
                <a:latin typeface="M PLUS Rounded 1c"/>
              </a:rPr>
              <a:t> 報名杜拜奢華之旅。</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打破匱乏信念，對頻豐盛能量。</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結果</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在一年內不僅還清所有負債，還去了日本、杜拜、廈門旅行，徹底翻轉人生。</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8060000">
            <a:off x="1237085" y="4576439"/>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4" name="TextBox 3"/>
          <p:cNvSpPr txBox="1"/>
          <p:nvPr/>
        </p:nvSpPr>
        <p:spPr>
          <a:xfrm rot="8580000">
            <a:off x="10337184" y="363029"/>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5" name="TextBox 4"/>
          <p:cNvSpPr txBox="1"/>
          <p:nvPr/>
        </p:nvSpPr>
        <p:spPr>
          <a:xfrm rot="6960000">
            <a:off x="387659" y="6200688"/>
            <a:ext cx="914400" cy="914400"/>
          </a:xfrm>
          <a:prstGeom prst="rect">
            <a:avLst/>
          </a:prstGeom>
          <a:noFill/>
        </p:spPr>
        <p:txBody>
          <a:bodyPr wrap="none" lIns="0" tIns="0" rIns="0" bIns="0">
            <a:spAutoFit/>
          </a:bodyPr>
          <a:lstStyle/>
          <a:p>
            <a:r>
              <a:rPr sz="3100">
                <a:solidFill>
                  <a:srgbClr val="F4F0E6"/>
                </a:solidFill>
                <a:latin typeface="M PLUS Rounded 1c"/>
              </a:rPr>
              <a:t>☥</a:t>
            </a:r>
          </a:p>
        </p:txBody>
      </p:sp>
      <p:sp>
        <p:nvSpPr>
          <p:cNvPr id="6" name="TextBox 5"/>
          <p:cNvSpPr txBox="1"/>
          <p:nvPr/>
        </p:nvSpPr>
        <p:spPr>
          <a:xfrm rot="18900000">
            <a:off x="885603" y="1271416"/>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7" name="TextBox 6"/>
          <p:cNvSpPr txBox="1"/>
          <p:nvPr/>
        </p:nvSpPr>
        <p:spPr>
          <a:xfrm rot="2820000">
            <a:off x="4536691" y="674548"/>
            <a:ext cx="914400" cy="914400"/>
          </a:xfrm>
          <a:prstGeom prst="rect">
            <a:avLst/>
          </a:prstGeom>
          <a:noFill/>
        </p:spPr>
        <p:txBody>
          <a:bodyPr wrap="none" lIns="0" tIns="0" rIns="0" bIns="0">
            <a:spAutoFit/>
          </a:bodyPr>
          <a:lstStyle/>
          <a:p>
            <a:r>
              <a:rPr sz="3800">
                <a:solidFill>
                  <a:srgbClr val="F4F0E6"/>
                </a:solidFill>
                <a:latin typeface="M PLUS Rounded 1c"/>
              </a:rPr>
              <a:t>☥</a:t>
            </a:r>
          </a:p>
        </p:txBody>
      </p:sp>
      <p:sp>
        <p:nvSpPr>
          <p:cNvPr id="8" name="TextBox 7"/>
          <p:cNvSpPr txBox="1"/>
          <p:nvPr/>
        </p:nvSpPr>
        <p:spPr>
          <a:xfrm rot="11400000">
            <a:off x="1210299" y="1894885"/>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9" name="TextBox 8"/>
          <p:cNvSpPr txBox="1"/>
          <p:nvPr/>
        </p:nvSpPr>
        <p:spPr>
          <a:xfrm rot="18000000">
            <a:off x="11657730" y="4149305"/>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10" name="TextBox 9"/>
          <p:cNvSpPr txBox="1"/>
          <p:nvPr/>
        </p:nvSpPr>
        <p:spPr>
          <a:xfrm>
            <a:off x="914400" y="2011680"/>
            <a:ext cx="10362895" cy="3200400"/>
          </a:xfrm>
          <a:prstGeom prst="rect">
            <a:avLst/>
          </a:prstGeom>
          <a:noFill/>
        </p:spPr>
        <p:txBody>
          <a:bodyPr wrap="square" lIns="0" tIns="0" rIns="0" bIns="0">
            <a:spAutoFit/>
          </a:bodyPr>
          <a:lstStyle/>
          <a:p>
            <a:pPr algn="ctr">
              <a:spcAft>
                <a:spcPts val="1400"/>
              </a:spcAft>
            </a:pPr>
            <a:r>
              <a:rPr sz="4400" b="1">
                <a:solidFill>
                  <a:srgbClr val="B8975A"/>
                </a:solidFill>
                <a:latin typeface="M PLUS Rounded 1c"/>
              </a:rPr>
              <a:t>第二天：自媒體經營與高共鳴 IP 定位</a:t>
            </a:r>
          </a:p>
          <a:p>
            <a:pPr algn="ctr"/>
            <a:r>
              <a:rPr sz="2400">
                <a:solidFill>
                  <a:srgbClr val="C5A880"/>
                </a:solidFill>
                <a:latin typeface="M PLUS Rounded 1c"/>
              </a:rPr>
              <a:t>破解內容難產 ➔ 確立核心 IP ➔ AI 工具高效產出</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9180000">
            <a:off x="1683900" y="6553999"/>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4" name="TextBox 3"/>
          <p:cNvSpPr txBox="1"/>
          <p:nvPr/>
        </p:nvSpPr>
        <p:spPr>
          <a:xfrm rot="16320000">
            <a:off x="530013" y="6295721"/>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5" name="TextBox 4"/>
          <p:cNvSpPr txBox="1"/>
          <p:nvPr/>
        </p:nvSpPr>
        <p:spPr>
          <a:xfrm rot="5280000">
            <a:off x="10946010" y="1986685"/>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6" name="TextBox 5"/>
          <p:cNvSpPr txBox="1"/>
          <p:nvPr/>
        </p:nvSpPr>
        <p:spPr>
          <a:xfrm rot="2580000">
            <a:off x="11276859" y="680977"/>
            <a:ext cx="914400" cy="914400"/>
          </a:xfrm>
          <a:prstGeom prst="rect">
            <a:avLst/>
          </a:prstGeom>
          <a:noFill/>
        </p:spPr>
        <p:txBody>
          <a:bodyPr wrap="none" lIns="0" tIns="0" rIns="0" bIns="0">
            <a:spAutoFit/>
          </a:bodyPr>
          <a:lstStyle/>
          <a:p>
            <a:r>
              <a:rPr sz="3300">
                <a:solidFill>
                  <a:srgbClr val="F4F0E6"/>
                </a:solidFill>
                <a:latin typeface="M PLUS Rounded 1c"/>
              </a:rPr>
              <a:t>☥</a:t>
            </a:r>
          </a:p>
        </p:txBody>
      </p:sp>
      <p:sp>
        <p:nvSpPr>
          <p:cNvPr id="7" name="TextBox 6"/>
          <p:cNvSpPr txBox="1"/>
          <p:nvPr/>
        </p:nvSpPr>
        <p:spPr>
          <a:xfrm rot="14760000">
            <a:off x="11021478" y="1477105"/>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8" name="TextBox 7"/>
          <p:cNvSpPr txBox="1"/>
          <p:nvPr/>
        </p:nvSpPr>
        <p:spPr>
          <a:xfrm rot="240000">
            <a:off x="3132776" y="6175245"/>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9" name="TextBox 8"/>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靈魂定位 (IP)：定你的靈性江山，拒絕「服務清單」</a:t>
            </a:r>
          </a:p>
        </p:txBody>
      </p:sp>
      <p:sp>
        <p:nvSpPr>
          <p:cNvPr id="10" name="Rectangle 9"/>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定位是事業的指南針</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李小龍名言：「會一萬招，不如一招練萬次。」</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「一招練萬次」代表你的個案數量與實戰累積超過 </a:t>
            </a:r>
            <a:r>
              <a:rPr b="1" sz="1800">
                <a:solidFill>
                  <a:srgbClr val="8C6D3E"/>
                </a:solidFill>
                <a:latin typeface="M PLUS Rounded 1c"/>
              </a:rPr>
              <a:t>10,000 小時</a:t>
            </a:r>
            <a:r>
              <a:rPr sz="1800">
                <a:solidFill>
                  <a:srgbClr val="3C3C3C"/>
                </a:solidFill>
                <a:latin typeface="M PLUS Rounded 1c"/>
              </a:rPr>
              <a:t>。</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避開「服務清單」的常見誤區</a:t>
            </a:r>
          </a:p>
          <a:p>
            <a:pPr lvl="1">
              <a:spcBef>
                <a:spcPts val="400"/>
              </a:spcBef>
              <a:spcAft>
                <a:spcPts val="800"/>
              </a:spcAft>
            </a:pPr>
            <a:r>
              <a:rPr b="1" sz="1800">
                <a:solidFill>
                  <a:srgbClr val="C5A880"/>
                </a:solidFill>
                <a:latin typeface="M PLUS Rounded 1c"/>
              </a:rPr>
              <a:t>• </a:t>
            </a:r>
            <a:r>
              <a:rPr b="1" sz="1800">
                <a:solidFill>
                  <a:srgbClr val="8C6D3E"/>
                </a:solidFill>
                <a:latin typeface="M PLUS Rounded 1c"/>
              </a:rPr>
              <a:t>錯誤做法</a:t>
            </a:r>
            <a:r>
              <a:rPr sz="1800">
                <a:solidFill>
                  <a:srgbClr val="3C3C3C"/>
                </a:solidFill>
                <a:latin typeface="M PLUS Rounded 1c"/>
              </a:rPr>
              <a:t>：在簡介中列出一大堆證書 and 工具名稱（西塔療癒師、催眠導師、靈氣老師、阿卡西、塔羅等）。</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這導致自我介紹變成「工具清單」，客戶記不住你的核心優勢。</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020000">
            <a:off x="11689616" y="1394778"/>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4" name="TextBox 3"/>
          <p:cNvSpPr txBox="1"/>
          <p:nvPr/>
        </p:nvSpPr>
        <p:spPr>
          <a:xfrm rot="14700000">
            <a:off x="11213812" y="6392357"/>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5" name="TextBox 4"/>
          <p:cNvSpPr txBox="1"/>
          <p:nvPr/>
        </p:nvSpPr>
        <p:spPr>
          <a:xfrm rot="18000000">
            <a:off x="366189" y="5947577"/>
            <a:ext cx="914400" cy="914400"/>
          </a:xfrm>
          <a:prstGeom prst="rect">
            <a:avLst/>
          </a:prstGeom>
          <a:noFill/>
        </p:spPr>
        <p:txBody>
          <a:bodyPr wrap="none" lIns="0" tIns="0" rIns="0" bIns="0">
            <a:spAutoFit/>
          </a:bodyPr>
          <a:lstStyle/>
          <a:p>
            <a:r>
              <a:rPr sz="4400">
                <a:solidFill>
                  <a:srgbClr val="F4F0E6"/>
                </a:solidFill>
                <a:latin typeface="M PLUS Rounded 1c"/>
              </a:rPr>
              <a:t>☥</a:t>
            </a:r>
          </a:p>
        </p:txBody>
      </p:sp>
      <p:sp>
        <p:nvSpPr>
          <p:cNvPr id="6" name="TextBox 5"/>
          <p:cNvSpPr txBox="1"/>
          <p:nvPr/>
        </p:nvSpPr>
        <p:spPr>
          <a:xfrm rot="6420000">
            <a:off x="11538251" y="4137602"/>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7" name="TextBox 6"/>
          <p:cNvSpPr txBox="1"/>
          <p:nvPr/>
        </p:nvSpPr>
        <p:spPr>
          <a:xfrm rot="19980000">
            <a:off x="4027197" y="867825"/>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8" name="TextBox 7"/>
          <p:cNvSpPr txBox="1"/>
          <p:nvPr/>
        </p:nvSpPr>
        <p:spPr>
          <a:xfrm rot="7920000">
            <a:off x="3506639" y="187589"/>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9" name="TextBox 8"/>
          <p:cNvSpPr txBox="1"/>
          <p:nvPr/>
        </p:nvSpPr>
        <p:spPr>
          <a:xfrm rot="3780000">
            <a:off x="11418921" y="5012793"/>
            <a:ext cx="914400" cy="914400"/>
          </a:xfrm>
          <a:prstGeom prst="rect">
            <a:avLst/>
          </a:prstGeom>
          <a:noFill/>
        </p:spPr>
        <p:txBody>
          <a:bodyPr wrap="none" lIns="0" tIns="0" rIns="0" bIns="0">
            <a:spAutoFit/>
          </a:bodyPr>
          <a:lstStyle/>
          <a:p>
            <a:r>
              <a:rPr sz="4300">
                <a:solidFill>
                  <a:srgbClr val="F4F0E6"/>
                </a:solidFill>
                <a:latin typeface="M PLUS Rounded 1c"/>
              </a:rPr>
              <a:t>♥</a:t>
            </a:r>
          </a:p>
        </p:txBody>
      </p:sp>
      <p:sp>
        <p:nvSpPr>
          <p:cNvPr id="10" name="TextBox 9"/>
          <p:cNvSpPr txBox="1"/>
          <p:nvPr/>
        </p:nvSpPr>
        <p:spPr>
          <a:xfrm rot="5820000">
            <a:off x="11740681" y="4030093"/>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11" name="TextBox 10"/>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定位轉型案例：芳療師小青與命運 Hacker 吳宇堂</a:t>
            </a:r>
          </a:p>
        </p:txBody>
      </p:sp>
      <p:sp>
        <p:nvSpPr>
          <p:cNvPr id="12" name="Rectangle 11"/>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小青老師</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從普通的「芳療師」重新定位為「植物伴侶」創業者導師。</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吳宇堂老師</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原本經營「整脊整復中心」（體力活，面臨年齡限制與瓶頸）。</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重新定位為「命運 Hacker」。</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掃描生命底層代碼，進行身心靈命圖算與能量校準，已成功協助 300 多個個案重啟人生。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3380000">
            <a:off x="5360788" y="6412812"/>
            <a:ext cx="914400" cy="914400"/>
          </a:xfrm>
          <a:prstGeom prst="rect">
            <a:avLst/>
          </a:prstGeom>
          <a:noFill/>
        </p:spPr>
        <p:txBody>
          <a:bodyPr wrap="none" lIns="0" tIns="0" rIns="0" bIns="0">
            <a:spAutoFit/>
          </a:bodyPr>
          <a:lstStyle/>
          <a:p>
            <a:r>
              <a:rPr sz="4400">
                <a:solidFill>
                  <a:srgbClr val="F4F0E6"/>
                </a:solidFill>
                <a:latin typeface="M PLUS Rounded 1c"/>
              </a:rPr>
              <a:t>✦</a:t>
            </a:r>
          </a:p>
        </p:txBody>
      </p:sp>
      <p:sp>
        <p:nvSpPr>
          <p:cNvPr id="4" name="TextBox 3"/>
          <p:cNvSpPr txBox="1"/>
          <p:nvPr/>
        </p:nvSpPr>
        <p:spPr>
          <a:xfrm rot="13140000">
            <a:off x="6560688" y="693550"/>
            <a:ext cx="914400" cy="914400"/>
          </a:xfrm>
          <a:prstGeom prst="rect">
            <a:avLst/>
          </a:prstGeom>
          <a:noFill/>
        </p:spPr>
        <p:txBody>
          <a:bodyPr wrap="none" lIns="0" tIns="0" rIns="0" bIns="0">
            <a:spAutoFit/>
          </a:bodyPr>
          <a:lstStyle/>
          <a:p>
            <a:r>
              <a:rPr sz="4400">
                <a:solidFill>
                  <a:srgbClr val="F4F0E6"/>
                </a:solidFill>
                <a:latin typeface="M PLUS Rounded 1c"/>
              </a:rPr>
              <a:t>✦</a:t>
            </a:r>
          </a:p>
        </p:txBody>
      </p:sp>
      <p:sp>
        <p:nvSpPr>
          <p:cNvPr id="5" name="TextBox 4"/>
          <p:cNvSpPr txBox="1"/>
          <p:nvPr/>
        </p:nvSpPr>
        <p:spPr>
          <a:xfrm rot="19140000">
            <a:off x="11943051" y="887850"/>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6" name="TextBox 5"/>
          <p:cNvSpPr txBox="1"/>
          <p:nvPr/>
        </p:nvSpPr>
        <p:spPr>
          <a:xfrm rot="18900000">
            <a:off x="11894268" y="4009078"/>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7" name="TextBox 6"/>
          <p:cNvSpPr txBox="1"/>
          <p:nvPr/>
        </p:nvSpPr>
        <p:spPr>
          <a:xfrm rot="9000000">
            <a:off x="11932530" y="738247"/>
            <a:ext cx="914400" cy="914400"/>
          </a:xfrm>
          <a:prstGeom prst="rect">
            <a:avLst/>
          </a:prstGeom>
          <a:noFill/>
        </p:spPr>
        <p:txBody>
          <a:bodyPr wrap="none" lIns="0" tIns="0" rIns="0" bIns="0">
            <a:spAutoFit/>
          </a:bodyPr>
          <a:lstStyle/>
          <a:p>
            <a:r>
              <a:rPr sz="4200">
                <a:solidFill>
                  <a:srgbClr val="F4F0E6"/>
                </a:solidFill>
                <a:latin typeface="M PLUS Rounded 1c"/>
              </a:rPr>
              <a:t>♥</a:t>
            </a:r>
          </a:p>
        </p:txBody>
      </p:sp>
      <p:sp>
        <p:nvSpPr>
          <p:cNvPr id="8" name="TextBox 7"/>
          <p:cNvSpPr txBox="1"/>
          <p:nvPr/>
        </p:nvSpPr>
        <p:spPr>
          <a:xfrm rot="19680000">
            <a:off x="11960487" y="706724"/>
            <a:ext cx="914400" cy="914400"/>
          </a:xfrm>
          <a:prstGeom prst="rect">
            <a:avLst/>
          </a:prstGeom>
          <a:noFill/>
        </p:spPr>
        <p:txBody>
          <a:bodyPr wrap="none" lIns="0" tIns="0" rIns="0" bIns="0">
            <a:spAutoFit/>
          </a:bodyPr>
          <a:lstStyle/>
          <a:p>
            <a:r>
              <a:rPr sz="3100">
                <a:solidFill>
                  <a:srgbClr val="F4F0E6"/>
                </a:solidFill>
                <a:latin typeface="M PLUS Rounded 1c"/>
              </a:rPr>
              <a:t>✦</a:t>
            </a:r>
          </a:p>
        </p:txBody>
      </p:sp>
      <p:sp>
        <p:nvSpPr>
          <p:cNvPr id="9" name="TextBox 8"/>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著急變現的四大盲區：別把成交當作第一步</a:t>
            </a:r>
          </a:p>
        </p:txBody>
      </p:sp>
      <p:sp>
        <p:nvSpPr>
          <p:cNvPr id="10" name="Rectangle 9"/>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1. </a:t>
            </a:r>
            <a:r>
              <a:rPr b="1" sz="2000">
                <a:solidFill>
                  <a:srgbClr val="8C6D3E"/>
                </a:solidFill>
                <a:latin typeface="M PLUS Rounded 1c"/>
              </a:rPr>
              <a:t>信任未建立就著急丟付費文宣</a:t>
            </a:r>
            <a:r>
              <a:rPr sz="2000">
                <a:solidFill>
                  <a:srgbClr val="3C3C3C"/>
                </a:solidFill>
                <a:latin typeface="M PLUS Rounded 1c"/>
              </a:rPr>
              <a:t>：還沒有定位清楚、沒有建立信任就急於銷售。</a:t>
            </a:r>
          </a:p>
          <a:p>
            <a:pPr>
              <a:spcBef>
                <a:spcPts val="400"/>
              </a:spcBef>
              <a:spcAft>
                <a:spcPts val="800"/>
              </a:spcAft>
            </a:pPr>
            <a:r>
              <a:rPr b="1" sz="2000">
                <a:solidFill>
                  <a:srgbClr val="C5A880"/>
                </a:solidFill>
                <a:latin typeface="M PLUS Rounded 1c"/>
              </a:rPr>
              <a:t>2. </a:t>
            </a:r>
            <a:r>
              <a:rPr b="1" sz="2000">
                <a:solidFill>
                  <a:srgbClr val="8C6D3E"/>
                </a:solidFill>
                <a:latin typeface="M PLUS Rounded 1c"/>
              </a:rPr>
              <a:t>在極小的朋友圈賣高價</a:t>
            </a:r>
            <a:r>
              <a:rPr sz="2000">
                <a:solidFill>
                  <a:srgbClr val="3C3C3C"/>
                </a:solidFill>
                <a:latin typeface="M PLUS Rounded 1c"/>
              </a:rPr>
              <a:t>：沒有經常出現在自媒體中累積信任。</a:t>
            </a:r>
          </a:p>
          <a:p>
            <a:pPr>
              <a:spcBef>
                <a:spcPts val="400"/>
              </a:spcBef>
              <a:spcAft>
                <a:spcPts val="800"/>
              </a:spcAft>
            </a:pPr>
            <a:r>
              <a:rPr b="1" sz="2000">
                <a:solidFill>
                  <a:srgbClr val="C5A880"/>
                </a:solidFill>
                <a:latin typeface="M PLUS Rounded 1c"/>
              </a:rPr>
              <a:t>3. </a:t>
            </a:r>
            <a:r>
              <a:rPr b="1" sz="2000">
                <a:solidFill>
                  <a:srgbClr val="8C6D3E"/>
                </a:solidFill>
                <a:latin typeface="M PLUS Rounded 1c"/>
              </a:rPr>
              <a:t>未提供價值體驗就期待買單</a:t>
            </a:r>
            <a:r>
              <a:rPr sz="2000">
                <a:solidFill>
                  <a:srgbClr val="3C3C3C"/>
                </a:solidFill>
                <a:latin typeface="M PLUS Rounded 1c"/>
              </a:rPr>
              <a:t>：缺乏低價體驗方案。</a:t>
            </a:r>
          </a:p>
          <a:p>
            <a:pPr>
              <a:spcBef>
                <a:spcPts val="400"/>
              </a:spcBef>
              <a:spcAft>
                <a:spcPts val="800"/>
              </a:spcAft>
            </a:pPr>
            <a:r>
              <a:rPr b="1" sz="2000">
                <a:solidFill>
                  <a:srgbClr val="C5A880"/>
                </a:solidFill>
                <a:latin typeface="M PLUS Rounded 1c"/>
              </a:rPr>
              <a:t>4. </a:t>
            </a:r>
            <a:r>
              <a:rPr b="1" sz="2000">
                <a:solidFill>
                  <a:srgbClr val="8C6D3E"/>
                </a:solidFill>
                <a:latin typeface="M PLUS Rounded 1c"/>
              </a:rPr>
              <a:t>把成交當作第一步</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成交應該是自然而然的最後一步（</a:t>
            </a:r>
            <a:r>
              <a:rPr b="1" sz="1800">
                <a:solidFill>
                  <a:srgbClr val="8C6D3E"/>
                </a:solidFill>
                <a:latin typeface="M PLUS Rounded 1c"/>
              </a:rPr>
              <a:t>「用吸引取代銷售」</a:t>
            </a:r>
            <a:r>
              <a:rPr sz="1800">
                <a:solidFill>
                  <a:srgbClr val="3C3C3C"/>
                </a:solidFill>
                <a:latin typeface="M PLUS Rounded 1c"/>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500000">
            <a:off x="337804" y="2424981"/>
            <a:ext cx="914400" cy="914400"/>
          </a:xfrm>
          <a:prstGeom prst="rect">
            <a:avLst/>
          </a:prstGeom>
          <a:noFill/>
        </p:spPr>
        <p:txBody>
          <a:bodyPr wrap="none" lIns="0" tIns="0" rIns="0" bIns="0">
            <a:spAutoFit/>
          </a:bodyPr>
          <a:lstStyle/>
          <a:p>
            <a:r>
              <a:rPr sz="3800">
                <a:solidFill>
                  <a:srgbClr val="F4F0E6"/>
                </a:solidFill>
                <a:latin typeface="M PLUS Rounded 1c"/>
              </a:rPr>
              <a:t>♥</a:t>
            </a:r>
          </a:p>
        </p:txBody>
      </p:sp>
      <p:sp>
        <p:nvSpPr>
          <p:cNvPr id="4" name="TextBox 3"/>
          <p:cNvSpPr txBox="1"/>
          <p:nvPr/>
        </p:nvSpPr>
        <p:spPr>
          <a:xfrm rot="4680000">
            <a:off x="11102958" y="495123"/>
            <a:ext cx="914400" cy="914400"/>
          </a:xfrm>
          <a:prstGeom prst="rect">
            <a:avLst/>
          </a:prstGeom>
          <a:noFill/>
        </p:spPr>
        <p:txBody>
          <a:bodyPr wrap="none" lIns="0" tIns="0" rIns="0" bIns="0">
            <a:spAutoFit/>
          </a:bodyPr>
          <a:lstStyle/>
          <a:p>
            <a:r>
              <a:rPr sz="4300">
                <a:solidFill>
                  <a:srgbClr val="F4F0E6"/>
                </a:solidFill>
                <a:latin typeface="M PLUS Rounded 1c"/>
              </a:rPr>
              <a:t>♥</a:t>
            </a:r>
          </a:p>
        </p:txBody>
      </p:sp>
      <p:sp>
        <p:nvSpPr>
          <p:cNvPr id="5" name="TextBox 4"/>
          <p:cNvSpPr txBox="1"/>
          <p:nvPr/>
        </p:nvSpPr>
        <p:spPr>
          <a:xfrm rot="240000">
            <a:off x="874280" y="1468196"/>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6" name="TextBox 5"/>
          <p:cNvSpPr txBox="1"/>
          <p:nvPr/>
        </p:nvSpPr>
        <p:spPr>
          <a:xfrm rot="3960000">
            <a:off x="550392" y="3097290"/>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7" name="TextBox 6"/>
          <p:cNvSpPr txBox="1"/>
          <p:nvPr/>
        </p:nvSpPr>
        <p:spPr>
          <a:xfrm rot="14700000">
            <a:off x="5535722" y="6450723"/>
            <a:ext cx="914400" cy="914400"/>
          </a:xfrm>
          <a:prstGeom prst="rect">
            <a:avLst/>
          </a:prstGeom>
          <a:noFill/>
        </p:spPr>
        <p:txBody>
          <a:bodyPr wrap="none" lIns="0" tIns="0" rIns="0" bIns="0">
            <a:spAutoFit/>
          </a:bodyPr>
          <a:lstStyle/>
          <a:p>
            <a:r>
              <a:rPr sz="2800">
                <a:solidFill>
                  <a:srgbClr val="F4F0E6"/>
                </a:solidFill>
                <a:latin typeface="M PLUS Rounded 1c"/>
              </a:rPr>
              <a:t>♥</a:t>
            </a:r>
          </a:p>
        </p:txBody>
      </p:sp>
      <p:sp>
        <p:nvSpPr>
          <p:cNvPr id="8" name="TextBox 7"/>
          <p:cNvSpPr txBox="1"/>
          <p:nvPr/>
        </p:nvSpPr>
        <p:spPr>
          <a:xfrm rot="3180000">
            <a:off x="788278" y="3684641"/>
            <a:ext cx="914400" cy="914400"/>
          </a:xfrm>
          <a:prstGeom prst="rect">
            <a:avLst/>
          </a:prstGeom>
          <a:noFill/>
        </p:spPr>
        <p:txBody>
          <a:bodyPr wrap="none" lIns="0" tIns="0" rIns="0" bIns="0">
            <a:spAutoFit/>
          </a:bodyPr>
          <a:lstStyle/>
          <a:p>
            <a:r>
              <a:rPr sz="3800">
                <a:solidFill>
                  <a:srgbClr val="F4F0E6"/>
                </a:solidFill>
                <a:latin typeface="M PLUS Rounded 1c"/>
              </a:rPr>
              <a:t>♥</a:t>
            </a:r>
          </a:p>
        </p:txBody>
      </p:sp>
      <p:sp>
        <p:nvSpPr>
          <p:cNvPr id="9" name="TextBox 8"/>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AI 寫作靈魂原則：拒絕平庸罐頭，保留觀點溫度</a:t>
            </a:r>
          </a:p>
        </p:txBody>
      </p:sp>
      <p:sp>
        <p:nvSpPr>
          <p:cNvPr id="10" name="Rectangle 9"/>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拒絕沒有靈魂的罐頭文章</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避免使用塑膠感很重、語氣死板的 AI 文，這會破壞身心靈品牌的核心信任。</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對話式撰寫與潤飾</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AI 必須基於你</a:t>
            </a:r>
            <a:r>
              <a:rPr b="1" sz="1800">
                <a:solidFill>
                  <a:srgbClr val="8C6D3E"/>
                </a:solidFill>
                <a:latin typeface="M PLUS Rounded 1c"/>
              </a:rPr>
              <a:t>真實的觀點、語氣和案例體驗</a:t>
            </a:r>
            <a:r>
              <a:rPr sz="1800">
                <a:solidFill>
                  <a:srgbClr val="3C3C3C"/>
                </a:solidFill>
                <a:latin typeface="M PLUS Rounded 1c"/>
              </a:rPr>
              <a:t>進行生成。</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讓 AI 成為你的「觀點放大器」，而非替你思考的機器。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4940000">
            <a:off x="11950051" y="760798"/>
            <a:ext cx="914400" cy="914400"/>
          </a:xfrm>
          <a:prstGeom prst="rect">
            <a:avLst/>
          </a:prstGeom>
          <a:noFill/>
        </p:spPr>
        <p:txBody>
          <a:bodyPr wrap="none" lIns="0" tIns="0" rIns="0" bIns="0">
            <a:spAutoFit/>
          </a:bodyPr>
          <a:lstStyle/>
          <a:p>
            <a:r>
              <a:rPr sz="4200">
                <a:solidFill>
                  <a:srgbClr val="F4F0E6"/>
                </a:solidFill>
                <a:latin typeface="M PLUS Rounded 1c"/>
              </a:rPr>
              <a:t>☥</a:t>
            </a:r>
          </a:p>
        </p:txBody>
      </p:sp>
      <p:sp>
        <p:nvSpPr>
          <p:cNvPr id="4" name="TextBox 3"/>
          <p:cNvSpPr txBox="1"/>
          <p:nvPr/>
        </p:nvSpPr>
        <p:spPr>
          <a:xfrm rot="5880000">
            <a:off x="1551493" y="715831"/>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5" name="TextBox 4"/>
          <p:cNvSpPr txBox="1"/>
          <p:nvPr/>
        </p:nvSpPr>
        <p:spPr>
          <a:xfrm rot="9120000">
            <a:off x="2223155" y="692477"/>
            <a:ext cx="914400" cy="914400"/>
          </a:xfrm>
          <a:prstGeom prst="rect">
            <a:avLst/>
          </a:prstGeom>
          <a:noFill/>
        </p:spPr>
        <p:txBody>
          <a:bodyPr wrap="none" lIns="0" tIns="0" rIns="0" bIns="0">
            <a:spAutoFit/>
          </a:bodyPr>
          <a:lstStyle/>
          <a:p>
            <a:r>
              <a:rPr sz="4800">
                <a:solidFill>
                  <a:srgbClr val="F4F0E6"/>
                </a:solidFill>
                <a:latin typeface="M PLUS Rounded 1c"/>
              </a:rPr>
              <a:t>☥</a:t>
            </a:r>
          </a:p>
        </p:txBody>
      </p:sp>
      <p:sp>
        <p:nvSpPr>
          <p:cNvPr id="6" name="TextBox 5"/>
          <p:cNvSpPr txBox="1"/>
          <p:nvPr/>
        </p:nvSpPr>
        <p:spPr>
          <a:xfrm rot="6120000">
            <a:off x="11425082" y="6040605"/>
            <a:ext cx="914400" cy="914400"/>
          </a:xfrm>
          <a:prstGeom prst="rect">
            <a:avLst/>
          </a:prstGeom>
          <a:noFill/>
        </p:spPr>
        <p:txBody>
          <a:bodyPr wrap="none" lIns="0" tIns="0" rIns="0" bIns="0">
            <a:spAutoFit/>
          </a:bodyPr>
          <a:lstStyle/>
          <a:p>
            <a:r>
              <a:rPr sz="3300">
                <a:solidFill>
                  <a:srgbClr val="F4F0E6"/>
                </a:solidFill>
                <a:latin typeface="M PLUS Rounded 1c"/>
              </a:rPr>
              <a:t>♥</a:t>
            </a:r>
          </a:p>
        </p:txBody>
      </p:sp>
      <p:sp>
        <p:nvSpPr>
          <p:cNvPr id="7" name="TextBox 6"/>
          <p:cNvSpPr txBox="1"/>
          <p:nvPr/>
        </p:nvSpPr>
        <p:spPr>
          <a:xfrm rot="5280000">
            <a:off x="11205982" y="3689391"/>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8" name="TextBox 7"/>
          <p:cNvSpPr txBox="1"/>
          <p:nvPr/>
        </p:nvSpPr>
        <p:spPr>
          <a:xfrm rot="2040000">
            <a:off x="471070" y="3585423"/>
            <a:ext cx="914400" cy="914400"/>
          </a:xfrm>
          <a:prstGeom prst="rect">
            <a:avLst/>
          </a:prstGeom>
          <a:noFill/>
        </p:spPr>
        <p:txBody>
          <a:bodyPr wrap="none" lIns="0" tIns="0" rIns="0" bIns="0">
            <a:spAutoFit/>
          </a:bodyPr>
          <a:lstStyle/>
          <a:p>
            <a:r>
              <a:rPr sz="2800">
                <a:solidFill>
                  <a:srgbClr val="F4F0E6"/>
                </a:solidFill>
                <a:latin typeface="M PLUS Rounded 1c"/>
              </a:rPr>
              <a:t>♥</a:t>
            </a:r>
          </a:p>
        </p:txBody>
      </p:sp>
      <p:sp>
        <p:nvSpPr>
          <p:cNvPr id="9" name="TextBox 8"/>
          <p:cNvSpPr txBox="1"/>
          <p:nvPr/>
        </p:nvSpPr>
        <p:spPr>
          <a:xfrm rot="13440000">
            <a:off x="8368111" y="338316"/>
            <a:ext cx="914400" cy="914400"/>
          </a:xfrm>
          <a:prstGeom prst="rect">
            <a:avLst/>
          </a:prstGeom>
          <a:noFill/>
        </p:spPr>
        <p:txBody>
          <a:bodyPr wrap="none" lIns="0" tIns="0" rIns="0" bIns="0">
            <a:spAutoFit/>
          </a:bodyPr>
          <a:lstStyle/>
          <a:p>
            <a:r>
              <a:rPr sz="2900">
                <a:solidFill>
                  <a:srgbClr val="F4F0E6"/>
                </a:solidFill>
                <a:latin typeface="M PLUS Rounded 1c"/>
              </a:rPr>
              <a:t>✦</a:t>
            </a:r>
          </a:p>
        </p:txBody>
      </p:sp>
      <p:sp>
        <p:nvSpPr>
          <p:cNvPr id="10" name="TextBox 9"/>
          <p:cNvSpPr txBox="1"/>
          <p:nvPr/>
        </p:nvSpPr>
        <p:spPr>
          <a:xfrm rot="15120000">
            <a:off x="490121" y="5398434"/>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11" name="TextBox 10"/>
          <p:cNvSpPr txBox="1"/>
          <p:nvPr/>
        </p:nvSpPr>
        <p:spPr>
          <a:xfrm rot="3900000">
            <a:off x="597082" y="779730"/>
            <a:ext cx="914400" cy="914400"/>
          </a:xfrm>
          <a:prstGeom prst="rect">
            <a:avLst/>
          </a:prstGeom>
          <a:noFill/>
        </p:spPr>
        <p:txBody>
          <a:bodyPr wrap="none" lIns="0" tIns="0" rIns="0" bIns="0">
            <a:spAutoFit/>
          </a:bodyPr>
          <a:lstStyle/>
          <a:p>
            <a:r>
              <a:rPr sz="2800">
                <a:solidFill>
                  <a:srgbClr val="F4F0E6"/>
                </a:solidFill>
                <a:latin typeface="M PLUS Rounded 1c"/>
              </a:rPr>
              <a:t>✦</a:t>
            </a:r>
          </a:p>
        </p:txBody>
      </p:sp>
      <p:sp>
        <p:nvSpPr>
          <p:cNvPr id="12" name="TextBox 11"/>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AI 圖文實戰 (1)：破解療癒師定價心魔</a:t>
            </a:r>
          </a:p>
        </p:txBody>
      </p:sp>
      <p:sp>
        <p:nvSpPr>
          <p:cNvPr id="13" name="Rectangle 12"/>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定價的內耗</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憑感覺定價，投射自我價值感.</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自我價值感膨脹時開高價如單次 </a:t>
            </a:r>
            <a:r>
              <a:rPr b="1" sz="1800">
                <a:solidFill>
                  <a:srgbClr val="8C6D3E"/>
                </a:solidFill>
                <a:latin typeface="M PLUS Rounded 1c"/>
              </a:rPr>
              <a:t>NTD 12,000 (約 USD 375)</a:t>
            </a:r>
            <a:r>
              <a:rPr sz="1800">
                <a:solidFill>
                  <a:srgbClr val="3C3C3C"/>
                </a:solidFill>
                <a:latin typeface="M PLUS Rounded 1c"/>
              </a:rPr>
              <a:t> 卻無成交；起步或內耗時收公益價 </a:t>
            </a:r>
            <a:r>
              <a:rPr b="1" sz="1800">
                <a:solidFill>
                  <a:srgbClr val="8C6D3E"/>
                </a:solidFill>
                <a:latin typeface="M PLUS Rounded 1c"/>
              </a:rPr>
              <a:t>NTD 300 (約 USD 9.4)</a:t>
            </a:r>
            <a:r>
              <a:rPr sz="1800">
                <a:solidFill>
                  <a:srgbClr val="3C3C3C"/>
                </a:solidFill>
                <a:latin typeface="M PLUS Rounded 1c"/>
              </a:rPr>
              <a:t> 導致長期透支。</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AI 寫作產出</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從演員基努·李維的「不討好他人」名言切入，剖析「定價是自我價值與市場現實的對話」，5 分鐘內產出極具共鳴的長文。</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8580000">
            <a:off x="878112" y="5407379"/>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4" name="TextBox 3"/>
          <p:cNvSpPr txBox="1"/>
          <p:nvPr/>
        </p:nvSpPr>
        <p:spPr>
          <a:xfrm rot="13560000">
            <a:off x="1113923" y="5336109"/>
            <a:ext cx="914400" cy="914400"/>
          </a:xfrm>
          <a:prstGeom prst="rect">
            <a:avLst/>
          </a:prstGeom>
          <a:noFill/>
        </p:spPr>
        <p:txBody>
          <a:bodyPr wrap="none" lIns="0" tIns="0" rIns="0" bIns="0">
            <a:spAutoFit/>
          </a:bodyPr>
          <a:lstStyle/>
          <a:p>
            <a:r>
              <a:rPr sz="4700">
                <a:solidFill>
                  <a:srgbClr val="F4F0E6"/>
                </a:solidFill>
                <a:latin typeface="M PLUS Rounded 1c"/>
              </a:rPr>
              <a:t>☥</a:t>
            </a:r>
          </a:p>
        </p:txBody>
      </p:sp>
      <p:sp>
        <p:nvSpPr>
          <p:cNvPr id="5" name="TextBox 4"/>
          <p:cNvSpPr txBox="1"/>
          <p:nvPr/>
        </p:nvSpPr>
        <p:spPr>
          <a:xfrm rot="11880000">
            <a:off x="827680" y="6218429"/>
            <a:ext cx="914400" cy="914400"/>
          </a:xfrm>
          <a:prstGeom prst="rect">
            <a:avLst/>
          </a:prstGeom>
          <a:noFill/>
        </p:spPr>
        <p:txBody>
          <a:bodyPr wrap="none" lIns="0" tIns="0" rIns="0" bIns="0">
            <a:spAutoFit/>
          </a:bodyPr>
          <a:lstStyle/>
          <a:p>
            <a:r>
              <a:rPr sz="2900">
                <a:solidFill>
                  <a:srgbClr val="F4F0E6"/>
                </a:solidFill>
                <a:latin typeface="M PLUS Rounded 1c"/>
              </a:rPr>
              <a:t>♥</a:t>
            </a:r>
          </a:p>
        </p:txBody>
      </p:sp>
      <p:sp>
        <p:nvSpPr>
          <p:cNvPr id="6" name="TextBox 5"/>
          <p:cNvSpPr txBox="1"/>
          <p:nvPr/>
        </p:nvSpPr>
        <p:spPr>
          <a:xfrm rot="17100000">
            <a:off x="8764879" y="337003"/>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7" name="TextBox 6"/>
          <p:cNvSpPr txBox="1"/>
          <p:nvPr/>
        </p:nvSpPr>
        <p:spPr>
          <a:xfrm rot="12480000">
            <a:off x="1224225" y="2602075"/>
            <a:ext cx="914400" cy="914400"/>
          </a:xfrm>
          <a:prstGeom prst="rect">
            <a:avLst/>
          </a:prstGeom>
          <a:noFill/>
        </p:spPr>
        <p:txBody>
          <a:bodyPr wrap="none" lIns="0" tIns="0" rIns="0" bIns="0">
            <a:spAutoFit/>
          </a:bodyPr>
          <a:lstStyle/>
          <a:p>
            <a:r>
              <a:rPr sz="4800">
                <a:solidFill>
                  <a:srgbClr val="F4F0E6"/>
                </a:solidFill>
                <a:latin typeface="M PLUS Rounded 1c"/>
              </a:rPr>
              <a:t>♥</a:t>
            </a:r>
          </a:p>
        </p:txBody>
      </p:sp>
      <p:sp>
        <p:nvSpPr>
          <p:cNvPr id="8" name="TextBox 7"/>
          <p:cNvSpPr txBox="1"/>
          <p:nvPr/>
        </p:nvSpPr>
        <p:spPr>
          <a:xfrm rot="18360000">
            <a:off x="9324234" y="372497"/>
            <a:ext cx="914400" cy="914400"/>
          </a:xfrm>
          <a:prstGeom prst="rect">
            <a:avLst/>
          </a:prstGeom>
          <a:noFill/>
        </p:spPr>
        <p:txBody>
          <a:bodyPr wrap="none" lIns="0" tIns="0" rIns="0" bIns="0">
            <a:spAutoFit/>
          </a:bodyPr>
          <a:lstStyle/>
          <a:p>
            <a:r>
              <a:rPr sz="4300">
                <a:solidFill>
                  <a:srgbClr val="F4F0E6"/>
                </a:solidFill>
                <a:latin typeface="M PLUS Rounded 1c"/>
              </a:rPr>
              <a:t>☥</a:t>
            </a:r>
          </a:p>
        </p:txBody>
      </p:sp>
      <p:sp>
        <p:nvSpPr>
          <p:cNvPr id="9" name="TextBox 8"/>
          <p:cNvSpPr txBox="1"/>
          <p:nvPr/>
        </p:nvSpPr>
        <p:spPr>
          <a:xfrm rot="2340000">
            <a:off x="1772868" y="6590179"/>
            <a:ext cx="914400" cy="914400"/>
          </a:xfrm>
          <a:prstGeom prst="rect">
            <a:avLst/>
          </a:prstGeom>
          <a:noFill/>
        </p:spPr>
        <p:txBody>
          <a:bodyPr wrap="none" lIns="0" tIns="0" rIns="0" bIns="0">
            <a:spAutoFit/>
          </a:bodyPr>
          <a:lstStyle/>
          <a:p>
            <a:r>
              <a:rPr sz="2900">
                <a:solidFill>
                  <a:srgbClr val="F4F0E6"/>
                </a:solidFill>
                <a:latin typeface="M PLUS Rounded 1c"/>
              </a:rPr>
              <a:t>☥</a:t>
            </a:r>
          </a:p>
        </p:txBody>
      </p:sp>
      <p:sp>
        <p:nvSpPr>
          <p:cNvPr id="10" name="TextBox 9"/>
          <p:cNvSpPr txBox="1"/>
          <p:nvPr/>
        </p:nvSpPr>
        <p:spPr>
          <a:xfrm rot="3660000">
            <a:off x="418137" y="3645647"/>
            <a:ext cx="914400" cy="914400"/>
          </a:xfrm>
          <a:prstGeom prst="rect">
            <a:avLst/>
          </a:prstGeom>
          <a:noFill/>
        </p:spPr>
        <p:txBody>
          <a:bodyPr wrap="none" lIns="0" tIns="0" rIns="0" bIns="0">
            <a:spAutoFit/>
          </a:bodyPr>
          <a:lstStyle/>
          <a:p>
            <a:r>
              <a:rPr sz="4000">
                <a:solidFill>
                  <a:srgbClr val="F4F0E6"/>
                </a:solidFill>
                <a:latin typeface="M PLUS Rounded 1c"/>
              </a:rPr>
              <a:t>♥</a:t>
            </a:r>
          </a:p>
        </p:txBody>
      </p:sp>
      <p:sp>
        <p:nvSpPr>
          <p:cNvPr id="11" name="TextBox 10"/>
          <p:cNvSpPr txBox="1"/>
          <p:nvPr/>
        </p:nvSpPr>
        <p:spPr>
          <a:xfrm rot="4560000">
            <a:off x="6184652" y="777445"/>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12" name="TextBox 11"/>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AI 圖文實戰 (2)：催眠工作坊高共鳴文案現場生成</a:t>
            </a:r>
          </a:p>
        </p:txBody>
      </p:sp>
      <p:sp>
        <p:nvSpPr>
          <p:cNvPr id="13" name="Rectangle 12"/>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素材輸入（現場觀眾豆子老師提供）</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線下催眠工作坊，佈置花藝空間，引導學員去潛意識尋寶。當晚學員回家做夢得到指引並獲得轉介紹兩位新學員。</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AI 長文產出</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以《與宇宙有來有往的那一晚》為題。</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描繪「開門者」角色，昇華為「當你認真對待工作，宇宙也會給予驚喜回禮」。</a:t>
            </a:r>
          </a:p>
          <a:p>
            <a:pPr lvl="1">
              <a:spcBef>
                <a:spcPts val="400"/>
              </a:spcBef>
              <a:spcAft>
                <a:spcPts val="800"/>
              </a:spcAft>
            </a:pPr>
            <a:r>
              <a:rPr b="1" sz="1800">
                <a:solidFill>
                  <a:srgbClr val="C5A880"/>
                </a:solidFill>
                <a:latin typeface="M PLUS Rounded 1c"/>
              </a:rPr>
              <a:t>• </a:t>
            </a:r>
            <a:r>
              <a:rPr b="1" sz="1800">
                <a:solidFill>
                  <a:srgbClr val="8C6D3E"/>
                </a:solidFill>
                <a:latin typeface="M PLUS Rounded 1c"/>
              </a:rPr>
              <a:t>5 分鐘實測完成度高達 75%</a:t>
            </a:r>
            <a:r>
              <a:rPr sz="1800">
                <a:solidFill>
                  <a:srgbClr val="3C3C3C"/>
                </a:solidFill>
                <a:latin typeface="M PLUS Rounded 1c"/>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6120000">
            <a:off x="1084744" y="5692327"/>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4" name="TextBox 3"/>
          <p:cNvSpPr txBox="1"/>
          <p:nvPr/>
        </p:nvSpPr>
        <p:spPr>
          <a:xfrm rot="4980000">
            <a:off x="10408455" y="489579"/>
            <a:ext cx="914400" cy="914400"/>
          </a:xfrm>
          <a:prstGeom prst="rect">
            <a:avLst/>
          </a:prstGeom>
          <a:noFill/>
        </p:spPr>
        <p:txBody>
          <a:bodyPr wrap="none" lIns="0" tIns="0" rIns="0" bIns="0">
            <a:spAutoFit/>
          </a:bodyPr>
          <a:lstStyle/>
          <a:p>
            <a:r>
              <a:rPr sz="4800">
                <a:solidFill>
                  <a:srgbClr val="F4F0E6"/>
                </a:solidFill>
                <a:latin typeface="M PLUS Rounded 1c"/>
              </a:rPr>
              <a:t>☥</a:t>
            </a:r>
          </a:p>
        </p:txBody>
      </p:sp>
      <p:sp>
        <p:nvSpPr>
          <p:cNvPr id="5" name="TextBox 4"/>
          <p:cNvSpPr txBox="1"/>
          <p:nvPr/>
        </p:nvSpPr>
        <p:spPr>
          <a:xfrm rot="2160000">
            <a:off x="2156156" y="490054"/>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6" name="TextBox 5"/>
          <p:cNvSpPr txBox="1"/>
          <p:nvPr/>
        </p:nvSpPr>
        <p:spPr>
          <a:xfrm rot="12660000">
            <a:off x="950998" y="336244"/>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7" name="TextBox 6"/>
          <p:cNvSpPr txBox="1"/>
          <p:nvPr/>
        </p:nvSpPr>
        <p:spPr>
          <a:xfrm rot="18060000">
            <a:off x="925077" y="6453271"/>
            <a:ext cx="914400" cy="914400"/>
          </a:xfrm>
          <a:prstGeom prst="rect">
            <a:avLst/>
          </a:prstGeom>
          <a:noFill/>
        </p:spPr>
        <p:txBody>
          <a:bodyPr wrap="none" lIns="0" tIns="0" rIns="0" bIns="0">
            <a:spAutoFit/>
          </a:bodyPr>
          <a:lstStyle/>
          <a:p>
            <a:r>
              <a:rPr sz="3700">
                <a:solidFill>
                  <a:srgbClr val="F4F0E6"/>
                </a:solidFill>
                <a:latin typeface="M PLUS Rounded 1c"/>
              </a:rPr>
              <a:t>✦</a:t>
            </a:r>
          </a:p>
        </p:txBody>
      </p:sp>
      <p:sp>
        <p:nvSpPr>
          <p:cNvPr id="8" name="TextBox 7"/>
          <p:cNvSpPr txBox="1"/>
          <p:nvPr/>
        </p:nvSpPr>
        <p:spPr>
          <a:xfrm rot="3180000">
            <a:off x="2550256" y="6387876"/>
            <a:ext cx="914400" cy="914400"/>
          </a:xfrm>
          <a:prstGeom prst="rect">
            <a:avLst/>
          </a:prstGeom>
          <a:noFill/>
        </p:spPr>
        <p:txBody>
          <a:bodyPr wrap="none" lIns="0" tIns="0" rIns="0" bIns="0">
            <a:spAutoFit/>
          </a:bodyPr>
          <a:lstStyle/>
          <a:p>
            <a:r>
              <a:rPr sz="2400">
                <a:solidFill>
                  <a:srgbClr val="F4F0E6"/>
                </a:solidFill>
                <a:latin typeface="M PLUS Rounded 1c"/>
              </a:rPr>
              <a:t>☥</a:t>
            </a:r>
          </a:p>
        </p:txBody>
      </p:sp>
      <p:sp>
        <p:nvSpPr>
          <p:cNvPr id="9" name="TextBox 8"/>
          <p:cNvSpPr txBox="1"/>
          <p:nvPr/>
        </p:nvSpPr>
        <p:spPr>
          <a:xfrm rot="19860000">
            <a:off x="2465815" y="6215081"/>
            <a:ext cx="914400" cy="914400"/>
          </a:xfrm>
          <a:prstGeom prst="rect">
            <a:avLst/>
          </a:prstGeom>
          <a:noFill/>
        </p:spPr>
        <p:txBody>
          <a:bodyPr wrap="none" lIns="0" tIns="0" rIns="0" bIns="0">
            <a:spAutoFit/>
          </a:bodyPr>
          <a:lstStyle/>
          <a:p>
            <a:r>
              <a:rPr sz="3300">
                <a:solidFill>
                  <a:srgbClr val="F4F0E6"/>
                </a:solidFill>
                <a:latin typeface="M PLUS Rounded 1c"/>
              </a:rPr>
              <a:t>♥</a:t>
            </a:r>
          </a:p>
        </p:txBody>
      </p:sp>
      <p:sp>
        <p:nvSpPr>
          <p:cNvPr id="10" name="TextBox 9"/>
          <p:cNvSpPr txBox="1"/>
          <p:nvPr/>
        </p:nvSpPr>
        <p:spPr>
          <a:xfrm rot="60000">
            <a:off x="11273674" y="5181342"/>
            <a:ext cx="914400" cy="914400"/>
          </a:xfrm>
          <a:prstGeom prst="rect">
            <a:avLst/>
          </a:prstGeom>
          <a:noFill/>
        </p:spPr>
        <p:txBody>
          <a:bodyPr wrap="none" lIns="0" tIns="0" rIns="0" bIns="0">
            <a:spAutoFit/>
          </a:bodyPr>
          <a:lstStyle/>
          <a:p>
            <a:r>
              <a:rPr sz="3100">
                <a:solidFill>
                  <a:srgbClr val="F4F0E6"/>
                </a:solidFill>
                <a:latin typeface="M PLUS Rounded 1c"/>
              </a:rPr>
              <a:t>♥</a:t>
            </a:r>
          </a:p>
        </p:txBody>
      </p:sp>
      <p:sp>
        <p:nvSpPr>
          <p:cNvPr id="11" name="TextBox 10"/>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案例分享 (2)：妹子（象棋占卜師）的 NTD 111 體驗與官網變現</a:t>
            </a:r>
          </a:p>
        </p:txBody>
      </p:sp>
      <p:sp>
        <p:nvSpPr>
          <p:cNvPr id="12" name="Rectangle 11"/>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學員背景</a:t>
            </a:r>
            <a:r>
              <a:rPr sz="2000">
                <a:solidFill>
                  <a:srgbClr val="3C3C3C"/>
                </a:solidFill>
                <a:latin typeface="M PLUS Rounded 1c"/>
              </a:rPr>
              <a:t>：10 年資歷與 800+ 個案經驗，以往只靠口碑與神明介紹，案源極不穩定。</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調整方案</a:t>
            </a:r>
            <a:r>
              <a:rPr sz="20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搭建成交式官網。</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推出 </a:t>
            </a:r>
            <a:r>
              <a:rPr b="1" sz="1800">
                <a:solidFill>
                  <a:srgbClr val="8C6D3E"/>
                </a:solidFill>
                <a:latin typeface="M PLUS Rounded 1c"/>
              </a:rPr>
              <a:t>NTD 111 (約 USD 3.5)</a:t>
            </a:r>
            <a:r>
              <a:rPr sz="1800">
                <a:solidFill>
                  <a:srgbClr val="3C3C3C"/>
                </a:solidFill>
                <a:latin typeface="M PLUS Rounded 1c"/>
              </a:rPr>
              <a:t> 象棋占卜體驗.</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贈送自錄「金錢豐盛潛意識種子」影音肯定句作為贈品。</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成果</a:t>
            </a:r>
            <a:r>
              <a:rPr sz="2000">
                <a:solidFill>
                  <a:srgbClr val="3C3C3C"/>
                </a:solidFill>
                <a:latin typeface="M PLUS Rounded 1c"/>
              </a:rPr>
              <a:t>：建立穩定的體驗引流通道，告別案源不穩定的焦慮。</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8280000">
            <a:off x="11451539" y="608126"/>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4" name="TextBox 3"/>
          <p:cNvSpPr txBox="1"/>
          <p:nvPr/>
        </p:nvSpPr>
        <p:spPr>
          <a:xfrm rot="8700000">
            <a:off x="11844359" y="1358148"/>
            <a:ext cx="914400" cy="914400"/>
          </a:xfrm>
          <a:prstGeom prst="rect">
            <a:avLst/>
          </a:prstGeom>
          <a:noFill/>
        </p:spPr>
        <p:txBody>
          <a:bodyPr wrap="none" lIns="0" tIns="0" rIns="0" bIns="0">
            <a:spAutoFit/>
          </a:bodyPr>
          <a:lstStyle/>
          <a:p>
            <a:r>
              <a:rPr sz="2400">
                <a:solidFill>
                  <a:srgbClr val="F4F0E6"/>
                </a:solidFill>
                <a:latin typeface="M PLUS Rounded 1c"/>
              </a:rPr>
              <a:t>✦</a:t>
            </a:r>
          </a:p>
        </p:txBody>
      </p:sp>
      <p:sp>
        <p:nvSpPr>
          <p:cNvPr id="5" name="TextBox 4"/>
          <p:cNvSpPr txBox="1"/>
          <p:nvPr/>
        </p:nvSpPr>
        <p:spPr>
          <a:xfrm rot="16380000">
            <a:off x="10839809" y="6184263"/>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6" name="TextBox 5"/>
          <p:cNvSpPr txBox="1"/>
          <p:nvPr/>
        </p:nvSpPr>
        <p:spPr>
          <a:xfrm rot="7620000">
            <a:off x="1286808" y="939077"/>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7" name="TextBox 6"/>
          <p:cNvSpPr txBox="1"/>
          <p:nvPr/>
        </p:nvSpPr>
        <p:spPr>
          <a:xfrm rot="6660000">
            <a:off x="335409" y="461596"/>
            <a:ext cx="914400" cy="914400"/>
          </a:xfrm>
          <a:prstGeom prst="rect">
            <a:avLst/>
          </a:prstGeom>
          <a:noFill/>
        </p:spPr>
        <p:txBody>
          <a:bodyPr wrap="none" lIns="0" tIns="0" rIns="0" bIns="0">
            <a:spAutoFit/>
          </a:bodyPr>
          <a:lstStyle/>
          <a:p>
            <a:r>
              <a:rPr sz="4700">
                <a:solidFill>
                  <a:srgbClr val="F4F0E6"/>
                </a:solidFill>
                <a:latin typeface="M PLUS Rounded 1c"/>
              </a:rPr>
              <a:t>☥</a:t>
            </a:r>
          </a:p>
        </p:txBody>
      </p:sp>
      <p:sp>
        <p:nvSpPr>
          <p:cNvPr id="8" name="TextBox 7"/>
          <p:cNvSpPr txBox="1"/>
          <p:nvPr/>
        </p:nvSpPr>
        <p:spPr>
          <a:xfrm rot="10380000">
            <a:off x="393044" y="4204595"/>
            <a:ext cx="914400" cy="914400"/>
          </a:xfrm>
          <a:prstGeom prst="rect">
            <a:avLst/>
          </a:prstGeom>
          <a:noFill/>
        </p:spPr>
        <p:txBody>
          <a:bodyPr wrap="none" lIns="0" tIns="0" rIns="0" bIns="0">
            <a:spAutoFit/>
          </a:bodyPr>
          <a:lstStyle/>
          <a:p>
            <a:r>
              <a:rPr sz="3300">
                <a:solidFill>
                  <a:srgbClr val="F4F0E6"/>
                </a:solidFill>
                <a:latin typeface="M PLUS Rounded 1c"/>
              </a:rPr>
              <a:t>♥</a:t>
            </a:r>
          </a:p>
        </p:txBody>
      </p:sp>
      <p:sp>
        <p:nvSpPr>
          <p:cNvPr id="9" name="TextBox 8"/>
          <p:cNvSpPr txBox="1"/>
          <p:nvPr/>
        </p:nvSpPr>
        <p:spPr>
          <a:xfrm rot="19800000">
            <a:off x="9546096" y="211995"/>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10" name="TextBox 9"/>
          <p:cNvSpPr txBox="1"/>
          <p:nvPr/>
        </p:nvSpPr>
        <p:spPr>
          <a:xfrm rot="15480000">
            <a:off x="11777379" y="870115"/>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11" name="TextBox 10"/>
          <p:cNvSpPr txBox="1"/>
          <p:nvPr/>
        </p:nvSpPr>
        <p:spPr>
          <a:xfrm rot="11040000">
            <a:off x="11289534" y="3391279"/>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12" name="TextBox 11"/>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美國雪士達山顯化神蹟：線上課程釋放時間自由</a:t>
            </a:r>
          </a:p>
        </p:txBody>
      </p:sp>
      <p:sp>
        <p:nvSpPr>
          <p:cNvPr id="13" name="Rectangle 12"/>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免費的美國聖山之旅</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剛還完 NTD 4,000,000 多元債務後，想去美國雪士達山。</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與當地老師約定：幫忙招募 12 人即免去學費。</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Sally 成功招募引流 20 多人，顯化出</a:t>
            </a:r>
            <a:r>
              <a:rPr b="1" sz="1800">
                <a:solidFill>
                  <a:srgbClr val="8C6D3E"/>
                </a:solidFill>
                <a:latin typeface="M PLUS Rounded 1c"/>
              </a:rPr>
              <a:t>機票、食宿、學費全免</a:t>
            </a:r>
            <a:r>
              <a:rPr sz="1800">
                <a:solidFill>
                  <a:srgbClr val="3C3C3C"/>
                </a:solidFill>
                <a:latin typeface="M PLUS Rounded 1c"/>
              </a:rPr>
              <a:t>。</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線上課程的變現威力</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第二次前往旅行時，單晚住宿高達 </a:t>
            </a:r>
            <a:r>
              <a:rPr b="1" sz="1800">
                <a:solidFill>
                  <a:srgbClr val="8C6D3E"/>
                </a:solidFill>
                <a:latin typeface="M PLUS Rounded 1c"/>
              </a:rPr>
              <a:t>NTD 10,000 (約 USD 310)</a:t>
            </a:r>
            <a:r>
              <a:rPr sz="18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旅行期間發售線上課程，被動收入遠超旅費開銷。</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680000">
            <a:off x="828702" y="2157995"/>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4" name="TextBox 3"/>
          <p:cNvSpPr txBox="1"/>
          <p:nvPr/>
        </p:nvSpPr>
        <p:spPr>
          <a:xfrm rot="2640000">
            <a:off x="10937230" y="5889705"/>
            <a:ext cx="914400" cy="914400"/>
          </a:xfrm>
          <a:prstGeom prst="rect">
            <a:avLst/>
          </a:prstGeom>
          <a:noFill/>
        </p:spPr>
        <p:txBody>
          <a:bodyPr wrap="none" lIns="0" tIns="0" rIns="0" bIns="0">
            <a:spAutoFit/>
          </a:bodyPr>
          <a:lstStyle/>
          <a:p>
            <a:r>
              <a:rPr sz="2900">
                <a:solidFill>
                  <a:srgbClr val="F4F0E6"/>
                </a:solidFill>
                <a:latin typeface="M PLUS Rounded 1c"/>
              </a:rPr>
              <a:t>☥</a:t>
            </a:r>
          </a:p>
        </p:txBody>
      </p:sp>
      <p:sp>
        <p:nvSpPr>
          <p:cNvPr id="5" name="TextBox 4"/>
          <p:cNvSpPr txBox="1"/>
          <p:nvPr/>
        </p:nvSpPr>
        <p:spPr>
          <a:xfrm rot="17520000">
            <a:off x="3009910" y="6650285"/>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6" name="TextBox 5"/>
          <p:cNvSpPr txBox="1"/>
          <p:nvPr/>
        </p:nvSpPr>
        <p:spPr>
          <a:xfrm rot="1740000">
            <a:off x="11022863" y="3917984"/>
            <a:ext cx="914400" cy="914400"/>
          </a:xfrm>
          <a:prstGeom prst="rect">
            <a:avLst/>
          </a:prstGeom>
          <a:noFill/>
        </p:spPr>
        <p:txBody>
          <a:bodyPr wrap="none" lIns="0" tIns="0" rIns="0" bIns="0">
            <a:spAutoFit/>
          </a:bodyPr>
          <a:lstStyle/>
          <a:p>
            <a:r>
              <a:rPr sz="4700">
                <a:solidFill>
                  <a:srgbClr val="F4F0E6"/>
                </a:solidFill>
                <a:latin typeface="M PLUS Rounded 1c"/>
              </a:rPr>
              <a:t>✦</a:t>
            </a:r>
          </a:p>
        </p:txBody>
      </p:sp>
      <p:sp>
        <p:nvSpPr>
          <p:cNvPr id="7" name="TextBox 6"/>
          <p:cNvSpPr txBox="1"/>
          <p:nvPr/>
        </p:nvSpPr>
        <p:spPr>
          <a:xfrm rot="540000">
            <a:off x="225174" y="1595956"/>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8" name="TextBox 7"/>
          <p:cNvSpPr txBox="1"/>
          <p:nvPr/>
        </p:nvSpPr>
        <p:spPr>
          <a:xfrm rot="18480000">
            <a:off x="1071441" y="2561815"/>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9" name="TextBox 8"/>
          <p:cNvSpPr txBox="1"/>
          <p:nvPr/>
        </p:nvSpPr>
        <p:spPr>
          <a:xfrm>
            <a:off x="10183417" y="6622933"/>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10" name="TextBox 9"/>
          <p:cNvSpPr txBox="1"/>
          <p:nvPr/>
        </p:nvSpPr>
        <p:spPr>
          <a:xfrm rot="17220000">
            <a:off x="10306497" y="569255"/>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11" name="TextBox 10"/>
          <p:cNvSpPr txBox="1"/>
          <p:nvPr/>
        </p:nvSpPr>
        <p:spPr>
          <a:xfrm>
            <a:off x="914400" y="2011680"/>
            <a:ext cx="10362895" cy="3200400"/>
          </a:xfrm>
          <a:prstGeom prst="rect">
            <a:avLst/>
          </a:prstGeom>
          <a:noFill/>
        </p:spPr>
        <p:txBody>
          <a:bodyPr wrap="square" lIns="0" tIns="0" rIns="0" bIns="0">
            <a:spAutoFit/>
          </a:bodyPr>
          <a:lstStyle/>
          <a:p>
            <a:pPr algn="ctr">
              <a:spcAft>
                <a:spcPts val="1400"/>
              </a:spcAft>
            </a:pPr>
            <a:r>
              <a:rPr sz="4400" b="1">
                <a:solidFill>
                  <a:srgbClr val="B8975A"/>
                </a:solidFill>
                <a:latin typeface="M PLUS Rounded 1c"/>
              </a:rPr>
              <a:t>第三天：多元收入與線上課程設計</a:t>
            </a:r>
          </a:p>
          <a:p>
            <a:pPr algn="ctr"/>
            <a:r>
              <a:rPr sz="2400">
                <a:solidFill>
                  <a:srgbClr val="C5A880"/>
                </a:solidFill>
                <a:latin typeface="M PLUS Rounded 1c"/>
              </a:rPr>
              <a:t>突破單次收入瓶頸 ➔ 設計階梯式方案 ➔ 線上課程常賣</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2940000">
            <a:off x="855591" y="3182043"/>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4" name="TextBox 3"/>
          <p:cNvSpPr txBox="1"/>
          <p:nvPr/>
        </p:nvSpPr>
        <p:spPr>
          <a:xfrm rot="720000">
            <a:off x="3172438" y="6312626"/>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5" name="TextBox 4"/>
          <p:cNvSpPr txBox="1"/>
          <p:nvPr/>
        </p:nvSpPr>
        <p:spPr>
          <a:xfrm rot="20820000">
            <a:off x="1353440" y="1566236"/>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6" name="TextBox 5"/>
          <p:cNvSpPr txBox="1"/>
          <p:nvPr/>
        </p:nvSpPr>
        <p:spPr>
          <a:xfrm rot="5580000">
            <a:off x="401626" y="6447289"/>
            <a:ext cx="914400" cy="914400"/>
          </a:xfrm>
          <a:prstGeom prst="rect">
            <a:avLst/>
          </a:prstGeom>
          <a:noFill/>
        </p:spPr>
        <p:txBody>
          <a:bodyPr wrap="none" lIns="0" tIns="0" rIns="0" bIns="0">
            <a:spAutoFit/>
          </a:bodyPr>
          <a:lstStyle/>
          <a:p>
            <a:r>
              <a:rPr sz="3300">
                <a:solidFill>
                  <a:srgbClr val="F4F0E6"/>
                </a:solidFill>
                <a:latin typeface="M PLUS Rounded 1c"/>
              </a:rPr>
              <a:t>☥</a:t>
            </a:r>
          </a:p>
        </p:txBody>
      </p:sp>
      <p:sp>
        <p:nvSpPr>
          <p:cNvPr id="7" name="TextBox 6"/>
          <p:cNvSpPr txBox="1"/>
          <p:nvPr/>
        </p:nvSpPr>
        <p:spPr>
          <a:xfrm rot="17040000">
            <a:off x="989212" y="2355652"/>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8" name="TextBox 7"/>
          <p:cNvSpPr txBox="1"/>
          <p:nvPr/>
        </p:nvSpPr>
        <p:spPr>
          <a:xfrm rot="17400000">
            <a:off x="745076" y="548260"/>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9" name="TextBox 8"/>
          <p:cNvSpPr txBox="1"/>
          <p:nvPr/>
        </p:nvSpPr>
        <p:spPr>
          <a:xfrm rot="18900000">
            <a:off x="11875365" y="6042497"/>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10" name="TextBox 9"/>
          <p:cNvSpPr txBox="1"/>
          <p:nvPr/>
        </p:nvSpPr>
        <p:spPr>
          <a:xfrm rot="6240000">
            <a:off x="5951835" y="864509"/>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11" name="TextBox 10"/>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心靈動能：尋找你的動力燃油（金魚與捕鯨的觸動）</a:t>
            </a:r>
          </a:p>
        </p:txBody>
      </p:sp>
      <p:sp>
        <p:nvSpPr>
          <p:cNvPr id="12" name="Rectangle 11"/>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鯨魚媽媽的守護</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捕鯨人射中鯨魚寶寶時，鯨魚媽媽明知危險仍會誓死守護在一旁。</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這份無私的愛引發對家庭與責任的深刻思考。</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尋找動力燃油</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克服行動力不足與內耗的唯一解藥，是尋找內在</a:t>
            </a:r>
            <a:r>
              <a:rPr b="1" sz="1800">
                <a:solidFill>
                  <a:srgbClr val="8C6D3E"/>
                </a:solidFill>
                <a:latin typeface="M PLUS Rounded 1c"/>
              </a:rPr>
              <a:t>強烈的渴望</a:t>
            </a:r>
            <a:r>
              <a:rPr sz="18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*Sally 的渴望：給媽媽買一個「帶廚房的家」，讓養母晚年幸福。*</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920000">
            <a:off x="1194652" y="6028409"/>
            <a:ext cx="914400" cy="914400"/>
          </a:xfrm>
          <a:prstGeom prst="rect">
            <a:avLst/>
          </a:prstGeom>
          <a:noFill/>
        </p:spPr>
        <p:txBody>
          <a:bodyPr wrap="none" lIns="0" tIns="0" rIns="0" bIns="0">
            <a:spAutoFit/>
          </a:bodyPr>
          <a:lstStyle/>
          <a:p>
            <a:r>
              <a:rPr sz="4300">
                <a:solidFill>
                  <a:srgbClr val="F4F0E6"/>
                </a:solidFill>
                <a:latin typeface="M PLUS Rounded 1c"/>
              </a:rPr>
              <a:t>♥</a:t>
            </a:r>
          </a:p>
        </p:txBody>
      </p:sp>
      <p:sp>
        <p:nvSpPr>
          <p:cNvPr id="4" name="TextBox 3"/>
          <p:cNvSpPr txBox="1"/>
          <p:nvPr/>
        </p:nvSpPr>
        <p:spPr>
          <a:xfrm rot="18180000">
            <a:off x="5582017" y="6281338"/>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5" name="TextBox 4"/>
          <p:cNvSpPr txBox="1"/>
          <p:nvPr/>
        </p:nvSpPr>
        <p:spPr>
          <a:xfrm rot="5220000">
            <a:off x="11092293" y="1974120"/>
            <a:ext cx="914400" cy="914400"/>
          </a:xfrm>
          <a:prstGeom prst="rect">
            <a:avLst/>
          </a:prstGeom>
          <a:noFill/>
        </p:spPr>
        <p:txBody>
          <a:bodyPr wrap="none" lIns="0" tIns="0" rIns="0" bIns="0">
            <a:spAutoFit/>
          </a:bodyPr>
          <a:lstStyle/>
          <a:p>
            <a:r>
              <a:rPr sz="2900">
                <a:solidFill>
                  <a:srgbClr val="F4F0E6"/>
                </a:solidFill>
                <a:latin typeface="M PLUS Rounded 1c"/>
              </a:rPr>
              <a:t>♥</a:t>
            </a:r>
          </a:p>
        </p:txBody>
      </p:sp>
      <p:sp>
        <p:nvSpPr>
          <p:cNvPr id="6" name="TextBox 5"/>
          <p:cNvSpPr txBox="1"/>
          <p:nvPr/>
        </p:nvSpPr>
        <p:spPr>
          <a:xfrm rot="7140000">
            <a:off x="1234394" y="6378599"/>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7" name="TextBox 6"/>
          <p:cNvSpPr txBox="1"/>
          <p:nvPr/>
        </p:nvSpPr>
        <p:spPr>
          <a:xfrm rot="2220000">
            <a:off x="1067117" y="2788164"/>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8" name="TextBox 7"/>
          <p:cNvSpPr txBox="1"/>
          <p:nvPr/>
        </p:nvSpPr>
        <p:spPr>
          <a:xfrm rot="12180000">
            <a:off x="8771616" y="678578"/>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9" name="TextBox 8"/>
          <p:cNvSpPr txBox="1"/>
          <p:nvPr/>
        </p:nvSpPr>
        <p:spPr>
          <a:xfrm rot="12600000">
            <a:off x="343339" y="4558201"/>
            <a:ext cx="914400" cy="914400"/>
          </a:xfrm>
          <a:prstGeom prst="rect">
            <a:avLst/>
          </a:prstGeom>
          <a:noFill/>
        </p:spPr>
        <p:txBody>
          <a:bodyPr wrap="none" lIns="0" tIns="0" rIns="0" bIns="0">
            <a:spAutoFit/>
          </a:bodyPr>
          <a:lstStyle/>
          <a:p>
            <a:r>
              <a:rPr sz="2900">
                <a:solidFill>
                  <a:srgbClr val="F4F0E6"/>
                </a:solidFill>
                <a:latin typeface="M PLUS Rounded 1c"/>
              </a:rPr>
              <a:t>✦</a:t>
            </a:r>
          </a:p>
        </p:txBody>
      </p:sp>
      <p:sp>
        <p:nvSpPr>
          <p:cNvPr id="10" name="TextBox 9"/>
          <p:cNvSpPr txBox="1"/>
          <p:nvPr/>
        </p:nvSpPr>
        <p:spPr>
          <a:xfrm rot="4680000">
            <a:off x="11037593" y="5017592"/>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11" name="TextBox 10"/>
          <p:cNvSpPr txBox="1"/>
          <p:nvPr/>
        </p:nvSpPr>
        <p:spPr>
          <a:xfrm rot="9420000">
            <a:off x="1315635" y="714742"/>
            <a:ext cx="914400" cy="914400"/>
          </a:xfrm>
          <a:prstGeom prst="rect">
            <a:avLst/>
          </a:prstGeom>
          <a:noFill/>
        </p:spPr>
        <p:txBody>
          <a:bodyPr wrap="none" lIns="0" tIns="0" rIns="0" bIns="0">
            <a:spAutoFit/>
          </a:bodyPr>
          <a:lstStyle/>
          <a:p>
            <a:r>
              <a:rPr sz="4300">
                <a:solidFill>
                  <a:srgbClr val="F4F0E6"/>
                </a:solidFill>
                <a:latin typeface="M PLUS Rounded 1c"/>
              </a:rPr>
              <a:t>☥</a:t>
            </a:r>
          </a:p>
        </p:txBody>
      </p:sp>
      <p:sp>
        <p:nvSpPr>
          <p:cNvPr id="12" name="TextBox 11"/>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個案策略：體驗個案 (NTD 111/199) ➔ 高價值高成效方案 (NTD 12,000+)</a:t>
            </a:r>
          </a:p>
        </p:txBody>
      </p:sp>
      <p:sp>
        <p:nvSpPr>
          <p:cNvPr id="13" name="Rectangle 12"/>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體驗個案服務（破圈突圍）</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當其他老師收費 NTD 1,800 - 2,500 時，客戶有選擇障礙。</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提供極低價體驗：</a:t>
            </a:r>
            <a:r>
              <a:rPr b="1" sz="1800">
                <a:solidFill>
                  <a:srgbClr val="8C6D3E"/>
                </a:solidFill>
                <a:latin typeface="M PLUS Rounded 1c"/>
              </a:rPr>
              <a:t>NTD 111 或 NTD 199 (約 USD 3.5 - 6.2)</a:t>
            </a:r>
            <a:r>
              <a:rPr sz="1800">
                <a:solidFill>
                  <a:srgbClr val="3C3C3C"/>
                </a:solidFill>
                <a:latin typeface="M PLUS Rounded 1c"/>
              </a:rPr>
              <a:t>（相當於一杯咖啡錢），大幅降低陌生客戶的防線。</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高價值高成效方案（深度轉化）</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針對特定轉化目標（如情感修復、財務收支平衡），設計 </a:t>
            </a:r>
            <a:r>
              <a:rPr b="1" sz="1800">
                <a:solidFill>
                  <a:srgbClr val="8C6D3E"/>
                </a:solidFill>
                <a:latin typeface="M PLUS Rounded 1c"/>
              </a:rPr>
              <a:t>NTD 12,000 (約 USD 375)</a:t>
            </a:r>
            <a:r>
              <a:rPr sz="1800">
                <a:solidFill>
                  <a:srgbClr val="3C3C3C"/>
                </a:solidFill>
                <a:latin typeface="M PLUS Rounded 1c"/>
              </a:rPr>
              <a:t> 起的套裝方案。</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080000">
            <a:off x="781956" y="2462650"/>
            <a:ext cx="914400" cy="914400"/>
          </a:xfrm>
          <a:prstGeom prst="rect">
            <a:avLst/>
          </a:prstGeom>
          <a:noFill/>
        </p:spPr>
        <p:txBody>
          <a:bodyPr wrap="none" lIns="0" tIns="0" rIns="0" bIns="0">
            <a:spAutoFit/>
          </a:bodyPr>
          <a:lstStyle/>
          <a:p>
            <a:r>
              <a:rPr sz="4400">
                <a:solidFill>
                  <a:srgbClr val="F4F0E6"/>
                </a:solidFill>
                <a:latin typeface="M PLUS Rounded 1c"/>
              </a:rPr>
              <a:t>♥</a:t>
            </a:r>
          </a:p>
        </p:txBody>
      </p:sp>
      <p:sp>
        <p:nvSpPr>
          <p:cNvPr id="4" name="TextBox 3"/>
          <p:cNvSpPr txBox="1"/>
          <p:nvPr/>
        </p:nvSpPr>
        <p:spPr>
          <a:xfrm rot="7680000">
            <a:off x="2507540" y="6530203"/>
            <a:ext cx="914400" cy="914400"/>
          </a:xfrm>
          <a:prstGeom prst="rect">
            <a:avLst/>
          </a:prstGeom>
          <a:noFill/>
        </p:spPr>
        <p:txBody>
          <a:bodyPr wrap="none" lIns="0" tIns="0" rIns="0" bIns="0">
            <a:spAutoFit/>
          </a:bodyPr>
          <a:lstStyle/>
          <a:p>
            <a:r>
              <a:rPr sz="2400">
                <a:solidFill>
                  <a:srgbClr val="F4F0E6"/>
                </a:solidFill>
                <a:latin typeface="M PLUS Rounded 1c"/>
              </a:rPr>
              <a:t>✦</a:t>
            </a:r>
          </a:p>
        </p:txBody>
      </p:sp>
      <p:sp>
        <p:nvSpPr>
          <p:cNvPr id="5" name="TextBox 4"/>
          <p:cNvSpPr txBox="1"/>
          <p:nvPr/>
        </p:nvSpPr>
        <p:spPr>
          <a:xfrm rot="20280000">
            <a:off x="10834773" y="3101061"/>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6" name="TextBox 5"/>
          <p:cNvSpPr txBox="1"/>
          <p:nvPr/>
        </p:nvSpPr>
        <p:spPr>
          <a:xfrm rot="12960000">
            <a:off x="1700737" y="6161365"/>
            <a:ext cx="914400" cy="914400"/>
          </a:xfrm>
          <a:prstGeom prst="rect">
            <a:avLst/>
          </a:prstGeom>
          <a:noFill/>
        </p:spPr>
        <p:txBody>
          <a:bodyPr wrap="none" lIns="0" tIns="0" rIns="0" bIns="0">
            <a:spAutoFit/>
          </a:bodyPr>
          <a:lstStyle/>
          <a:p>
            <a:r>
              <a:rPr sz="3700">
                <a:solidFill>
                  <a:srgbClr val="F4F0E6"/>
                </a:solidFill>
                <a:latin typeface="M PLUS Rounded 1c"/>
              </a:rPr>
              <a:t>✦</a:t>
            </a:r>
          </a:p>
        </p:txBody>
      </p:sp>
      <p:sp>
        <p:nvSpPr>
          <p:cNvPr id="7" name="TextBox 6"/>
          <p:cNvSpPr txBox="1"/>
          <p:nvPr/>
        </p:nvSpPr>
        <p:spPr>
          <a:xfrm rot="2820000">
            <a:off x="628456" y="216114"/>
            <a:ext cx="914400" cy="914400"/>
          </a:xfrm>
          <a:prstGeom prst="rect">
            <a:avLst/>
          </a:prstGeom>
          <a:noFill/>
        </p:spPr>
        <p:txBody>
          <a:bodyPr wrap="none" lIns="0" tIns="0" rIns="0" bIns="0">
            <a:spAutoFit/>
          </a:bodyPr>
          <a:lstStyle/>
          <a:p>
            <a:r>
              <a:rPr sz="4000">
                <a:solidFill>
                  <a:srgbClr val="F4F0E6"/>
                </a:solidFill>
                <a:latin typeface="M PLUS Rounded 1c"/>
              </a:rPr>
              <a:t>♥</a:t>
            </a:r>
          </a:p>
        </p:txBody>
      </p:sp>
      <p:sp>
        <p:nvSpPr>
          <p:cNvPr id="8" name="TextBox 7"/>
          <p:cNvSpPr txBox="1"/>
          <p:nvPr/>
        </p:nvSpPr>
        <p:spPr>
          <a:xfrm rot="14100000">
            <a:off x="11475283" y="3564197"/>
            <a:ext cx="914400" cy="914400"/>
          </a:xfrm>
          <a:prstGeom prst="rect">
            <a:avLst/>
          </a:prstGeom>
          <a:noFill/>
        </p:spPr>
        <p:txBody>
          <a:bodyPr wrap="none" lIns="0" tIns="0" rIns="0" bIns="0">
            <a:spAutoFit/>
          </a:bodyPr>
          <a:lstStyle/>
          <a:p>
            <a:r>
              <a:rPr sz="4700">
                <a:solidFill>
                  <a:srgbClr val="F4F0E6"/>
                </a:solidFill>
                <a:latin typeface="M PLUS Rounded 1c"/>
              </a:rPr>
              <a:t>✦</a:t>
            </a:r>
          </a:p>
        </p:txBody>
      </p:sp>
      <p:sp>
        <p:nvSpPr>
          <p:cNvPr id="9" name="TextBox 8"/>
          <p:cNvSpPr txBox="1"/>
          <p:nvPr/>
        </p:nvSpPr>
        <p:spPr>
          <a:xfrm rot="8940000">
            <a:off x="639842" y="1615741"/>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10" name="TextBox 9"/>
          <p:cNvSpPr txBox="1"/>
          <p:nvPr/>
        </p:nvSpPr>
        <p:spPr>
          <a:xfrm rot="6000000">
            <a:off x="671458" y="930419"/>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11" name="TextBox 10"/>
          <p:cNvSpPr txBox="1"/>
          <p:nvPr/>
        </p:nvSpPr>
        <p:spPr>
          <a:xfrm rot="6360000">
            <a:off x="336091" y="5592365"/>
            <a:ext cx="914400" cy="914400"/>
          </a:xfrm>
          <a:prstGeom prst="rect">
            <a:avLst/>
          </a:prstGeom>
          <a:noFill/>
        </p:spPr>
        <p:txBody>
          <a:bodyPr wrap="none" lIns="0" tIns="0" rIns="0" bIns="0">
            <a:spAutoFit/>
          </a:bodyPr>
          <a:lstStyle/>
          <a:p>
            <a:r>
              <a:rPr sz="2500">
                <a:solidFill>
                  <a:srgbClr val="F4F0E6"/>
                </a:solidFill>
                <a:latin typeface="M PLUS Rounded 1c"/>
              </a:rPr>
              <a:t>☥</a:t>
            </a:r>
          </a:p>
        </p:txBody>
      </p:sp>
      <p:sp>
        <p:nvSpPr>
          <p:cNvPr id="12" name="TextBox 11"/>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醫生診斷式諮詢：如何優雅成交並促成七成升單？</a:t>
            </a:r>
          </a:p>
        </p:txBody>
      </p:sp>
      <p:sp>
        <p:nvSpPr>
          <p:cNvPr id="13" name="Rectangle 12"/>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不自貶身價的秘密</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低價體驗的目的是建立與客戶之間的「信任」，而非賺取低價利潤。</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醫生診斷式諮詢流程 (20-30 分鐘)</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像醫生一樣專業地詢問、診斷痛點。</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結束時給予肯定句或小指引。</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誠實告知：「單次體驗無法徹底解決問題。」</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*實戰成果：促成高達 70% 以上的體驗客戶直接升單高價值方案。*</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6840000">
            <a:off x="3265235" y="798498"/>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4" name="TextBox 3"/>
          <p:cNvSpPr txBox="1"/>
          <p:nvPr/>
        </p:nvSpPr>
        <p:spPr>
          <a:xfrm rot="60000">
            <a:off x="925480" y="5233649"/>
            <a:ext cx="914400" cy="914400"/>
          </a:xfrm>
          <a:prstGeom prst="rect">
            <a:avLst/>
          </a:prstGeom>
          <a:noFill/>
        </p:spPr>
        <p:txBody>
          <a:bodyPr wrap="none" lIns="0" tIns="0" rIns="0" bIns="0">
            <a:spAutoFit/>
          </a:bodyPr>
          <a:lstStyle/>
          <a:p>
            <a:r>
              <a:rPr sz="4000">
                <a:solidFill>
                  <a:srgbClr val="F4F0E6"/>
                </a:solidFill>
                <a:latin typeface="M PLUS Rounded 1c"/>
              </a:rPr>
              <a:t>✦</a:t>
            </a:r>
          </a:p>
        </p:txBody>
      </p:sp>
      <p:sp>
        <p:nvSpPr>
          <p:cNvPr id="5" name="TextBox 4"/>
          <p:cNvSpPr txBox="1"/>
          <p:nvPr/>
        </p:nvSpPr>
        <p:spPr>
          <a:xfrm rot="5940000">
            <a:off x="1014751" y="6480840"/>
            <a:ext cx="914400" cy="914400"/>
          </a:xfrm>
          <a:prstGeom prst="rect">
            <a:avLst/>
          </a:prstGeom>
          <a:noFill/>
        </p:spPr>
        <p:txBody>
          <a:bodyPr wrap="none" lIns="0" tIns="0" rIns="0" bIns="0">
            <a:spAutoFit/>
          </a:bodyPr>
          <a:lstStyle/>
          <a:p>
            <a:r>
              <a:rPr sz="2400">
                <a:solidFill>
                  <a:srgbClr val="F4F0E6"/>
                </a:solidFill>
                <a:latin typeface="M PLUS Rounded 1c"/>
              </a:rPr>
              <a:t>☥</a:t>
            </a:r>
          </a:p>
        </p:txBody>
      </p:sp>
      <p:sp>
        <p:nvSpPr>
          <p:cNvPr id="6" name="TextBox 5"/>
          <p:cNvSpPr txBox="1"/>
          <p:nvPr/>
        </p:nvSpPr>
        <p:spPr>
          <a:xfrm rot="18960000">
            <a:off x="571694" y="6231020"/>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7" name="TextBox 6"/>
          <p:cNvSpPr txBox="1"/>
          <p:nvPr/>
        </p:nvSpPr>
        <p:spPr>
          <a:xfrm rot="10500000">
            <a:off x="675006" y="1534021"/>
            <a:ext cx="914400" cy="914400"/>
          </a:xfrm>
          <a:prstGeom prst="rect">
            <a:avLst/>
          </a:prstGeom>
          <a:noFill/>
        </p:spPr>
        <p:txBody>
          <a:bodyPr wrap="none" lIns="0" tIns="0" rIns="0" bIns="0">
            <a:spAutoFit/>
          </a:bodyPr>
          <a:lstStyle/>
          <a:p>
            <a:r>
              <a:rPr sz="4200">
                <a:solidFill>
                  <a:srgbClr val="F4F0E6"/>
                </a:solidFill>
                <a:latin typeface="M PLUS Rounded 1c"/>
              </a:rPr>
              <a:t>✦</a:t>
            </a:r>
          </a:p>
        </p:txBody>
      </p:sp>
      <p:sp>
        <p:nvSpPr>
          <p:cNvPr id="8" name="TextBox 7"/>
          <p:cNvSpPr txBox="1"/>
          <p:nvPr/>
        </p:nvSpPr>
        <p:spPr>
          <a:xfrm rot="2760000">
            <a:off x="326788" y="5586944"/>
            <a:ext cx="914400" cy="914400"/>
          </a:xfrm>
          <a:prstGeom prst="rect">
            <a:avLst/>
          </a:prstGeom>
          <a:noFill/>
        </p:spPr>
        <p:txBody>
          <a:bodyPr wrap="none" lIns="0" tIns="0" rIns="0" bIns="0">
            <a:spAutoFit/>
          </a:bodyPr>
          <a:lstStyle/>
          <a:p>
            <a:r>
              <a:rPr sz="3500">
                <a:solidFill>
                  <a:srgbClr val="F4F0E6"/>
                </a:solidFill>
                <a:latin typeface="M PLUS Rounded 1c"/>
              </a:rPr>
              <a:t>♥</a:t>
            </a:r>
          </a:p>
        </p:txBody>
      </p:sp>
      <p:sp>
        <p:nvSpPr>
          <p:cNvPr id="9" name="TextBox 8"/>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無痛付款機制：分期付款讓客戶輕鬆邁出第一步</a:t>
            </a:r>
          </a:p>
        </p:txBody>
      </p:sp>
      <p:sp>
        <p:nvSpPr>
          <p:cNvPr id="10" name="Rectangle 9"/>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解決付款卡點</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許多客戶有強烈改變的需求，但卡在一次性拿不出大筆資金。</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多元分期系統</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支援信用卡分期 </a:t>
            </a:r>
            <a:r>
              <a:rPr b="1" sz="1800">
                <a:solidFill>
                  <a:srgbClr val="8C6D3E"/>
                </a:solidFill>
                <a:latin typeface="M PLUS Rounded 1c"/>
              </a:rPr>
              <a:t>24 期</a:t>
            </a:r>
            <a:r>
              <a:rPr sz="18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支援無卡分期高達 </a:t>
            </a:r>
            <a:r>
              <a:rPr b="1" sz="1800">
                <a:solidFill>
                  <a:srgbClr val="8C6D3E"/>
                </a:solidFill>
                <a:latin typeface="M PLUS Rounded 1c"/>
              </a:rPr>
              <a:t>36 期</a:t>
            </a:r>
            <a:r>
              <a:rPr sz="18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月付僅需 </a:t>
            </a:r>
            <a:r>
              <a:rPr b="1" sz="1800">
                <a:solidFill>
                  <a:srgbClr val="8C6D3E"/>
                </a:solidFill>
                <a:latin typeface="M PLUS Rounded 1c"/>
              </a:rPr>
              <a:t>NTD 1,000 (約 USD 31)</a:t>
            </a:r>
            <a:r>
              <a:rPr sz="18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*將高價值方案轉為「無痛月付」，讓客戶輕鬆買單，順暢進入服務。*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1700000">
            <a:off x="1104500" y="4638815"/>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4" name="TextBox 3"/>
          <p:cNvSpPr txBox="1"/>
          <p:nvPr/>
        </p:nvSpPr>
        <p:spPr>
          <a:xfrm rot="20760000">
            <a:off x="1977068" y="6209946"/>
            <a:ext cx="914400" cy="914400"/>
          </a:xfrm>
          <a:prstGeom prst="rect">
            <a:avLst/>
          </a:prstGeom>
          <a:noFill/>
        </p:spPr>
        <p:txBody>
          <a:bodyPr wrap="none" lIns="0" tIns="0" rIns="0" bIns="0">
            <a:spAutoFit/>
          </a:bodyPr>
          <a:lstStyle/>
          <a:p>
            <a:r>
              <a:rPr sz="2400">
                <a:solidFill>
                  <a:srgbClr val="F4F0E6"/>
                </a:solidFill>
                <a:latin typeface="M PLUS Rounded 1c"/>
              </a:rPr>
              <a:t>♥</a:t>
            </a:r>
          </a:p>
        </p:txBody>
      </p:sp>
      <p:sp>
        <p:nvSpPr>
          <p:cNvPr id="5" name="TextBox 4"/>
          <p:cNvSpPr txBox="1"/>
          <p:nvPr/>
        </p:nvSpPr>
        <p:spPr>
          <a:xfrm rot="15120000">
            <a:off x="11450170" y="3015479"/>
            <a:ext cx="914400" cy="914400"/>
          </a:xfrm>
          <a:prstGeom prst="rect">
            <a:avLst/>
          </a:prstGeom>
          <a:noFill/>
        </p:spPr>
        <p:txBody>
          <a:bodyPr wrap="none" lIns="0" tIns="0" rIns="0" bIns="0">
            <a:spAutoFit/>
          </a:bodyPr>
          <a:lstStyle/>
          <a:p>
            <a:r>
              <a:rPr sz="3000">
                <a:solidFill>
                  <a:srgbClr val="F4F0E6"/>
                </a:solidFill>
                <a:latin typeface="M PLUS Rounded 1c"/>
              </a:rPr>
              <a:t>♥</a:t>
            </a:r>
          </a:p>
        </p:txBody>
      </p:sp>
      <p:sp>
        <p:nvSpPr>
          <p:cNvPr id="6" name="TextBox 5"/>
          <p:cNvSpPr txBox="1"/>
          <p:nvPr/>
        </p:nvSpPr>
        <p:spPr>
          <a:xfrm rot="14940000">
            <a:off x="6408038" y="6342821"/>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7" name="TextBox 6"/>
          <p:cNvSpPr txBox="1"/>
          <p:nvPr/>
        </p:nvSpPr>
        <p:spPr>
          <a:xfrm rot="11820000">
            <a:off x="1042450" y="6333162"/>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8" name="TextBox 7"/>
          <p:cNvSpPr txBox="1"/>
          <p:nvPr/>
        </p:nvSpPr>
        <p:spPr>
          <a:xfrm rot="3900000">
            <a:off x="11184648" y="4561314"/>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9" name="TextBox 8"/>
          <p:cNvSpPr txBox="1"/>
          <p:nvPr/>
        </p:nvSpPr>
        <p:spPr>
          <a:xfrm rot="900000">
            <a:off x="193637" y="6207444"/>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10" name="TextBox 9"/>
          <p:cNvSpPr txBox="1"/>
          <p:nvPr/>
        </p:nvSpPr>
        <p:spPr>
          <a:xfrm rot="120000">
            <a:off x="5115424" y="6004158"/>
            <a:ext cx="914400" cy="914400"/>
          </a:xfrm>
          <a:prstGeom prst="rect">
            <a:avLst/>
          </a:prstGeom>
          <a:noFill/>
        </p:spPr>
        <p:txBody>
          <a:bodyPr wrap="none" lIns="0" tIns="0" rIns="0" bIns="0">
            <a:spAutoFit/>
          </a:bodyPr>
          <a:lstStyle/>
          <a:p>
            <a:r>
              <a:rPr sz="3800">
                <a:solidFill>
                  <a:srgbClr val="F4F0E6"/>
                </a:solidFill>
                <a:latin typeface="M PLUS Rounded 1c"/>
              </a:rPr>
              <a:t>♥</a:t>
            </a:r>
          </a:p>
        </p:txBody>
      </p:sp>
      <p:sp>
        <p:nvSpPr>
          <p:cNvPr id="11" name="TextBox 10"/>
          <p:cNvSpPr txBox="1"/>
          <p:nvPr/>
        </p:nvSpPr>
        <p:spPr>
          <a:xfrm rot="660000">
            <a:off x="11577949" y="292818"/>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12" name="TextBox 11"/>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課程策略：如何規劃能常賣 5-10 年的線上課程？</a:t>
            </a:r>
          </a:p>
        </p:txBody>
      </p:sp>
      <p:sp>
        <p:nvSpPr>
          <p:cNvPr id="13" name="Rectangle 12"/>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645920"/>
            <a:ext cx="10728655" cy="4389120"/>
          </a:xfrm>
          <a:prstGeom prst="rect">
            <a:avLst/>
          </a:prstGeom>
          <a:noFill/>
        </p:spPr>
        <p:txBody>
          <a:bodyPr wrap="square" lIns="0" tIns="0" rIns="0" bIns="0">
            <a:spAutoFit/>
          </a:bodyPr>
          <a:lstStyle/>
          <a:p>
            <a:pPr>
              <a:spcBef>
                <a:spcPts val="600"/>
              </a:spcBef>
              <a:spcAft>
                <a:spcPts val="1000"/>
              </a:spcAft>
            </a:pPr>
            <a:r>
              <a:rPr sz="2000">
                <a:solidFill>
                  <a:srgbClr val="3C3C3C"/>
                </a:solidFill>
                <a:latin typeface="M PLUS Rounded 1c"/>
              </a:rPr>
              <a:t>| 課程形式 | 老師負擔 | 學員體驗 | 長期穩定度 |</a:t>
            </a:r>
          </a:p>
          <a:p>
            <a:pPr>
              <a:spcBef>
                <a:spcPts val="600"/>
              </a:spcBef>
              <a:spcAft>
                <a:spcPts val="1000"/>
              </a:spcAft>
            </a:pPr>
            <a:r>
              <a:rPr sz="2000">
                <a:solidFill>
                  <a:srgbClr val="3C3C3C"/>
                </a:solidFill>
                <a:latin typeface="M PLUS Rounded 1c"/>
              </a:rPr>
              <a:t>| :--- | :--- | :--- | :--- |</a:t>
            </a:r>
          </a:p>
          <a:p>
            <a:pPr>
              <a:spcBef>
                <a:spcPts val="600"/>
              </a:spcBef>
              <a:spcAft>
                <a:spcPts val="1000"/>
              </a:spcAft>
            </a:pPr>
            <a:r>
              <a:rPr sz="2000">
                <a:solidFill>
                  <a:srgbClr val="3C3C3C"/>
                </a:solidFill>
                <a:latin typeface="M PLUS Rounded 1c"/>
              </a:rPr>
              <a:t>| </a:t>
            </a:r>
            <a:r>
              <a:rPr b="1" sz="2000">
                <a:solidFill>
                  <a:srgbClr val="8C6D3E"/>
                </a:solidFill>
                <a:latin typeface="M PLUS Rounded 1c"/>
              </a:rPr>
              <a:t>實體現場課</a:t>
            </a:r>
            <a:r>
              <a:rPr sz="2000">
                <a:solidFill>
                  <a:srgbClr val="3C3C3C"/>
                </a:solidFill>
                <a:latin typeface="M PLUS Rounded 1c"/>
              </a:rPr>
              <a:t> | 高 (易勞累) | 極佳 | 低 (受時空限制) |</a:t>
            </a:r>
          </a:p>
          <a:p>
            <a:pPr>
              <a:spcBef>
                <a:spcPts val="600"/>
              </a:spcBef>
              <a:spcAft>
                <a:spcPts val="1000"/>
              </a:spcAft>
            </a:pPr>
            <a:r>
              <a:rPr sz="2000">
                <a:solidFill>
                  <a:srgbClr val="3C3C3C"/>
                </a:solidFill>
                <a:latin typeface="M PLUS Rounded 1c"/>
              </a:rPr>
              <a:t>| </a:t>
            </a:r>
            <a:r>
              <a:rPr b="1" sz="2000">
                <a:solidFill>
                  <a:srgbClr val="8C6D3E"/>
                </a:solidFill>
                <a:latin typeface="M PLUS Rounded 1c"/>
              </a:rPr>
              <a:t>預錄線上課</a:t>
            </a:r>
            <a:r>
              <a:rPr sz="2000">
                <a:solidFill>
                  <a:srgbClr val="3C3C3C"/>
                </a:solidFill>
                <a:latin typeface="M PLUS Rounded 1c"/>
              </a:rPr>
              <a:t> | 低 (一次性錄製) | 中等 | 中等 (易流於單一) |</a:t>
            </a:r>
          </a:p>
          <a:p>
            <a:pPr>
              <a:spcBef>
                <a:spcPts val="600"/>
              </a:spcBef>
              <a:spcAft>
                <a:spcPts val="1000"/>
              </a:spcAft>
            </a:pPr>
            <a:r>
              <a:rPr sz="2000">
                <a:solidFill>
                  <a:srgbClr val="3C3C3C"/>
                </a:solidFill>
                <a:latin typeface="M PLUS Rounded 1c"/>
              </a:rPr>
              <a:t>| </a:t>
            </a:r>
            <a:r>
              <a:rPr b="1" sz="2000">
                <a:solidFill>
                  <a:srgbClr val="8C6D3E"/>
                </a:solidFill>
                <a:latin typeface="M PLUS Rounded 1c"/>
              </a:rPr>
              <a:t>預錄課 + 直播陪跑</a:t>
            </a:r>
            <a:r>
              <a:rPr sz="2000">
                <a:solidFill>
                  <a:srgbClr val="3C3C3C"/>
                </a:solidFill>
                <a:latin typeface="M PLUS Rounded 1c"/>
              </a:rPr>
              <a:t> | </a:t>
            </a:r>
            <a:r>
              <a:rPr b="1" sz="2000">
                <a:solidFill>
                  <a:srgbClr val="8C6D3E"/>
                </a:solidFill>
                <a:latin typeface="M PLUS Rounded 1c"/>
              </a:rPr>
              <a:t>中低</a:t>
            </a:r>
            <a:r>
              <a:rPr sz="2000">
                <a:solidFill>
                  <a:srgbClr val="3C3C3C"/>
                </a:solidFill>
                <a:latin typeface="M PLUS Rounded 1c"/>
              </a:rPr>
              <a:t> | </a:t>
            </a:r>
            <a:r>
              <a:rPr b="1" sz="2000">
                <a:solidFill>
                  <a:srgbClr val="8C6D3E"/>
                </a:solidFill>
                <a:latin typeface="M PLUS Rounded 1c"/>
              </a:rPr>
              <a:t>佳 (有互動)</a:t>
            </a:r>
            <a:r>
              <a:rPr sz="2000">
                <a:solidFill>
                  <a:srgbClr val="3C3C3C"/>
                </a:solidFill>
                <a:latin typeface="M PLUS Rounded 1c"/>
              </a:rPr>
              <a:t> | </a:t>
            </a:r>
            <a:r>
              <a:rPr b="1" sz="2000">
                <a:solidFill>
                  <a:srgbClr val="8C6D3E"/>
                </a:solidFill>
                <a:latin typeface="M PLUS Rounded 1c"/>
              </a:rPr>
              <a:t>極高 (時間自由)</a:t>
            </a:r>
            <a:r>
              <a:rPr sz="2000">
                <a:solidFill>
                  <a:srgbClr val="3C3C3C"/>
                </a:solidFill>
                <a:latin typeface="M PLUS Rounded 1c"/>
              </a:rPr>
              <a:t> |</a:t>
            </a:r>
          </a:p>
          <a:p>
            <a:pPr>
              <a:spcBef>
                <a:spcPts val="600"/>
              </a:spcBef>
              <a:spcAft>
                <a:spcPts val="1000"/>
              </a:spcAft>
            </a:pPr>
            <a:r>
              <a:rPr sz="2000">
                <a:solidFill>
                  <a:srgbClr val="3C3C3C"/>
                </a:solidFill>
                <a:latin typeface="M PLUS Rounded 1c"/>
              </a:rPr>
              <a:t>*💡 推薦形式：預錄線上課程 + 定期直播陪跑 / 現場聚會，兼顧效果與老師的時間自由。*</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6080000">
            <a:off x="3427959" y="486726"/>
            <a:ext cx="914400" cy="914400"/>
          </a:xfrm>
          <a:prstGeom prst="rect">
            <a:avLst/>
          </a:prstGeom>
          <a:noFill/>
        </p:spPr>
        <p:txBody>
          <a:bodyPr wrap="none" lIns="0" tIns="0" rIns="0" bIns="0">
            <a:spAutoFit/>
          </a:bodyPr>
          <a:lstStyle/>
          <a:p>
            <a:r>
              <a:rPr sz="4800">
                <a:solidFill>
                  <a:srgbClr val="F4F0E6"/>
                </a:solidFill>
                <a:latin typeface="M PLUS Rounded 1c"/>
              </a:rPr>
              <a:t>✦</a:t>
            </a:r>
          </a:p>
        </p:txBody>
      </p:sp>
      <p:sp>
        <p:nvSpPr>
          <p:cNvPr id="4" name="TextBox 3"/>
          <p:cNvSpPr txBox="1"/>
          <p:nvPr/>
        </p:nvSpPr>
        <p:spPr>
          <a:xfrm rot="8580000">
            <a:off x="2339425" y="6503622"/>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5" name="TextBox 4"/>
          <p:cNvSpPr txBox="1"/>
          <p:nvPr/>
        </p:nvSpPr>
        <p:spPr>
          <a:xfrm rot="8340000">
            <a:off x="7962400" y="841167"/>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6" name="TextBox 5"/>
          <p:cNvSpPr txBox="1"/>
          <p:nvPr/>
        </p:nvSpPr>
        <p:spPr>
          <a:xfrm rot="5940000">
            <a:off x="855917" y="3908785"/>
            <a:ext cx="914400" cy="914400"/>
          </a:xfrm>
          <a:prstGeom prst="rect">
            <a:avLst/>
          </a:prstGeom>
          <a:noFill/>
        </p:spPr>
        <p:txBody>
          <a:bodyPr wrap="none" lIns="0" tIns="0" rIns="0" bIns="0">
            <a:spAutoFit/>
          </a:bodyPr>
          <a:lstStyle/>
          <a:p>
            <a:r>
              <a:rPr sz="3600">
                <a:solidFill>
                  <a:srgbClr val="F4F0E6"/>
                </a:solidFill>
                <a:latin typeface="M PLUS Rounded 1c"/>
              </a:rPr>
              <a:t>☥</a:t>
            </a:r>
          </a:p>
        </p:txBody>
      </p:sp>
      <p:sp>
        <p:nvSpPr>
          <p:cNvPr id="7" name="TextBox 6"/>
          <p:cNvSpPr txBox="1"/>
          <p:nvPr/>
        </p:nvSpPr>
        <p:spPr>
          <a:xfrm rot="2160000">
            <a:off x="638137" y="4795100"/>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8" name="TextBox 7"/>
          <p:cNvSpPr txBox="1"/>
          <p:nvPr/>
        </p:nvSpPr>
        <p:spPr>
          <a:xfrm rot="11160000">
            <a:off x="5620275" y="609171"/>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9" name="TextBox 8"/>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能量課線上化迷思：光的課程線上化營收破百萬實例</a:t>
            </a:r>
          </a:p>
        </p:txBody>
      </p:sp>
      <p:sp>
        <p:nvSpPr>
          <p:cNvPr id="10" name="Rectangle 9"/>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迷思：能量課可以在線上上嗎？</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能量是跨越時空的，線上化完全可行。</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光的課程線上化案例</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Sally 在 20 年前是台灣首位將「光的課程」線上化的老師。</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四個級次包年發售 </a:t>
            </a:r>
            <a:r>
              <a:rPr b="1" sz="1800">
                <a:solidFill>
                  <a:srgbClr val="8C6D3E"/>
                </a:solidFill>
                <a:latin typeface="M PLUS Rounded 1c"/>
              </a:rPr>
              <a:t>NTD 20,000 (約 USD 625)</a:t>
            </a:r>
            <a:r>
              <a:rPr sz="1800">
                <a:solidFill>
                  <a:srgbClr val="3C3C3C"/>
                </a:solidFill>
                <a:latin typeface="M PLUS Rounded 1c"/>
              </a:rPr>
              <a:t>，吸引 100 多名學員，創造 </a:t>
            </a:r>
            <a:r>
              <a:rPr b="1" sz="1800">
                <a:solidFill>
                  <a:srgbClr val="8C6D3E"/>
                </a:solidFill>
                <a:latin typeface="M PLUS Rounded 1c"/>
              </a:rPr>
              <a:t>NTD 2,000,000 (約 USD 62,500)</a:t>
            </a:r>
            <a:r>
              <a:rPr sz="1800">
                <a:solidFill>
                  <a:srgbClr val="3C3C3C"/>
                </a:solidFill>
                <a:latin typeface="M PLUS Rounded 1c"/>
              </a:rPr>
              <a:t> 營收。</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Nancy 老師亦推出線上版，第一期即吸引 100 多人。</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6360000">
            <a:off x="5220230" y="6432809"/>
            <a:ext cx="914400" cy="914400"/>
          </a:xfrm>
          <a:prstGeom prst="rect">
            <a:avLst/>
          </a:prstGeom>
          <a:noFill/>
        </p:spPr>
        <p:txBody>
          <a:bodyPr wrap="none" lIns="0" tIns="0" rIns="0" bIns="0">
            <a:spAutoFit/>
          </a:bodyPr>
          <a:lstStyle/>
          <a:p>
            <a:r>
              <a:rPr sz="2800">
                <a:solidFill>
                  <a:srgbClr val="F4F0E6"/>
                </a:solidFill>
                <a:latin typeface="M PLUS Rounded 1c"/>
              </a:rPr>
              <a:t>☥</a:t>
            </a:r>
          </a:p>
        </p:txBody>
      </p:sp>
      <p:sp>
        <p:nvSpPr>
          <p:cNvPr id="4" name="TextBox 3"/>
          <p:cNvSpPr txBox="1"/>
          <p:nvPr/>
        </p:nvSpPr>
        <p:spPr>
          <a:xfrm rot="10020000">
            <a:off x="301470" y="588875"/>
            <a:ext cx="914400" cy="914400"/>
          </a:xfrm>
          <a:prstGeom prst="rect">
            <a:avLst/>
          </a:prstGeom>
          <a:noFill/>
        </p:spPr>
        <p:txBody>
          <a:bodyPr wrap="none" lIns="0" tIns="0" rIns="0" bIns="0">
            <a:spAutoFit/>
          </a:bodyPr>
          <a:lstStyle/>
          <a:p>
            <a:r>
              <a:rPr sz="3100">
                <a:solidFill>
                  <a:srgbClr val="F4F0E6"/>
                </a:solidFill>
                <a:latin typeface="M PLUS Rounded 1c"/>
              </a:rPr>
              <a:t>☥</a:t>
            </a:r>
          </a:p>
        </p:txBody>
      </p:sp>
      <p:sp>
        <p:nvSpPr>
          <p:cNvPr id="5" name="TextBox 4"/>
          <p:cNvSpPr txBox="1"/>
          <p:nvPr/>
        </p:nvSpPr>
        <p:spPr>
          <a:xfrm rot="20460000">
            <a:off x="5714531" y="680035"/>
            <a:ext cx="914400" cy="914400"/>
          </a:xfrm>
          <a:prstGeom prst="rect">
            <a:avLst/>
          </a:prstGeom>
          <a:noFill/>
        </p:spPr>
        <p:txBody>
          <a:bodyPr wrap="none" lIns="0" tIns="0" rIns="0" bIns="0">
            <a:spAutoFit/>
          </a:bodyPr>
          <a:lstStyle/>
          <a:p>
            <a:r>
              <a:rPr sz="2700">
                <a:solidFill>
                  <a:srgbClr val="F4F0E6"/>
                </a:solidFill>
                <a:latin typeface="M PLUS Rounded 1c"/>
              </a:rPr>
              <a:t>✦</a:t>
            </a:r>
          </a:p>
        </p:txBody>
      </p:sp>
      <p:sp>
        <p:nvSpPr>
          <p:cNvPr id="6" name="TextBox 5"/>
          <p:cNvSpPr txBox="1"/>
          <p:nvPr/>
        </p:nvSpPr>
        <p:spPr>
          <a:xfrm rot="19020000">
            <a:off x="1119016" y="5722817"/>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7" name="TextBox 6"/>
          <p:cNvSpPr txBox="1"/>
          <p:nvPr/>
        </p:nvSpPr>
        <p:spPr>
          <a:xfrm rot="12180000">
            <a:off x="11595924" y="865036"/>
            <a:ext cx="914400" cy="914400"/>
          </a:xfrm>
          <a:prstGeom prst="rect">
            <a:avLst/>
          </a:prstGeom>
          <a:noFill/>
        </p:spPr>
        <p:txBody>
          <a:bodyPr wrap="none" lIns="0" tIns="0" rIns="0" bIns="0">
            <a:spAutoFit/>
          </a:bodyPr>
          <a:lstStyle/>
          <a:p>
            <a:r>
              <a:rPr sz="4100">
                <a:solidFill>
                  <a:srgbClr val="F4F0E6"/>
                </a:solidFill>
                <a:latin typeface="M PLUS Rounded 1c"/>
              </a:rPr>
              <a:t>♥</a:t>
            </a:r>
          </a:p>
        </p:txBody>
      </p:sp>
      <p:sp>
        <p:nvSpPr>
          <p:cNvPr id="8" name="TextBox 7"/>
          <p:cNvSpPr txBox="1"/>
          <p:nvPr/>
        </p:nvSpPr>
        <p:spPr>
          <a:xfrm rot="17820000">
            <a:off x="10915563" y="378975"/>
            <a:ext cx="914400" cy="914400"/>
          </a:xfrm>
          <a:prstGeom prst="rect">
            <a:avLst/>
          </a:prstGeom>
          <a:noFill/>
        </p:spPr>
        <p:txBody>
          <a:bodyPr wrap="none" lIns="0" tIns="0" rIns="0" bIns="0">
            <a:spAutoFit/>
          </a:bodyPr>
          <a:lstStyle/>
          <a:p>
            <a:r>
              <a:rPr sz="3700">
                <a:solidFill>
                  <a:srgbClr val="F4F0E6"/>
                </a:solidFill>
                <a:latin typeface="M PLUS Rounded 1c"/>
              </a:rPr>
              <a:t>☥</a:t>
            </a:r>
          </a:p>
        </p:txBody>
      </p:sp>
      <p:sp>
        <p:nvSpPr>
          <p:cNvPr id="9" name="TextBox 8"/>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案例分享 (3)：Ani 從英文老師轉型為月入 NTD 30,000 療癒師</a:t>
            </a:r>
          </a:p>
        </p:txBody>
      </p:sp>
      <p:sp>
        <p:nvSpPr>
          <p:cNvPr id="10" name="Rectangle 9"/>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背景與卡點</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原為英文老師，日排課 10 小時仍是月光族，面臨金錢限制。</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學習過傳統 brand 課，只教拍片，沒教引流。列出一堆證書，3 個月只接到 1 個個案。</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調整與成果</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重新進行定位，撰寫高共鳴貼文加入行動呼籲（CTA）。</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推出 </a:t>
            </a:r>
            <a:r>
              <a:rPr b="1" sz="1800">
                <a:solidFill>
                  <a:srgbClr val="8C6D3E"/>
                </a:solidFill>
                <a:latin typeface="M PLUS Rounded 1c"/>
              </a:rPr>
              <a:t>NTD 111 (約 USD 3.5)</a:t>
            </a:r>
            <a:r>
              <a:rPr sz="1800">
                <a:solidFill>
                  <a:srgbClr val="3C3C3C"/>
                </a:solidFill>
                <a:latin typeface="M PLUS Rounded 1c"/>
              </a:rPr>
              <a:t> 象棋占卜/補財庫體驗。</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副業收入迅速從 0 增長至 </a:t>
            </a:r>
            <a:r>
              <a:rPr b="1" sz="1800">
                <a:solidFill>
                  <a:srgbClr val="8C6D3E"/>
                </a:solidFill>
                <a:latin typeface="M PLUS Rounded 1c"/>
              </a:rPr>
              <a:t>每月穩定 NTD 30,000 (約 USD 940)</a:t>
            </a:r>
            <a:r>
              <a:rPr sz="1800">
                <a:solidFill>
                  <a:srgbClr val="3C3C3C"/>
                </a:solidFill>
                <a:latin typeface="M PLUS Rounded 1c"/>
              </a:rPr>
              <a:t>，正穩健朝向全職療癒師轉型。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13740000">
            <a:off x="11989618" y="4873796"/>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4" name="TextBox 3"/>
          <p:cNvSpPr txBox="1"/>
          <p:nvPr/>
        </p:nvSpPr>
        <p:spPr>
          <a:xfrm rot="12660000">
            <a:off x="11559700" y="1593390"/>
            <a:ext cx="914400" cy="914400"/>
          </a:xfrm>
          <a:prstGeom prst="rect">
            <a:avLst/>
          </a:prstGeom>
          <a:noFill/>
        </p:spPr>
        <p:txBody>
          <a:bodyPr wrap="none" lIns="0" tIns="0" rIns="0" bIns="0">
            <a:spAutoFit/>
          </a:bodyPr>
          <a:lstStyle/>
          <a:p>
            <a:r>
              <a:rPr sz="2600">
                <a:solidFill>
                  <a:srgbClr val="F4F0E6"/>
                </a:solidFill>
                <a:latin typeface="M PLUS Rounded 1c"/>
              </a:rPr>
              <a:t>♥</a:t>
            </a:r>
          </a:p>
        </p:txBody>
      </p:sp>
      <p:sp>
        <p:nvSpPr>
          <p:cNvPr id="5" name="TextBox 4"/>
          <p:cNvSpPr txBox="1"/>
          <p:nvPr/>
        </p:nvSpPr>
        <p:spPr>
          <a:xfrm rot="6600000">
            <a:off x="11245189" y="5989823"/>
            <a:ext cx="914400" cy="914400"/>
          </a:xfrm>
          <a:prstGeom prst="rect">
            <a:avLst/>
          </a:prstGeom>
          <a:noFill/>
        </p:spPr>
        <p:txBody>
          <a:bodyPr wrap="none" lIns="0" tIns="0" rIns="0" bIns="0">
            <a:spAutoFit/>
          </a:bodyPr>
          <a:lstStyle/>
          <a:p>
            <a:r>
              <a:rPr sz="2800">
                <a:solidFill>
                  <a:srgbClr val="F4F0E6"/>
                </a:solidFill>
                <a:latin typeface="M PLUS Rounded 1c"/>
              </a:rPr>
              <a:t>✦</a:t>
            </a:r>
          </a:p>
        </p:txBody>
      </p:sp>
      <p:sp>
        <p:nvSpPr>
          <p:cNvPr id="6" name="TextBox 5"/>
          <p:cNvSpPr txBox="1"/>
          <p:nvPr/>
        </p:nvSpPr>
        <p:spPr>
          <a:xfrm rot="11760000">
            <a:off x="1100462" y="4175830"/>
            <a:ext cx="914400" cy="914400"/>
          </a:xfrm>
          <a:prstGeom prst="rect">
            <a:avLst/>
          </a:prstGeom>
          <a:noFill/>
        </p:spPr>
        <p:txBody>
          <a:bodyPr wrap="none" lIns="0" tIns="0" rIns="0" bIns="0">
            <a:spAutoFit/>
          </a:bodyPr>
          <a:lstStyle/>
          <a:p>
            <a:r>
              <a:rPr sz="4300">
                <a:solidFill>
                  <a:srgbClr val="F4F0E6"/>
                </a:solidFill>
                <a:latin typeface="M PLUS Rounded 1c"/>
              </a:rPr>
              <a:t>☥</a:t>
            </a:r>
          </a:p>
        </p:txBody>
      </p:sp>
      <p:sp>
        <p:nvSpPr>
          <p:cNvPr id="7" name="TextBox 6"/>
          <p:cNvSpPr txBox="1"/>
          <p:nvPr/>
        </p:nvSpPr>
        <p:spPr>
          <a:xfrm rot="13800000">
            <a:off x="10102874" y="6413413"/>
            <a:ext cx="914400" cy="914400"/>
          </a:xfrm>
          <a:prstGeom prst="rect">
            <a:avLst/>
          </a:prstGeom>
          <a:noFill/>
        </p:spPr>
        <p:txBody>
          <a:bodyPr wrap="none" lIns="0" tIns="0" rIns="0" bIns="0">
            <a:spAutoFit/>
          </a:bodyPr>
          <a:lstStyle/>
          <a:p>
            <a:r>
              <a:rPr sz="2400">
                <a:solidFill>
                  <a:srgbClr val="F4F0E6"/>
                </a:solidFill>
                <a:latin typeface="M PLUS Rounded 1c"/>
              </a:rPr>
              <a:t>♥</a:t>
            </a:r>
          </a:p>
        </p:txBody>
      </p:sp>
      <p:sp>
        <p:nvSpPr>
          <p:cNvPr id="8" name="TextBox 7"/>
          <p:cNvSpPr txBox="1"/>
          <p:nvPr/>
        </p:nvSpPr>
        <p:spPr>
          <a:xfrm rot="12120000">
            <a:off x="1288029" y="222721"/>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9" name="TextBox 8"/>
          <p:cNvSpPr txBox="1"/>
          <p:nvPr/>
        </p:nvSpPr>
        <p:spPr>
          <a:xfrm rot="8460000">
            <a:off x="11333963" y="6106220"/>
            <a:ext cx="914400" cy="914400"/>
          </a:xfrm>
          <a:prstGeom prst="rect">
            <a:avLst/>
          </a:prstGeom>
          <a:noFill/>
        </p:spPr>
        <p:txBody>
          <a:bodyPr wrap="none" lIns="0" tIns="0" rIns="0" bIns="0">
            <a:spAutoFit/>
          </a:bodyPr>
          <a:lstStyle/>
          <a:p>
            <a:r>
              <a:rPr sz="3400">
                <a:solidFill>
                  <a:srgbClr val="F4F0E6"/>
                </a:solidFill>
                <a:latin typeface="M PLUS Rounded 1c"/>
              </a:rPr>
              <a:t>✦</a:t>
            </a:r>
          </a:p>
        </p:txBody>
      </p:sp>
      <p:sp>
        <p:nvSpPr>
          <p:cNvPr id="10" name="TextBox 9"/>
          <p:cNvSpPr txBox="1"/>
          <p:nvPr/>
        </p:nvSpPr>
        <p:spPr>
          <a:xfrm rot="11640000">
            <a:off x="11502013" y="6673863"/>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11" name="TextBox 10"/>
          <p:cNvSpPr txBox="1"/>
          <p:nvPr/>
        </p:nvSpPr>
        <p:spPr>
          <a:xfrm rot="20580000">
            <a:off x="6572226" y="425660"/>
            <a:ext cx="914400" cy="914400"/>
          </a:xfrm>
          <a:prstGeom prst="rect">
            <a:avLst/>
          </a:prstGeom>
          <a:noFill/>
        </p:spPr>
        <p:txBody>
          <a:bodyPr wrap="none" lIns="0" tIns="0" rIns="0" bIns="0">
            <a:spAutoFit/>
          </a:bodyPr>
          <a:lstStyle/>
          <a:p>
            <a:r>
              <a:rPr sz="4500">
                <a:solidFill>
                  <a:srgbClr val="F4F0E6"/>
                </a:solidFill>
                <a:latin typeface="M PLUS Rounded 1c"/>
              </a:rPr>
              <a:t>♥</a:t>
            </a:r>
          </a:p>
        </p:txBody>
      </p:sp>
      <p:sp>
        <p:nvSpPr>
          <p:cNvPr id="12" name="TextBox 11"/>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先修班福利與品牌診斷人工審核（18 題 brand audit）</a:t>
            </a:r>
          </a:p>
        </p:txBody>
      </p:sp>
      <p:sp>
        <p:nvSpPr>
          <p:cNvPr id="13" name="Rectangle 12"/>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專屬福利（價值 NTD 10,000 / 約 USD 310）</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免費 1 小時深度診斷，需填寫 18 題表單進行人工審核。</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優先篩選有強烈渴望、且已有自媒體基礎數據的學員。</a:t>
            </a:r>
          </a:p>
          <a:p>
            <a:pPr>
              <a:spcBef>
                <a:spcPts val="400"/>
              </a:spcBef>
              <a:spcAft>
                <a:spcPts val="800"/>
              </a:spcAft>
            </a:pPr>
            <a:r>
              <a:rPr b="1" sz="2000">
                <a:solidFill>
                  <a:srgbClr val="C5A880"/>
                </a:solidFill>
                <a:latin typeface="M PLUS Rounded 1c"/>
              </a:rPr>
              <a:t>✦ </a:t>
            </a:r>
            <a:r>
              <a:rPr b="1" sz="2000">
                <a:solidFill>
                  <a:srgbClr val="8C6D3E"/>
                </a:solidFill>
                <a:latin typeface="M PLUS Rounded 1c"/>
              </a:rPr>
              <a:t>回報說明</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填表後必須回到 LINE OA 回報：</a:t>
            </a:r>
            <a:r>
              <a:rPr b="1" sz="1800">
                <a:solidFill>
                  <a:srgbClr val="8C6D3E"/>
                </a:solidFill>
                <a:latin typeface="M PLUS Rounded 1c"/>
              </a:rPr>
              <a:t>「中文全名 + 預約時段」</a:t>
            </a:r>
            <a:r>
              <a:rPr sz="1800">
                <a:solidFill>
                  <a:srgbClr val="3C3C3C"/>
                </a:solidFill>
                <a:latin typeface="M PLUS Rounded 1c"/>
              </a:rPr>
              <a:t>。</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留意 Email 的審核結果通知。</a:t>
            </a:r>
          </a:p>
          <a:p>
            <a:pPr lvl="1">
              <a:spcBef>
                <a:spcPts val="400"/>
              </a:spcBef>
              <a:spcAft>
                <a:spcPts val="800"/>
              </a:spcAft>
            </a:pPr>
            <a:r>
              <a:rPr b="1" sz="1800">
                <a:solidFill>
                  <a:srgbClr val="C5A880"/>
                </a:solidFill>
                <a:latin typeface="M PLUS Rounded 1c"/>
              </a:rPr>
              <a:t>• </a:t>
            </a:r>
            <a:r>
              <a:rPr sz="1800">
                <a:solidFill>
                  <a:srgbClr val="3C3C3C"/>
                </a:solidFill>
                <a:latin typeface="M PLUS Rounded 1c"/>
              </a:rPr>
              <a:t>未通過審核者可多參與免費課程，釐清基礎方向。</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DFCF9"/>
        </a:solidFill>
        <a:effectLst/>
      </p:bgPr>
    </p:bg>
    <p:spTree>
      <p:nvGrpSpPr>
        <p:cNvPr id="1" name=""/>
        <p:cNvGrpSpPr/>
        <p:nvPr/>
      </p:nvGrpSpPr>
      <p:grpSpPr/>
      <p:sp>
        <p:nvSpPr>
          <p:cNvPr id="2" name="Rounded Rectangle 1"/>
          <p:cNvSpPr/>
          <p:nvPr/>
        </p:nvSpPr>
        <p:spPr>
          <a:xfrm>
            <a:off x="91440" y="91440"/>
            <a:ext cx="12008815" cy="6675120"/>
          </a:xfrm>
          <a:prstGeom prst="roundRect">
            <a:avLst>
              <a:gd name="adj" fmla="val 2000"/>
            </a:avLst>
          </a:prstGeom>
          <a:noFill/>
          <a:ln w="635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rot="7020000">
            <a:off x="11366190" y="1070067"/>
            <a:ext cx="914400" cy="914400"/>
          </a:xfrm>
          <a:prstGeom prst="rect">
            <a:avLst/>
          </a:prstGeom>
          <a:noFill/>
        </p:spPr>
        <p:txBody>
          <a:bodyPr wrap="none" lIns="0" tIns="0" rIns="0" bIns="0">
            <a:spAutoFit/>
          </a:bodyPr>
          <a:lstStyle/>
          <a:p>
            <a:r>
              <a:rPr sz="3100">
                <a:solidFill>
                  <a:srgbClr val="F4F0E6"/>
                </a:solidFill>
                <a:latin typeface="M PLUS Rounded 1c"/>
              </a:rPr>
              <a:t>♥</a:t>
            </a:r>
          </a:p>
        </p:txBody>
      </p:sp>
      <p:sp>
        <p:nvSpPr>
          <p:cNvPr id="4" name="TextBox 3"/>
          <p:cNvSpPr txBox="1"/>
          <p:nvPr/>
        </p:nvSpPr>
        <p:spPr>
          <a:xfrm rot="18300000">
            <a:off x="522790" y="270698"/>
            <a:ext cx="914400" cy="914400"/>
          </a:xfrm>
          <a:prstGeom prst="rect">
            <a:avLst/>
          </a:prstGeom>
          <a:noFill/>
        </p:spPr>
        <p:txBody>
          <a:bodyPr wrap="none" lIns="0" tIns="0" rIns="0" bIns="0">
            <a:spAutoFit/>
          </a:bodyPr>
          <a:lstStyle/>
          <a:p>
            <a:r>
              <a:rPr sz="3800">
                <a:solidFill>
                  <a:srgbClr val="F4F0E6"/>
                </a:solidFill>
                <a:latin typeface="M PLUS Rounded 1c"/>
              </a:rPr>
              <a:t>✦</a:t>
            </a:r>
          </a:p>
        </p:txBody>
      </p:sp>
      <p:sp>
        <p:nvSpPr>
          <p:cNvPr id="5" name="TextBox 4"/>
          <p:cNvSpPr txBox="1"/>
          <p:nvPr/>
        </p:nvSpPr>
        <p:spPr>
          <a:xfrm rot="6480000">
            <a:off x="3811262" y="6266847"/>
            <a:ext cx="914400" cy="914400"/>
          </a:xfrm>
          <a:prstGeom prst="rect">
            <a:avLst/>
          </a:prstGeom>
          <a:noFill/>
        </p:spPr>
        <p:txBody>
          <a:bodyPr wrap="none" lIns="0" tIns="0" rIns="0" bIns="0">
            <a:spAutoFit/>
          </a:bodyPr>
          <a:lstStyle/>
          <a:p>
            <a:r>
              <a:rPr sz="3200">
                <a:solidFill>
                  <a:srgbClr val="F4F0E6"/>
                </a:solidFill>
                <a:latin typeface="M PLUS Rounded 1c"/>
              </a:rPr>
              <a:t>✦</a:t>
            </a:r>
          </a:p>
        </p:txBody>
      </p:sp>
      <p:sp>
        <p:nvSpPr>
          <p:cNvPr id="6" name="TextBox 5"/>
          <p:cNvSpPr txBox="1"/>
          <p:nvPr/>
        </p:nvSpPr>
        <p:spPr>
          <a:xfrm rot="10380000">
            <a:off x="1118554" y="5897871"/>
            <a:ext cx="914400" cy="914400"/>
          </a:xfrm>
          <a:prstGeom prst="rect">
            <a:avLst/>
          </a:prstGeom>
          <a:noFill/>
        </p:spPr>
        <p:txBody>
          <a:bodyPr wrap="none" lIns="0" tIns="0" rIns="0" bIns="0">
            <a:spAutoFit/>
          </a:bodyPr>
          <a:lstStyle/>
          <a:p>
            <a:r>
              <a:rPr sz="3900">
                <a:solidFill>
                  <a:srgbClr val="F4F0E6"/>
                </a:solidFill>
                <a:latin typeface="M PLUS Rounded 1c"/>
              </a:rPr>
              <a:t>♥</a:t>
            </a:r>
          </a:p>
        </p:txBody>
      </p:sp>
      <p:sp>
        <p:nvSpPr>
          <p:cNvPr id="7" name="TextBox 6"/>
          <p:cNvSpPr txBox="1"/>
          <p:nvPr/>
        </p:nvSpPr>
        <p:spPr>
          <a:xfrm rot="3720000">
            <a:off x="4243863" y="429646"/>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8" name="TextBox 7"/>
          <p:cNvSpPr txBox="1"/>
          <p:nvPr/>
        </p:nvSpPr>
        <p:spPr>
          <a:xfrm rot="12600000">
            <a:off x="10874298" y="6333398"/>
            <a:ext cx="914400" cy="914400"/>
          </a:xfrm>
          <a:prstGeom prst="rect">
            <a:avLst/>
          </a:prstGeom>
          <a:noFill/>
        </p:spPr>
        <p:txBody>
          <a:bodyPr wrap="none" lIns="0" tIns="0" rIns="0" bIns="0">
            <a:spAutoFit/>
          </a:bodyPr>
          <a:lstStyle/>
          <a:p>
            <a:r>
              <a:rPr sz="4600">
                <a:solidFill>
                  <a:srgbClr val="F4F0E6"/>
                </a:solidFill>
                <a:latin typeface="M PLUS Rounded 1c"/>
              </a:rPr>
              <a:t>✦</a:t>
            </a:r>
          </a:p>
        </p:txBody>
      </p:sp>
      <p:sp>
        <p:nvSpPr>
          <p:cNvPr id="9" name="TextBox 8"/>
          <p:cNvSpPr txBox="1"/>
          <p:nvPr/>
        </p:nvSpPr>
        <p:spPr>
          <a:xfrm>
            <a:off x="731520" y="548640"/>
            <a:ext cx="10728655" cy="731520"/>
          </a:xfrm>
          <a:prstGeom prst="rect">
            <a:avLst/>
          </a:prstGeom>
          <a:noFill/>
        </p:spPr>
        <p:txBody>
          <a:bodyPr wrap="square" lIns="0" tIns="0" rIns="0" bIns="0">
            <a:spAutoFit/>
          </a:bodyPr>
          <a:lstStyle/>
          <a:p>
            <a:r>
              <a:rPr sz="3200" b="1">
                <a:solidFill>
                  <a:srgbClr val="B8975A"/>
                </a:solidFill>
                <a:latin typeface="M PLUS Rounded 1c"/>
              </a:rPr>
              <a:t>關鍵行動清單 (Action Items)</a:t>
            </a:r>
          </a:p>
        </p:txBody>
      </p:sp>
      <p:sp>
        <p:nvSpPr>
          <p:cNvPr id="10" name="Rectangle 9"/>
          <p:cNvSpPr/>
          <p:nvPr/>
        </p:nvSpPr>
        <p:spPr>
          <a:xfrm>
            <a:off x="731520" y="1371600"/>
            <a:ext cx="10728655" cy="19050"/>
          </a:xfrm>
          <a:prstGeom prst="rect">
            <a:avLst/>
          </a:prstGeom>
          <a:solidFill>
            <a:srgbClr val="C5A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10728655" cy="4389120"/>
          </a:xfrm>
          <a:prstGeom prst="rect">
            <a:avLst/>
          </a:prstGeom>
          <a:noFill/>
        </p:spPr>
        <p:txBody>
          <a:bodyPr wrap="square" lIns="0" tIns="0" rIns="0" bIns="0">
            <a:spAutoFit/>
          </a:bodyPr>
          <a:lstStyle/>
          <a:p>
            <a:pPr>
              <a:spcBef>
                <a:spcPts val="400"/>
              </a:spcBef>
              <a:spcAft>
                <a:spcPts val="800"/>
              </a:spcAft>
            </a:pPr>
            <a:r>
              <a:rPr b="1" sz="2000">
                <a:solidFill>
                  <a:srgbClr val="C5A880"/>
                </a:solidFill>
                <a:latin typeface="M PLUS Rounded 1c"/>
              </a:rPr>
              <a:t>✦ </a:t>
            </a:r>
            <a:r>
              <a:rPr sz="2000">
                <a:solidFill>
                  <a:srgbClr val="3C3C3C"/>
                </a:solidFill>
                <a:latin typeface="M PLUS Rounded 1c"/>
              </a:rPr>
              <a:t>[ ] </a:t>
            </a:r>
            <a:r>
              <a:rPr b="1" sz="2000">
                <a:solidFill>
                  <a:srgbClr val="8C6D3E"/>
                </a:solidFill>
                <a:latin typeface="M PLUS Rounded 1c"/>
              </a:rPr>
              <a:t>填寫一對一品牌診斷表單</a:t>
            </a:r>
            <a:r>
              <a:rPr sz="2000">
                <a:solidFill>
                  <a:srgbClr val="3C3C3C"/>
                </a:solidFill>
                <a:latin typeface="M PLUS Rounded 1c"/>
              </a:rPr>
              <a:t>：把握免費診斷名額，貼上自媒體連結，並在 LINE OA回報「全名 + 時段」。</a:t>
            </a:r>
          </a:p>
          <a:p>
            <a:pPr>
              <a:spcBef>
                <a:spcPts val="400"/>
              </a:spcBef>
              <a:spcAft>
                <a:spcPts val="800"/>
              </a:spcAft>
            </a:pPr>
            <a:r>
              <a:rPr b="1" sz="2000">
                <a:solidFill>
                  <a:srgbClr val="C5A880"/>
                </a:solidFill>
                <a:latin typeface="M PLUS Rounded 1c"/>
              </a:rPr>
              <a:t>✦ </a:t>
            </a:r>
            <a:r>
              <a:rPr sz="2000">
                <a:solidFill>
                  <a:srgbClr val="3C3C3C"/>
                </a:solidFill>
                <a:latin typeface="M PLUS Rounded 1c"/>
              </a:rPr>
              <a:t>[ ] </a:t>
            </a:r>
            <a:r>
              <a:rPr b="1" sz="2000">
                <a:solidFill>
                  <a:srgbClr val="8C6D3E"/>
                </a:solidFill>
                <a:latin typeface="M PLUS Rounded 1c"/>
              </a:rPr>
              <a:t>LINE 好友 ABC 分類</a:t>
            </a:r>
            <a:r>
              <a:rPr sz="2000">
                <a:solidFill>
                  <a:srgbClr val="3C3C3C"/>
                </a:solidFill>
                <a:latin typeface="M PLUS Rounded 1c"/>
              </a:rPr>
              <a:t>：檢查手機名單，用特殊符號為 B/C 級及潛在 A 級客戶進行標籤分類。</a:t>
            </a:r>
          </a:p>
          <a:p>
            <a:pPr>
              <a:spcBef>
                <a:spcPts val="400"/>
              </a:spcBef>
              <a:spcAft>
                <a:spcPts val="800"/>
              </a:spcAft>
            </a:pPr>
            <a:r>
              <a:rPr b="1" sz="2000">
                <a:solidFill>
                  <a:srgbClr val="C5A880"/>
                </a:solidFill>
                <a:latin typeface="M PLUS Rounded 1c"/>
              </a:rPr>
              <a:t>✦ </a:t>
            </a:r>
            <a:r>
              <a:rPr sz="2000">
                <a:solidFill>
                  <a:srgbClr val="3C3C3C"/>
                </a:solidFill>
                <a:latin typeface="M PLUS Rounded 1c"/>
              </a:rPr>
              <a:t>[ ] </a:t>
            </a:r>
            <a:r>
              <a:rPr b="1" sz="2000">
                <a:solidFill>
                  <a:srgbClr val="8C6D3E"/>
                </a:solidFill>
                <a:latin typeface="M PLUS Rounded 1c"/>
              </a:rPr>
              <a:t>設計 15-30 分鐘體驗個案</a:t>
            </a:r>
            <a:r>
              <a:rPr sz="2000">
                <a:solidFill>
                  <a:srgbClr val="3C3C3C"/>
                </a:solidFill>
                <a:latin typeface="M PLUS Rounded 1c"/>
              </a:rPr>
              <a:t>：設定 NTD 111 / 199 體驗方案，並設計口頭定位句與 QR Code 電子名片。</a:t>
            </a:r>
          </a:p>
          <a:p>
            <a:pPr>
              <a:spcBef>
                <a:spcPts val="400"/>
              </a:spcBef>
              <a:spcAft>
                <a:spcPts val="800"/>
              </a:spcAft>
            </a:pPr>
            <a:r>
              <a:rPr b="1" sz="2000">
                <a:solidFill>
                  <a:srgbClr val="C5A880"/>
                </a:solidFill>
                <a:latin typeface="M PLUS Rounded 1c"/>
              </a:rPr>
              <a:t>✦ </a:t>
            </a:r>
            <a:r>
              <a:rPr sz="2000">
                <a:solidFill>
                  <a:srgbClr val="3C3C3C"/>
                </a:solidFill>
                <a:latin typeface="M PLUS Rounded 1c"/>
              </a:rPr>
              <a:t>[ ] </a:t>
            </a:r>
            <a:r>
              <a:rPr b="1" sz="2000">
                <a:solidFill>
                  <a:srgbClr val="8C6D3E"/>
                </a:solidFill>
                <a:latin typeface="M PLUS Rounded 1c"/>
              </a:rPr>
              <a:t>規劃高價值高成效方案</a:t>
            </a:r>
            <a:r>
              <a:rPr sz="2000">
                <a:solidFill>
                  <a:srgbClr val="3C3C3C"/>
                </a:solidFill>
                <a:latin typeface="M PLUS Rounded 1c"/>
              </a:rPr>
              <a:t>：針對特定轉化目標，設計 NTD 12,000 以上的套裝服務與分期機制。</a:t>
            </a:r>
          </a:p>
          <a:p>
            <a:pPr>
              <a:spcBef>
                <a:spcPts val="400"/>
              </a:spcBef>
              <a:spcAft>
                <a:spcPts val="800"/>
              </a:spcAft>
            </a:pPr>
            <a:r>
              <a:rPr b="1" sz="2000">
                <a:solidFill>
                  <a:srgbClr val="C5A880"/>
                </a:solidFill>
                <a:latin typeface="M PLUS Rounded 1c"/>
              </a:rPr>
              <a:t>✦ </a:t>
            </a:r>
            <a:r>
              <a:rPr sz="2000">
                <a:solidFill>
                  <a:srgbClr val="3C3C3C"/>
                </a:solidFill>
                <a:latin typeface="M PLUS Rounded 1c"/>
              </a:rPr>
              <a:t>[ ] </a:t>
            </a:r>
            <a:r>
              <a:rPr b="1" sz="2000">
                <a:solidFill>
                  <a:srgbClr val="8C6D3E"/>
                </a:solidFill>
                <a:latin typeface="M PLUS Rounded 1c"/>
              </a:rPr>
              <a:t>整理線上課程大綱</a:t>
            </a:r>
            <a:r>
              <a:rPr sz="2000">
                <a:solidFill>
                  <a:srgbClr val="3C3C3C"/>
                </a:solidFill>
                <a:latin typeface="M PLUS Rounded 1c"/>
              </a:rPr>
              <a:t>：將核心技術或基礎理論規劃為 4-6 單元的預錄線上課大綱。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