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說明會必須在開場的黃金 5 分鐘內直擊痛點並展現獨特價值與案例。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把生硬的行銷學轉化為溫暖的身心靈語言，更能讓學員產生靈魂共鳴。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這三要素是網路行銷的黃金鐵三角，缺一不可。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這12個字是總監行銷實戰的心法精髓，越簡單越有力量。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這是正統企業行銷顧問的底層流程，讓學員學會「以不變應萬變」的功夫。</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結合 AI 客觀視角與他人回饋，比主觀的盲目探索更有效率。</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痛苦的覺察與原生家庭的翻轉，是身心靈工作者定位的關鍵突破口。</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Ikigai 的交集點，就是你個人品牌變現與熱情持續的甜蜜點。</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前四堂課專注在打底、定位探索與心靈療癒，這是後續變現的根基。</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後六堂課專注於實戰工具、社群文案、商業格局與最後的成果驗收。</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控制了認知入口就控制了流量與財富，這是平台化運作的核心。</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一站式服務將線上認知轉化為線下實體消費與產品銷售，實現完美變現閉環。</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互利共贏是這個商業模式能夠長久運作的底層動力。</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專注於內容與人性，你就不需要天天追逐演算法的變化。</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掌握這四大要素，就能系統化地產出高互動的熱門貼文。</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3200400"/>
          </a:xfrm>
          <a:prstGeom prst="rect">
            <a:avLst/>
          </a:prstGeom>
          <a:noFill/>
        </p:spPr>
        <p:txBody>
          <a:bodyPr wrap="square" lIns="0" tIns="0" rIns="0" bIns="0">
            <a:spAutoFit/>
          </a:bodyPr>
          <a:lstStyle/>
          <a:p>
            <a:pPr algn="ctr">
              <a:spcAft>
                <a:spcPts val="1400"/>
              </a:spcAft>
            </a:pPr>
            <a:r>
              <a:rPr sz="4400" b="1">
                <a:solidFill>
                  <a:srgbClr val="C084FC"/>
                </a:solidFill>
                <a:latin typeface="Microsoft JhengHei"/>
              </a:rPr>
              <a:t>陳仲豪總監說明會與課程規劃</a:t>
            </a:r>
          </a:p>
          <a:p>
            <a:pPr algn="ctr"/>
            <a:r>
              <a:rPr sz="2400">
                <a:solidFill>
                  <a:srgbClr val="818CF8"/>
                </a:solidFill>
                <a:latin typeface="Microsoft JhengHei"/>
              </a:rPr>
              <a:t>商業行銷與變現系統指南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內容核心摘要</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600"/>
              </a:spcBef>
              <a:spcAft>
                <a:spcPts val="1000"/>
              </a:spcAft>
            </a:pPr>
            <a:r>
              <a:rPr sz="2000">
                <a:solidFill>
                  <a:srgbClr val="F1F5F9"/>
                </a:solidFill>
                <a:latin typeface="Microsoft JhengHei"/>
              </a:rPr>
              <a:t>本簡報結合「陳仲豪總監說明會」與「十堂行銷課程規劃」，旨在為生心靈工作者及創業者提供一套從個人定位到流量變現的系統化商業指南。</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核心觀點</a:t>
            </a:r>
            <a:r>
              <a:rPr sz="2000">
                <a:solidFill>
                  <a:srgbClr val="F1F5F9"/>
                </a:solidFill>
                <a:latin typeface="Microsoft JhengHei"/>
              </a:rPr>
              <a:t>：行銷的本質是</a:t>
            </a:r>
            <a:r>
              <a:rPr b="1" sz="2000">
                <a:solidFill>
                  <a:srgbClr val="F472B6"/>
                </a:solidFill>
                <a:latin typeface="Microsoft JhengHei"/>
              </a:rPr>
              <a:t>利他</a:t>
            </a:r>
            <a:r>
              <a:rPr sz="2000">
                <a:solidFill>
                  <a:srgbClr val="F1F5F9"/>
                </a:solidFill>
                <a:latin typeface="Microsoft JhengHei"/>
              </a:rPr>
              <a:t>，即幫助他人</a:t>
            </a:r>
            <a:r>
              <a:rPr b="1" sz="2000">
                <a:solidFill>
                  <a:srgbClr val="F472B6"/>
                </a:solidFill>
                <a:latin typeface="Microsoft JhengHei"/>
              </a:rPr>
              <a:t>離苦得樂</a:t>
            </a:r>
            <a:r>
              <a:rPr sz="2000">
                <a:solidFill>
                  <a:srgbClr val="F1F5F9"/>
                </a:solidFill>
                <a:latin typeface="Microsoft JhengHei"/>
              </a:rPr>
              <a:t>。</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12字精髓</a:t>
            </a:r>
            <a:r>
              <a:rPr sz="2000">
                <a:solidFill>
                  <a:srgbClr val="F1F5F9"/>
                </a:solidFill>
                <a:latin typeface="Microsoft JhengHei"/>
              </a:rPr>
              <a:t>：</a:t>
            </a:r>
            <a:r>
              <a:rPr b="1" sz="2000">
                <a:solidFill>
                  <a:srgbClr val="F472B6"/>
                </a:solidFill>
                <a:latin typeface="Microsoft JhengHei"/>
              </a:rPr>
              <a:t>定位：獨特優勢</a:t>
            </a:r>
            <a:r>
              <a:rPr sz="2000">
                <a:solidFill>
                  <a:srgbClr val="F1F5F9"/>
                </a:solidFill>
                <a:latin typeface="Microsoft JhengHei"/>
              </a:rPr>
              <a:t> $</a:t>
            </a:r>
          </a:p>
          <a:p>
            <a:pPr>
              <a:spcBef>
                <a:spcPts val="600"/>
              </a:spcBef>
              <a:spcAft>
                <a:spcPts val="1000"/>
              </a:spcAft>
            </a:pPr>
            <a:r>
              <a:rPr sz="2000">
                <a:solidFill>
                  <a:srgbClr val="F1F5F9"/>
                </a:solidFill>
                <a:latin typeface="Microsoft JhengHei"/>
              </a:rPr>
              <a:t>ightarrow$ </a:t>
            </a:r>
            <a:r>
              <a:rPr b="1" sz="2000">
                <a:solidFill>
                  <a:srgbClr val="F472B6"/>
                </a:solidFill>
                <a:latin typeface="Microsoft JhengHei"/>
              </a:rPr>
              <a:t>流量：創造互動</a:t>
            </a:r>
            <a:r>
              <a:rPr sz="2000">
                <a:solidFill>
                  <a:srgbClr val="F1F5F9"/>
                </a:solidFill>
                <a:latin typeface="Microsoft JhengHei"/>
              </a:rPr>
              <a:t> $</a:t>
            </a:r>
          </a:p>
          <a:p>
            <a:pPr>
              <a:spcBef>
                <a:spcPts val="600"/>
              </a:spcBef>
              <a:spcAft>
                <a:spcPts val="1000"/>
              </a:spcAft>
            </a:pPr>
            <a:r>
              <a:rPr sz="2000">
                <a:solidFill>
                  <a:srgbClr val="F1F5F9"/>
                </a:solidFill>
                <a:latin typeface="Microsoft JhengHei"/>
              </a:rPr>
              <a:t>ightarrow$ </a:t>
            </a:r>
            <a:r>
              <a:rPr b="1" sz="2000">
                <a:solidFill>
                  <a:srgbClr val="F472B6"/>
                </a:solidFill>
                <a:latin typeface="Microsoft JhengHei"/>
              </a:rPr>
              <a:t>存量：簡單系統</a:t>
            </a:r>
            <a:r>
              <a:rPr sz="2000">
                <a:solidFill>
                  <a:srgbClr val="F1F5F9"/>
                </a:solidFill>
                <a:latin typeface="Microsoft JhengHei"/>
              </a:rPr>
              <a:t>。</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定位科學</a:t>
            </a:r>
            <a:r>
              <a:rPr sz="2000">
                <a:solidFill>
                  <a:srgbClr val="F1F5F9"/>
                </a:solidFill>
                <a:latin typeface="Microsoft JhengHei"/>
              </a:rPr>
              <a:t>：結合自傳覺察、他人回饋與 </a:t>
            </a:r>
            <a:r>
              <a:rPr b="1" sz="2000">
                <a:solidFill>
                  <a:srgbClr val="F472B6"/>
                </a:solidFill>
                <a:latin typeface="Microsoft JhengHei"/>
              </a:rPr>
              <a:t>Ikigai（生命意義）</a:t>
            </a:r>
            <a:r>
              <a:rPr sz="2000">
                <a:solidFill>
                  <a:srgbClr val="F1F5F9"/>
                </a:solidFill>
                <a:latin typeface="Microsoft JhengHei"/>
              </a:rPr>
              <a:t> 科學化定位。</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終極變現</a:t>
            </a:r>
            <a:r>
              <a:rPr sz="2000">
                <a:solidFill>
                  <a:srgbClr val="F1F5F9"/>
                </a:solidFill>
                <a:latin typeface="Microsoft JhengHei"/>
              </a:rPr>
              <a:t>：以 </a:t>
            </a:r>
            <a:r>
              <a:rPr b="1" sz="2000">
                <a:solidFill>
                  <a:srgbClr val="F472B6"/>
                </a:solidFill>
                <a:latin typeface="Microsoft JhengHei"/>
              </a:rPr>
              <a:t>「真靈光」</a:t>
            </a:r>
            <a:r>
              <a:rPr sz="2000">
                <a:solidFill>
                  <a:srgbClr val="F1F5F9"/>
                </a:solidFill>
                <a:latin typeface="Microsoft JhengHei"/>
              </a:rPr>
              <a:t> 作為生心靈一站式服務入口，將流量導入實體與個案諮詢。</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重點大綱</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一、 說明會開場與針對性簡報策略</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二、 網路行銷三要素與底層邏輯</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三、 科學化個人定位探索方法</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四、 十堂行銷與變現課程架構</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五、 頂級布局：生心靈一站式服務平台</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六、 流量與社群爆款心法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一、 說明會開場與針對性簡報策略</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針對「陳老師」個性的開場設計</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說明會前 5 分鐘的關鍵重點</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講故事比講學術理論更重要</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行銷的「身心靈」翻譯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針對陳老師的開場設計</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陳老師的個性特質</a:t>
            </a:r>
            <a:r>
              <a:rPr sz="2000">
                <a:solidFill>
                  <a:srgbClr val="F1F5F9"/>
                </a:solidFill>
                <a:latin typeface="Microsoft JhengHei"/>
              </a:rPr>
              <a:t>：只聽重點。前 5 分鐘如果沒有吸引到他，後面他就聽不下去了。</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開場三要素</a:t>
            </a:r>
            <a:r>
              <a:rPr sz="2000">
                <a:solidFill>
                  <a:srgbClr val="F1F5F9"/>
                </a:solidFill>
                <a:latin typeface="Microsoft JhengHei"/>
              </a:rPr>
              <a:t>：</a:t>
            </a:r>
          </a:p>
          <a:p>
            <a:pPr lvl="2">
              <a:spcBef>
                <a:spcPts val="400"/>
              </a:spcBef>
              <a:spcAft>
                <a:spcPts val="800"/>
              </a:spcAft>
            </a:pPr>
            <a:r>
              <a:rPr b="1" sz="1600">
                <a:solidFill>
                  <a:srgbClr val="818CF8"/>
                </a:solidFill>
                <a:latin typeface="Microsoft JhengHei"/>
              </a:rPr>
              <a:t>1. </a:t>
            </a:r>
            <a:r>
              <a:rPr b="1" sz="1600">
                <a:solidFill>
                  <a:srgbClr val="F472B6"/>
                </a:solidFill>
                <a:latin typeface="Microsoft JhengHei"/>
              </a:rPr>
              <a:t>獨特優勢</a:t>
            </a:r>
            <a:r>
              <a:rPr sz="1600">
                <a:solidFill>
                  <a:srgbClr val="F1F5F9"/>
                </a:solidFill>
                <a:latin typeface="Microsoft JhengHei"/>
              </a:rPr>
              <a:t>：我們有什麼不同？</a:t>
            </a:r>
          </a:p>
          <a:p>
            <a:pPr lvl="2">
              <a:spcBef>
                <a:spcPts val="400"/>
              </a:spcBef>
              <a:spcAft>
                <a:spcPts val="800"/>
              </a:spcAft>
            </a:pPr>
            <a:r>
              <a:rPr b="1" sz="1600">
                <a:solidFill>
                  <a:srgbClr val="818CF8"/>
                </a:solidFill>
                <a:latin typeface="Microsoft JhengHei"/>
              </a:rPr>
              <a:t>2. </a:t>
            </a:r>
            <a:r>
              <a:rPr b="1" sz="1600">
                <a:solidFill>
                  <a:srgbClr val="F472B6"/>
                </a:solidFill>
                <a:latin typeface="Microsoft JhengHei"/>
              </a:rPr>
              <a:t>解決問題</a:t>
            </a:r>
            <a:r>
              <a:rPr sz="1600">
                <a:solidFill>
                  <a:srgbClr val="F1F5F9"/>
                </a:solidFill>
                <a:latin typeface="Microsoft JhengHei"/>
              </a:rPr>
              <a:t>：解決什麼生心靈產業的痛點？</a:t>
            </a:r>
          </a:p>
          <a:p>
            <a:pPr lvl="2">
              <a:spcBef>
                <a:spcPts val="400"/>
              </a:spcBef>
              <a:spcAft>
                <a:spcPts val="800"/>
              </a:spcAft>
            </a:pPr>
            <a:r>
              <a:rPr b="1" sz="1600">
                <a:solidFill>
                  <a:srgbClr val="818CF8"/>
                </a:solidFill>
                <a:latin typeface="Microsoft JhengHei"/>
              </a:rPr>
              <a:t>3. </a:t>
            </a:r>
            <a:r>
              <a:rPr b="1" sz="1600">
                <a:solidFill>
                  <a:srgbClr val="F472B6"/>
                </a:solidFill>
                <a:latin typeface="Microsoft JhengHei"/>
              </a:rPr>
              <a:t>適合人群</a:t>
            </a:r>
            <a:r>
              <a:rPr sz="1600">
                <a:solidFill>
                  <a:srgbClr val="F1F5F9"/>
                </a:solidFill>
                <a:latin typeface="Microsoft JhengHei"/>
              </a:rPr>
              <a:t>：什麼人適合這堂課？</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案例秀實力</a:t>
            </a:r>
            <a:r>
              <a:rPr sz="2000">
                <a:solidFill>
                  <a:srgbClr val="F1F5F9"/>
                </a:solidFill>
                <a:latin typeface="Microsoft JhengHei"/>
              </a:rPr>
              <a:t>：介紹背景、生心靈、形象與企業三大案例。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講故事與行銷翻譯</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故事勝於理論</a:t>
            </a:r>
            <a:r>
              <a:rPr sz="2000">
                <a:solidFill>
                  <a:srgbClr val="F1F5F9"/>
                </a:solidFill>
                <a:latin typeface="Microsoft JhengHei"/>
              </a:rPr>
              <a:t>：避免一開始講生硬的學術名詞（如 SWOT、PEST），用故事與人性來包裝。</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行銷的「身心靈」翻譯</a:t>
            </a:r>
            <a:r>
              <a:rPr sz="2000">
                <a:solidFill>
                  <a:srgbClr val="F1F5F9"/>
                </a:solidFill>
                <a:latin typeface="Microsoft JhengHei"/>
              </a:rPr>
              <a:t>：</a:t>
            </a:r>
          </a:p>
          <a:p>
            <a:pPr lvl="2">
              <a:spcBef>
                <a:spcPts val="400"/>
              </a:spcBef>
              <a:spcAft>
                <a:spcPts val="800"/>
              </a:spcAft>
            </a:pPr>
            <a:r>
              <a:rPr b="1" sz="1600">
                <a:solidFill>
                  <a:srgbClr val="818CF8"/>
                </a:solidFill>
                <a:latin typeface="Microsoft JhengHei"/>
              </a:rPr>
              <a:t>• </a:t>
            </a:r>
            <a:r>
              <a:rPr b="1" sz="1600">
                <a:solidFill>
                  <a:srgbClr val="F472B6"/>
                </a:solidFill>
                <a:latin typeface="Microsoft JhengHei"/>
              </a:rPr>
              <a:t>傳統定義</a:t>
            </a:r>
            <a:r>
              <a:rPr sz="1600">
                <a:solidFill>
                  <a:srgbClr val="F1F5F9"/>
                </a:solidFill>
                <a:latin typeface="Microsoft JhengHei"/>
              </a:rPr>
              <a:t>：創造、溝通、傳遞與交換有價值的服務。</a:t>
            </a:r>
          </a:p>
          <a:p>
            <a:pPr lvl="2">
              <a:spcBef>
                <a:spcPts val="400"/>
              </a:spcBef>
              <a:spcAft>
                <a:spcPts val="800"/>
              </a:spcAft>
            </a:pPr>
            <a:r>
              <a:rPr b="1" sz="1600">
                <a:solidFill>
                  <a:srgbClr val="818CF8"/>
                </a:solidFill>
                <a:latin typeface="Microsoft JhengHei"/>
              </a:rPr>
              <a:t>• </a:t>
            </a:r>
            <a:r>
              <a:rPr b="1" sz="1600">
                <a:solidFill>
                  <a:srgbClr val="F472B6"/>
                </a:solidFill>
                <a:latin typeface="Microsoft JhengHei"/>
              </a:rPr>
              <a:t>身心靈語言</a:t>
            </a:r>
            <a:r>
              <a:rPr sz="1600">
                <a:solidFill>
                  <a:srgbClr val="F1F5F9"/>
                </a:solidFill>
                <a:latin typeface="Microsoft JhengHei"/>
              </a:rPr>
              <a:t>：行銷的本質就是 </a:t>
            </a:r>
            <a:r>
              <a:rPr b="1" sz="1600">
                <a:solidFill>
                  <a:srgbClr val="F472B6"/>
                </a:solidFill>
                <a:latin typeface="Microsoft JhengHei"/>
              </a:rPr>
              <a:t>「利他」</a:t>
            </a:r>
            <a:r>
              <a:rPr sz="1600">
                <a:solidFill>
                  <a:srgbClr val="F1F5F9"/>
                </a:solidFill>
                <a:latin typeface="Microsoft JhengHei"/>
              </a:rPr>
              <a:t>，幫助他人 </a:t>
            </a:r>
            <a:r>
              <a:rPr b="1" sz="1600">
                <a:solidFill>
                  <a:srgbClr val="F472B6"/>
                </a:solidFill>
                <a:latin typeface="Microsoft JhengHei"/>
              </a:rPr>
              <a:t>「離苦得樂」</a:t>
            </a:r>
            <a:r>
              <a:rPr sz="1600">
                <a:solidFill>
                  <a:srgbClr val="F1F5F9"/>
                </a:solidFill>
                <a:latin typeface="Microsoft JhengHei"/>
              </a:rPr>
              <a:t>（解決痛苦、解決問題、創造價值）。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二、 網路行銷三要素與底層邏輯</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網路行銷最簡單的三大支柱</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12 字行銷精髓</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企業行銷顧問的五大核心流程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網路行銷三要素</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產品力</a:t>
            </a:r>
            <a:r>
              <a:rPr sz="2000">
                <a:solidFill>
                  <a:srgbClr val="F1F5F9"/>
                </a:solidFill>
                <a:latin typeface="Microsoft JhengHei"/>
              </a:rPr>
              <a:t>：尋找產品的差異化賣點與品牌力，創造如 Apple 新機發表般的認同感與期待感。</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流量力</a:t>
            </a:r>
            <a:r>
              <a:rPr sz="2000">
                <a:solidFill>
                  <a:srgbClr val="F1F5F9"/>
                </a:solidFill>
                <a:latin typeface="Microsoft JhengHei"/>
              </a:rPr>
              <a:t>：流量的底層邏輯是 </a:t>
            </a:r>
            <a:r>
              <a:rPr b="1" sz="2000">
                <a:solidFill>
                  <a:srgbClr val="F472B6"/>
                </a:solidFill>
                <a:latin typeface="Microsoft JhengHei"/>
              </a:rPr>
              <a:t>「互動」</a:t>
            </a:r>
            <a:r>
              <a:rPr sz="2000">
                <a:solidFill>
                  <a:srgbClr val="F1F5F9"/>
                </a:solidFill>
                <a:latin typeface="Microsoft JhengHei"/>
              </a:rPr>
              <a:t>，透過創造大量留言數來獲取演算法推薦。</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系統力</a:t>
            </a:r>
            <a:r>
              <a:rPr sz="2000">
                <a:solidFill>
                  <a:srgbClr val="F1F5F9"/>
                </a:solidFill>
                <a:latin typeface="Microsoft JhengHei"/>
              </a:rPr>
              <a:t>：自動化與工具跟進，實現變現轉換。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12 字行銷精髓</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只要記住 </a:t>
            </a:r>
            <a:r>
              <a:rPr b="1" sz="2000">
                <a:solidFill>
                  <a:srgbClr val="F472B6"/>
                </a:solidFill>
                <a:latin typeface="Microsoft JhengHei"/>
              </a:rPr>
              <a:t>12 個字</a:t>
            </a:r>
            <a:r>
              <a:rPr sz="2000">
                <a:solidFill>
                  <a:srgbClr val="F1F5F9"/>
                </a:solidFill>
                <a:latin typeface="Microsoft JhengHei"/>
              </a:rPr>
              <a:t>，你就能學會行銷與變現的底層邏輯：</a:t>
            </a:r>
          </a:p>
          <a:p>
            <a:pPr lvl="2">
              <a:spcBef>
                <a:spcPts val="400"/>
              </a:spcBef>
              <a:spcAft>
                <a:spcPts val="800"/>
              </a:spcAft>
            </a:pPr>
            <a:r>
              <a:rPr b="1" sz="1600">
                <a:solidFill>
                  <a:srgbClr val="818CF8"/>
                </a:solidFill>
                <a:latin typeface="Microsoft JhengHei"/>
              </a:rPr>
              <a:t>1. </a:t>
            </a:r>
            <a:r>
              <a:rPr b="1" sz="1600">
                <a:solidFill>
                  <a:srgbClr val="F472B6"/>
                </a:solidFill>
                <a:latin typeface="Microsoft JhengHei"/>
              </a:rPr>
              <a:t>定位：獨特優勢</a:t>
            </a:r>
            <a:r>
              <a:rPr sz="1600">
                <a:solidFill>
                  <a:srgbClr val="F1F5F9"/>
                </a:solidFill>
                <a:latin typeface="Microsoft JhengHei"/>
              </a:rPr>
              <a:t>（內外在優勢、個人與企業的定位點）</a:t>
            </a:r>
          </a:p>
          <a:p>
            <a:pPr lvl="2">
              <a:spcBef>
                <a:spcPts val="400"/>
              </a:spcBef>
              <a:spcAft>
                <a:spcPts val="800"/>
              </a:spcAft>
            </a:pPr>
            <a:r>
              <a:rPr b="1" sz="1600">
                <a:solidFill>
                  <a:srgbClr val="818CF8"/>
                </a:solidFill>
                <a:latin typeface="Microsoft JhengHei"/>
              </a:rPr>
              <a:t>2. </a:t>
            </a:r>
            <a:r>
              <a:rPr b="1" sz="1600">
                <a:solidFill>
                  <a:srgbClr val="F472B6"/>
                </a:solidFill>
                <a:latin typeface="Microsoft JhengHei"/>
              </a:rPr>
              <a:t>流量：創造互動</a:t>
            </a:r>
            <a:r>
              <a:rPr sz="1600">
                <a:solidFill>
                  <a:srgbClr val="F1F5F9"/>
                </a:solidFill>
                <a:latin typeface="Microsoft JhengHei"/>
              </a:rPr>
              <a:t>（底層邏輯，免除被演算法綁架）</a:t>
            </a:r>
          </a:p>
          <a:p>
            <a:pPr lvl="2">
              <a:spcBef>
                <a:spcPts val="400"/>
              </a:spcBef>
              <a:spcAft>
                <a:spcPts val="800"/>
              </a:spcAft>
            </a:pPr>
            <a:r>
              <a:rPr b="1" sz="1600">
                <a:solidFill>
                  <a:srgbClr val="818CF8"/>
                </a:solidFill>
                <a:latin typeface="Microsoft JhengHei"/>
              </a:rPr>
              <a:t>3. </a:t>
            </a:r>
            <a:r>
              <a:rPr b="1" sz="1600">
                <a:solidFill>
                  <a:srgbClr val="F472B6"/>
                </a:solidFill>
                <a:latin typeface="Microsoft JhengHei"/>
              </a:rPr>
              <a:t>存量：簡單系統</a:t>
            </a:r>
            <a:r>
              <a:rPr sz="1600">
                <a:solidFill>
                  <a:srgbClr val="F1F5F9"/>
                </a:solidFill>
                <a:latin typeface="Microsoft JhengHei"/>
              </a:rPr>
              <a:t>（自動化跟進與變現系統）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企業行銷顧問五大核心流程</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1. </a:t>
            </a:r>
            <a:r>
              <a:rPr b="1" sz="2000">
                <a:solidFill>
                  <a:srgbClr val="F472B6"/>
                </a:solidFill>
                <a:latin typeface="Microsoft JhengHei"/>
              </a:rPr>
              <a:t>界定公司策略與規劃</a:t>
            </a:r>
            <a:r>
              <a:rPr sz="2000">
                <a:solidFill>
                  <a:srgbClr val="F1F5F9"/>
                </a:solidFill>
                <a:latin typeface="Microsoft JhengHei"/>
              </a:rPr>
              <a:t>：確立公司的使命、願景與價值觀。</a:t>
            </a:r>
          </a:p>
          <a:p>
            <a:pPr>
              <a:spcBef>
                <a:spcPts val="400"/>
              </a:spcBef>
              <a:spcAft>
                <a:spcPts val="800"/>
              </a:spcAft>
            </a:pPr>
            <a:r>
              <a:rPr b="1" sz="2000">
                <a:solidFill>
                  <a:srgbClr val="818CF8"/>
                </a:solidFill>
                <a:latin typeface="Microsoft JhengHei"/>
              </a:rPr>
              <a:t>2. </a:t>
            </a:r>
            <a:r>
              <a:rPr b="1" sz="2000">
                <a:solidFill>
                  <a:srgbClr val="F472B6"/>
                </a:solidFill>
                <a:latin typeface="Microsoft JhengHei"/>
              </a:rPr>
              <a:t>界定個人定位</a:t>
            </a:r>
            <a:r>
              <a:rPr sz="2000">
                <a:solidFill>
                  <a:srgbClr val="F1F5F9"/>
                </a:solidFill>
                <a:latin typeface="Microsoft JhengHei"/>
              </a:rPr>
              <a:t>：確立個人定位、夢想與人設。</a:t>
            </a:r>
          </a:p>
          <a:p>
            <a:pPr>
              <a:spcBef>
                <a:spcPts val="400"/>
              </a:spcBef>
              <a:spcAft>
                <a:spcPts val="800"/>
              </a:spcAft>
            </a:pPr>
            <a:r>
              <a:rPr b="1" sz="2000">
                <a:solidFill>
                  <a:srgbClr val="818CF8"/>
                </a:solidFill>
                <a:latin typeface="Microsoft JhengHei"/>
              </a:rPr>
              <a:t>3. </a:t>
            </a:r>
            <a:r>
              <a:rPr b="1" sz="2000">
                <a:solidFill>
                  <a:srgbClr val="F472B6"/>
                </a:solidFill>
                <a:latin typeface="Microsoft JhengHei"/>
              </a:rPr>
              <a:t>分析內外部環境</a:t>
            </a:r>
            <a:r>
              <a:rPr sz="2000">
                <a:solidFill>
                  <a:srgbClr val="F1F5F9"/>
                </a:solidFill>
                <a:latin typeface="Microsoft JhengHei"/>
              </a:rPr>
              <a:t>：使用 SWOT（優劣勢）與 PEST（政治、經濟、社會、科技）分析。</a:t>
            </a:r>
          </a:p>
          <a:p>
            <a:pPr>
              <a:spcBef>
                <a:spcPts val="400"/>
              </a:spcBef>
              <a:spcAft>
                <a:spcPts val="800"/>
              </a:spcAft>
            </a:pPr>
            <a:r>
              <a:rPr b="1" sz="2000">
                <a:solidFill>
                  <a:srgbClr val="818CF8"/>
                </a:solidFill>
                <a:latin typeface="Microsoft JhengHei"/>
              </a:rPr>
              <a:t>4. </a:t>
            </a:r>
            <a:r>
              <a:rPr b="1" sz="2000">
                <a:solidFill>
                  <a:srgbClr val="F472B6"/>
                </a:solidFill>
                <a:latin typeface="Microsoft JhengHei"/>
              </a:rPr>
              <a:t>區隔與定位</a:t>
            </a:r>
            <a:r>
              <a:rPr sz="2000">
                <a:solidFill>
                  <a:srgbClr val="F1F5F9"/>
                </a:solidFill>
                <a:latin typeface="Microsoft JhengHei"/>
              </a:rPr>
              <a:t>：在市場中尋找獨特且可以切入的打點（STP與差異化）。</a:t>
            </a:r>
          </a:p>
          <a:p>
            <a:pPr>
              <a:spcBef>
                <a:spcPts val="400"/>
              </a:spcBef>
              <a:spcAft>
                <a:spcPts val="800"/>
              </a:spcAft>
            </a:pPr>
            <a:r>
              <a:rPr b="1" sz="2000">
                <a:solidFill>
                  <a:srgbClr val="818CF8"/>
                </a:solidFill>
                <a:latin typeface="Microsoft JhengHei"/>
              </a:rPr>
              <a:t>5. </a:t>
            </a:r>
            <a:r>
              <a:rPr b="1" sz="2000">
                <a:solidFill>
                  <a:srgbClr val="F472B6"/>
                </a:solidFill>
                <a:latin typeface="Microsoft JhengHei"/>
              </a:rPr>
              <a:t>商業模式與修正</a:t>
            </a:r>
            <a:r>
              <a:rPr sz="2000">
                <a:solidFill>
                  <a:srgbClr val="F1F5F9"/>
                </a:solidFill>
                <a:latin typeface="Microsoft JhengHei"/>
              </a:rPr>
              <a:t>：進入流量、諮詢、課程、產品與工具的對接及修正。</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三、 科學化個人定位探索方法</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找不到定位的解決方案</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流水帳自傳與 AI 分析</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原生家庭的覺察與療癒</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Ikigai 生命意義科學定位</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流水帳自傳與 AI 客觀分析</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自傳寫法</a:t>
            </a:r>
            <a:r>
              <a:rPr sz="2000">
                <a:solidFill>
                  <a:srgbClr val="F1F5F9"/>
                </a:solidFill>
                <a:latin typeface="Microsoft JhengHei"/>
              </a:rPr>
              <a:t>：以工程師/AI 能看懂的方式，撰寫從小到大的故事與痛苦經歷，客觀記錄事實，不帶情緒與感情。</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AI 客觀分析</a:t>
            </a:r>
            <a:r>
              <a:rPr sz="2000">
                <a:solidFill>
                  <a:srgbClr val="F1F5F9"/>
                </a:solidFill>
                <a:latin typeface="Microsoft JhengHei"/>
              </a:rPr>
              <a:t>：將事實自傳輸入給 AI，由客觀角度分析個人天賦與才華。</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他人建議角度</a:t>
            </a:r>
            <a:r>
              <a:rPr sz="2000">
                <a:solidFill>
                  <a:srgbClr val="F1F5F9"/>
                </a:solidFill>
                <a:latin typeface="Microsoft JhengHei"/>
              </a:rPr>
              <a:t>：收集身邊同學/他人眼中的優點，多維度校準自我特質。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原生家庭的覺察與療癒</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痛苦的翻轉</a:t>
            </a:r>
            <a:r>
              <a:rPr sz="2000">
                <a:solidFill>
                  <a:srgbClr val="F1F5F9"/>
                </a:solidFill>
                <a:latin typeface="Microsoft JhengHei"/>
              </a:rPr>
              <a:t>：引導學員在痛苦經歷中進行「覺察」與「重新定義」，將過去的痛苦轉化為獨特優勢。</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關係整理</a:t>
            </a:r>
            <a:r>
              <a:rPr sz="2000">
                <a:solidFill>
                  <a:srgbClr val="F1F5F9"/>
                </a:solidFill>
                <a:latin typeface="Microsoft JhengHei"/>
              </a:rPr>
              <a:t>：整理與父母的關係（父母過去的對待方式，學員長大後如何以新視角重新解讀），透過分享與同學間的回饋，實現深度療癒與定位校準。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Ikigai 生命意義定位</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Ikigai 科學定位</a:t>
            </a:r>
            <a:r>
              <a:rPr sz="2000">
                <a:solidFill>
                  <a:srgbClr val="F1F5F9"/>
                </a:solidFill>
                <a:latin typeface="Microsoft JhengHei"/>
              </a:rPr>
              <a:t>：將四個維度做多重交集，導出專屬的黃金定位：</a:t>
            </a:r>
          </a:p>
          <a:p>
            <a:pPr lvl="2">
              <a:spcBef>
                <a:spcPts val="400"/>
              </a:spcBef>
              <a:spcAft>
                <a:spcPts val="800"/>
              </a:spcAft>
            </a:pPr>
            <a:r>
              <a:rPr b="1" sz="1600">
                <a:solidFill>
                  <a:srgbClr val="818CF8"/>
                </a:solidFill>
                <a:latin typeface="Microsoft JhengHei"/>
              </a:rPr>
              <a:t>1. </a:t>
            </a:r>
            <a:r>
              <a:rPr sz="1600">
                <a:solidFill>
                  <a:srgbClr val="F1F5F9"/>
                </a:solidFill>
                <a:latin typeface="Microsoft JhengHei"/>
              </a:rPr>
              <a:t>你熱愛的事物</a:t>
            </a:r>
          </a:p>
          <a:p>
            <a:pPr lvl="2">
              <a:spcBef>
                <a:spcPts val="400"/>
              </a:spcBef>
              <a:spcAft>
                <a:spcPts val="800"/>
              </a:spcAft>
            </a:pPr>
            <a:r>
              <a:rPr b="1" sz="1600">
                <a:solidFill>
                  <a:srgbClr val="818CF8"/>
                </a:solidFill>
                <a:latin typeface="Microsoft JhengHei"/>
              </a:rPr>
              <a:t>2. </a:t>
            </a:r>
            <a:r>
              <a:rPr sz="1600">
                <a:solidFill>
                  <a:srgbClr val="F1F5F9"/>
                </a:solidFill>
                <a:latin typeface="Microsoft JhengHei"/>
              </a:rPr>
              <a:t>你擅長的事物</a:t>
            </a:r>
          </a:p>
          <a:p>
            <a:pPr lvl="2">
              <a:spcBef>
                <a:spcPts val="400"/>
              </a:spcBef>
              <a:spcAft>
                <a:spcPts val="800"/>
              </a:spcAft>
            </a:pPr>
            <a:r>
              <a:rPr b="1" sz="1600">
                <a:solidFill>
                  <a:srgbClr val="818CF8"/>
                </a:solidFill>
                <a:latin typeface="Microsoft JhengHei"/>
              </a:rPr>
              <a:t>3. </a:t>
            </a:r>
            <a:r>
              <a:rPr sz="1600">
                <a:solidFill>
                  <a:srgbClr val="F1F5F9"/>
                </a:solidFill>
                <a:latin typeface="Microsoft JhengHei"/>
              </a:rPr>
              <a:t>世界需要的事物</a:t>
            </a:r>
          </a:p>
          <a:p>
            <a:pPr lvl="2">
              <a:spcBef>
                <a:spcPts val="400"/>
              </a:spcBef>
              <a:spcAft>
                <a:spcPts val="800"/>
              </a:spcAft>
            </a:pPr>
            <a:r>
              <a:rPr b="1" sz="1600">
                <a:solidFill>
                  <a:srgbClr val="818CF8"/>
                </a:solidFill>
                <a:latin typeface="Microsoft JhengHei"/>
              </a:rPr>
              <a:t>4. </a:t>
            </a:r>
            <a:r>
              <a:rPr sz="1600">
                <a:solidFill>
                  <a:srgbClr val="F1F5F9"/>
                </a:solidFill>
                <a:latin typeface="Microsoft JhengHei"/>
              </a:rPr>
              <a:t>能讓你獲得報酬的事物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四、 十堂行銷與變現課程架構</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課程前段：定位、使命與覺察</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課程中段：社群流量與文案公式</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課程後段：商業格局與變現系統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十堂課程架構規劃 (1/2)</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第一堂課：行銷基礎理論</a:t>
            </a:r>
            <a:r>
              <a:rPr sz="2000">
                <a:solidFill>
                  <a:srgbClr val="F1F5F9"/>
                </a:solidFill>
                <a:latin typeface="Microsoft JhengHei"/>
              </a:rPr>
              <a:t>：說明會內容複習、行銷基本定義（利他觀點）、現況分析。</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第二堂課：客觀定位檢測</a:t>
            </a:r>
            <a:r>
              <a:rPr sz="2000">
                <a:solidFill>
                  <a:srgbClr val="F1F5F9"/>
                </a:solidFill>
                <a:latin typeface="Microsoft JhengHei"/>
              </a:rPr>
              <a:t>：使用 MBTI、DISC、生命靈數、人類圖等檢測。發布社群「暖身型貼文」。</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第三、四堂課：自傳撰寫與原生家庭覺察</a:t>
            </a:r>
            <a:r>
              <a:rPr sz="2000">
                <a:solidFill>
                  <a:srgbClr val="F1F5F9"/>
                </a:solidFill>
                <a:latin typeface="Microsoft JhengHei"/>
              </a:rPr>
              <a:t>：撰寫自傳，在痛苦中進行覺察與重新定義（翻轉為優勢）。整理原生家庭關係。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十堂課程架構規劃 (2/2)</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第五、六堂課：社群流量與文案格式</a:t>
            </a:r>
            <a:r>
              <a:rPr sz="2000">
                <a:solidFill>
                  <a:srgbClr val="F1F5F9"/>
                </a:solidFill>
                <a:latin typeface="Microsoft JhengHei"/>
              </a:rPr>
              <a:t>：Facebook、Line 與 Threads。結合 Threads 課程精華，傳授銷售文案公式、影片 77 種編法、Threads 100 種文章套用公式。</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第七、八堂課：商業模式、格局與變現層次</a:t>
            </a:r>
            <a:r>
              <a:rPr sz="2000">
                <a:solidFill>
                  <a:srgbClr val="F1F5F9"/>
                </a:solidFill>
                <a:latin typeface="Microsoft JhengHei"/>
              </a:rPr>
              <a:t>：講授商業格局與富豪的系統思維，從底層打工思維提升至生態鏈格局。</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第九、十堂課：信任銷售與畢業典禮</a:t>
            </a:r>
            <a:r>
              <a:rPr sz="2000">
                <a:solidFill>
                  <a:srgbClr val="F1F5F9"/>
                </a:solidFill>
                <a:latin typeface="Microsoft JhengHei"/>
              </a:rPr>
              <a:t>：建立信任與簡單銷售邏輯。數據成果展示、企劃呈現與畢業發錢。</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五、 頂級布局：生心靈一站式服務平台</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借鏡艾莫老師的認知入口模式</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平台的變現路徑設計</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「讓老師們有錢賺」的核心訴求</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成為代理商與合作夥伴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認知入口與平台設計</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自建入口</a:t>
            </a:r>
            <a:r>
              <a:rPr sz="2000">
                <a:solidFill>
                  <a:srgbClr val="F1F5F9"/>
                </a:solidFill>
                <a:latin typeface="Microsoft JhengHei"/>
              </a:rPr>
              <a:t>：不要將平台寄託在 YouTube 等會破碎化注意力的平台，而是自建網站/APP，牢牢控制「認知入口」。</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視覺風格</a:t>
            </a:r>
            <a:r>
              <a:rPr sz="2000">
                <a:solidFill>
                  <a:srgbClr val="F1F5F9"/>
                </a:solidFill>
                <a:latin typeface="Microsoft JhengHei"/>
              </a:rPr>
              <a:t>：採用紅白金配色（非 Apple 黃色調）。</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避開敏感詞</a:t>
            </a:r>
            <a:r>
              <a:rPr sz="2000">
                <a:solidFill>
                  <a:srgbClr val="F1F5F9"/>
                </a:solidFill>
                <a:latin typeface="Microsoft JhengHei"/>
              </a:rPr>
              <a:t>：定名為 </a:t>
            </a:r>
            <a:r>
              <a:rPr b="1" sz="2000">
                <a:solidFill>
                  <a:srgbClr val="F472B6"/>
                </a:solidFill>
                <a:latin typeface="Microsoft JhengHei"/>
              </a:rPr>
              <a:t>「生心靈一站式服務入口」</a:t>
            </a:r>
            <a:r>
              <a:rPr sz="2000">
                <a:solidFill>
                  <a:srgbClr val="F1F5F9"/>
                </a:solidFill>
                <a:latin typeface="Microsoft JhengHei"/>
              </a:rPr>
              <a:t>、</a:t>
            </a:r>
            <a:r>
              <a:rPr b="1" sz="2000">
                <a:solidFill>
                  <a:srgbClr val="F472B6"/>
                </a:solidFill>
                <a:latin typeface="Microsoft JhengHei"/>
              </a:rPr>
              <a:t>「生心靈認知入口」</a:t>
            </a:r>
            <a:r>
              <a:rPr sz="2000">
                <a:solidFill>
                  <a:srgbClr val="F1F5F9"/>
                </a:solidFill>
                <a:latin typeface="Microsoft JhengHei"/>
              </a:rPr>
              <a:t> 或 </a:t>
            </a:r>
            <a:r>
              <a:rPr b="1" sz="2000">
                <a:solidFill>
                  <a:srgbClr val="F472B6"/>
                </a:solidFill>
                <a:latin typeface="Microsoft JhengHei"/>
              </a:rPr>
              <a:t>「生心靈教育」</a:t>
            </a:r>
            <a:r>
              <a:rPr sz="2000">
                <a:solidFill>
                  <a:srgbClr val="F1F5F9"/>
                </a:solidFill>
                <a:latin typeface="Microsoft JhengHei"/>
              </a:rPr>
              <a:t>，避免「療癒」等字眼以符合規範。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變現路徑設計</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1. </a:t>
            </a:r>
            <a:r>
              <a:rPr b="1" sz="2000">
                <a:solidFill>
                  <a:srgbClr val="F472B6"/>
                </a:solidFill>
                <a:latin typeface="Microsoft JhengHei"/>
              </a:rPr>
              <a:t>教育與認知引導</a:t>
            </a:r>
            <a:r>
              <a:rPr sz="2000">
                <a:solidFill>
                  <a:srgbClr val="F1F5F9"/>
                </a:solidFill>
                <a:latin typeface="Microsoft JhengHei"/>
              </a:rPr>
              <a:t>：提供正派、系統化且正確的生心靈觀念，吸引並留住流量。</a:t>
            </a:r>
          </a:p>
          <a:p>
            <a:pPr>
              <a:spcBef>
                <a:spcPts val="400"/>
              </a:spcBef>
              <a:spcAft>
                <a:spcPts val="800"/>
              </a:spcAft>
            </a:pPr>
            <a:r>
              <a:rPr b="1" sz="2000">
                <a:solidFill>
                  <a:srgbClr val="818CF8"/>
                </a:solidFill>
                <a:latin typeface="Microsoft JhengHei"/>
              </a:rPr>
              <a:t>2. </a:t>
            </a:r>
            <a:r>
              <a:rPr b="1" sz="2000">
                <a:solidFill>
                  <a:srgbClr val="F472B6"/>
                </a:solidFill>
                <a:latin typeface="Microsoft JhengHei"/>
              </a:rPr>
              <a:t>線上簡易諮詢</a:t>
            </a:r>
            <a:r>
              <a:rPr sz="2000">
                <a:solidFill>
                  <a:srgbClr val="F1F5F9"/>
                </a:solidFill>
                <a:latin typeface="Microsoft JhengHei"/>
              </a:rPr>
              <a:t>：使用者上傳影片或資料，由後台服務人員提供分析報告（收費 </a:t>
            </a:r>
            <a:r>
              <a:rPr b="1" sz="2000">
                <a:solidFill>
                  <a:srgbClr val="F472B6"/>
                </a:solidFill>
                <a:latin typeface="Microsoft JhengHei"/>
              </a:rPr>
              <a:t>1,000 元 NTD</a:t>
            </a:r>
            <a:r>
              <a:rPr sz="2000">
                <a:solidFill>
                  <a:srgbClr val="F1F5F9"/>
                </a:solidFill>
                <a:latin typeface="Microsoft JhengHei"/>
              </a:rPr>
              <a:t> / 約 </a:t>
            </a:r>
            <a:r>
              <a:rPr b="1" sz="2000">
                <a:solidFill>
                  <a:srgbClr val="F472B6"/>
                </a:solidFill>
                <a:latin typeface="Microsoft JhengHei"/>
              </a:rPr>
              <a:t>30 元 USD</a:t>
            </a:r>
            <a:r>
              <a:rPr sz="2000">
                <a:solidFill>
                  <a:srgbClr val="F1F5F9"/>
                </a:solidFill>
                <a:latin typeface="Microsoft JhengHei"/>
              </a:rPr>
              <a:t>）。</a:t>
            </a:r>
          </a:p>
          <a:p>
            <a:pPr>
              <a:spcBef>
                <a:spcPts val="400"/>
              </a:spcBef>
              <a:spcAft>
                <a:spcPts val="800"/>
              </a:spcAft>
            </a:pPr>
            <a:r>
              <a:rPr b="1" sz="2000">
                <a:solidFill>
                  <a:srgbClr val="818CF8"/>
                </a:solidFill>
                <a:latin typeface="Microsoft JhengHei"/>
              </a:rPr>
              <a:t>3. </a:t>
            </a:r>
            <a:r>
              <a:rPr b="1" sz="2000">
                <a:solidFill>
                  <a:srgbClr val="F472B6"/>
                </a:solidFill>
                <a:latin typeface="Microsoft JhengHei"/>
              </a:rPr>
              <a:t>實體與產品變現</a:t>
            </a:r>
            <a:r>
              <a:rPr sz="2000">
                <a:solidFill>
                  <a:srgbClr val="F1F5F9"/>
                </a:solidFill>
                <a:latin typeface="Microsoft JhengHei"/>
              </a:rPr>
              <a:t>：將需求引導至實體診所或產品銷售。</a:t>
            </a:r>
          </a:p>
          <a:p>
            <a:pPr lvl="2">
              <a:spcBef>
                <a:spcPts val="400"/>
              </a:spcBef>
              <a:spcAft>
                <a:spcPts val="800"/>
              </a:spcAft>
            </a:pPr>
            <a:r>
              <a:rPr b="1" sz="1600">
                <a:solidFill>
                  <a:srgbClr val="818CF8"/>
                </a:solidFill>
                <a:latin typeface="Microsoft JhengHei"/>
              </a:rPr>
              <a:t>• </a:t>
            </a:r>
            <a:r>
              <a:rPr b="1" sz="1600">
                <a:solidFill>
                  <a:srgbClr val="F472B6"/>
                </a:solidFill>
                <a:latin typeface="Microsoft JhengHei"/>
              </a:rPr>
              <a:t>生</a:t>
            </a:r>
            <a:r>
              <a:rPr sz="1600">
                <a:solidFill>
                  <a:srgbClr val="F1F5F9"/>
                </a:solidFill>
                <a:latin typeface="Microsoft JhengHei"/>
              </a:rPr>
              <a:t>：透過排汗、排毒引導至葉醫師的產品。</a:t>
            </a:r>
          </a:p>
          <a:p>
            <a:pPr lvl="2">
              <a:spcBef>
                <a:spcPts val="400"/>
              </a:spcBef>
              <a:spcAft>
                <a:spcPts val="800"/>
              </a:spcAft>
            </a:pPr>
            <a:r>
              <a:rPr b="1" sz="1600">
                <a:solidFill>
                  <a:srgbClr val="818CF8"/>
                </a:solidFill>
                <a:latin typeface="Microsoft JhengHei"/>
              </a:rPr>
              <a:t>• </a:t>
            </a:r>
            <a:r>
              <a:rPr b="1" sz="1600">
                <a:solidFill>
                  <a:srgbClr val="F472B6"/>
                </a:solidFill>
                <a:latin typeface="Microsoft JhengHei"/>
              </a:rPr>
              <a:t>心</a:t>
            </a:r>
            <a:r>
              <a:rPr sz="1600">
                <a:solidFill>
                  <a:srgbClr val="F1F5F9"/>
                </a:solidFill>
                <a:latin typeface="Microsoft JhengHei"/>
              </a:rPr>
              <a:t>：引導至合作的諮商師服務。</a:t>
            </a:r>
          </a:p>
          <a:p>
            <a:pPr lvl="2">
              <a:spcBef>
                <a:spcPts val="400"/>
              </a:spcBef>
              <a:spcAft>
                <a:spcPts val="800"/>
              </a:spcAft>
            </a:pPr>
            <a:r>
              <a:rPr b="1" sz="1600">
                <a:solidFill>
                  <a:srgbClr val="818CF8"/>
                </a:solidFill>
                <a:latin typeface="Microsoft JhengHei"/>
              </a:rPr>
              <a:t>• </a:t>
            </a:r>
            <a:r>
              <a:rPr b="1" sz="1600">
                <a:solidFill>
                  <a:srgbClr val="F472B6"/>
                </a:solidFill>
                <a:latin typeface="Microsoft JhengHei"/>
              </a:rPr>
              <a:t>靈</a:t>
            </a:r>
            <a:r>
              <a:rPr sz="1600">
                <a:solidFill>
                  <a:srgbClr val="F1F5F9"/>
                </a:solidFill>
                <a:latin typeface="Microsoft JhengHei"/>
              </a:rPr>
              <a:t>：引導至靈性服務。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讓老師們有錢賺與代理商鋪陳</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幫老師介紹個案</a:t>
            </a:r>
            <a:r>
              <a:rPr sz="2000">
                <a:solidFill>
                  <a:srgbClr val="F1F5F9"/>
                </a:solidFill>
                <a:latin typeface="Microsoft JhengHei"/>
              </a:rPr>
              <a:t>：學員在課程中探索「靈魂定位」或進行「諮詢」時，順勢導向「真靈光」平台。透過平台流量幫老師介紹個案，實現變現（老師有錢賺，是陳老師最看重的核心點）。</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合作夥伴轉化</a:t>
            </a:r>
            <a:r>
              <a:rPr sz="2000">
                <a:solidFill>
                  <a:srgbClr val="F1F5F9"/>
                </a:solidFill>
                <a:latin typeface="Microsoft JhengHei"/>
              </a:rPr>
              <a:t>：最終目的是引導這群學員成為總監的代理商、股東或長期合作伙伴。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六、 流量與社群爆款心法</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內容與人性大於演算法</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時事梗與 Threads 演算法</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爆款貼文的四大要素</a:t>
            </a:r>
          </a:p>
          <a:p>
            <a:pPr>
              <a:spcBef>
                <a:spcPts val="400"/>
              </a:spcBef>
              <a:spcAft>
                <a:spcPts val="800"/>
              </a:spcAft>
            </a:pPr>
            <a:r>
              <a:rPr b="1" sz="2000">
                <a:solidFill>
                  <a:srgbClr val="818CF8"/>
                </a:solidFill>
                <a:latin typeface="Microsoft JhengHei"/>
              </a:rPr>
              <a:t>✦ </a:t>
            </a:r>
            <a:r>
              <a:rPr sz="2000">
                <a:solidFill>
                  <a:srgbClr val="F1F5F9"/>
                </a:solidFill>
                <a:latin typeface="Microsoft JhengHei"/>
              </a:rPr>
              <a:t>如何研究最新的流量趨勢</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內容與人性大於演算法</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專注於人性</a:t>
            </a:r>
            <a:r>
              <a:rPr sz="2000">
                <a:solidFill>
                  <a:srgbClr val="F1F5F9"/>
                </a:solidFill>
                <a:latin typeface="Microsoft JhengHei"/>
              </a:rPr>
              <a:t>：演算法規則每個月都在變，與其被演算法綁架，不如專注於不變的人性。</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內容品質</a:t>
            </a:r>
            <a:r>
              <a:rPr sz="2000">
                <a:solidFill>
                  <a:srgbClr val="F1F5F9"/>
                </a:solidFill>
                <a:latin typeface="Microsoft JhengHei"/>
              </a:rPr>
              <a:t>：專注於做好內容，模仿並改編高流量的優質文章。</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時事梗的威力</a:t>
            </a:r>
            <a:r>
              <a:rPr sz="2000">
                <a:solidFill>
                  <a:srgbClr val="F1F5F9"/>
                </a:solidFill>
                <a:latin typeface="Microsoft JhengHei"/>
              </a:rPr>
              <a:t>：Threads 演算法極重互動。搭上時事梗，在最快時間內用兩三句話寫成短貼文，最容易引爆互動。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爆款貼文四大要素</a:t>
            </a:r>
          </a:p>
        </p:txBody>
      </p:sp>
      <p:sp>
        <p:nvSpPr>
          <p:cNvPr id="4" name="Rectangle 3"/>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818CF8"/>
                </a:solidFill>
                <a:latin typeface="Microsoft JhengHei"/>
              </a:rPr>
              <a:t>1. </a:t>
            </a:r>
            <a:r>
              <a:rPr b="1" sz="2000">
                <a:solidFill>
                  <a:srgbClr val="F472B6"/>
                </a:solidFill>
                <a:latin typeface="Microsoft JhengHei"/>
              </a:rPr>
              <a:t>產品獨特賣點</a:t>
            </a:r>
            <a:r>
              <a:rPr sz="2000">
                <a:solidFill>
                  <a:srgbClr val="F1F5F9"/>
                </a:solidFill>
                <a:latin typeface="Microsoft JhengHei"/>
              </a:rPr>
              <a:t>：有明確的痛點解決方案。</a:t>
            </a:r>
          </a:p>
          <a:p>
            <a:pPr>
              <a:spcBef>
                <a:spcPts val="400"/>
              </a:spcBef>
              <a:spcAft>
                <a:spcPts val="800"/>
              </a:spcAft>
            </a:pPr>
            <a:r>
              <a:rPr b="1" sz="2000">
                <a:solidFill>
                  <a:srgbClr val="818CF8"/>
                </a:solidFill>
                <a:latin typeface="Microsoft JhengHei"/>
              </a:rPr>
              <a:t>2. </a:t>
            </a:r>
            <a:r>
              <a:rPr b="1" sz="2000">
                <a:solidFill>
                  <a:srgbClr val="F472B6"/>
                </a:solidFill>
                <a:latin typeface="Microsoft JhengHei"/>
              </a:rPr>
              <a:t>時事梗</a:t>
            </a:r>
            <a:r>
              <a:rPr sz="2000">
                <a:solidFill>
                  <a:srgbClr val="F1F5F9"/>
                </a:solidFill>
                <a:latin typeface="Microsoft JhengHei"/>
              </a:rPr>
              <a:t>：速度要快，兩三句搞定。</a:t>
            </a:r>
          </a:p>
          <a:p>
            <a:pPr>
              <a:spcBef>
                <a:spcPts val="400"/>
              </a:spcBef>
              <a:spcAft>
                <a:spcPts val="800"/>
              </a:spcAft>
            </a:pPr>
            <a:r>
              <a:rPr b="1" sz="2000">
                <a:solidFill>
                  <a:srgbClr val="818CF8"/>
                </a:solidFill>
                <a:latin typeface="Microsoft JhengHei"/>
              </a:rPr>
              <a:t>3. </a:t>
            </a:r>
            <a:r>
              <a:rPr b="1" sz="2000">
                <a:solidFill>
                  <a:srgbClr val="F472B6"/>
                </a:solidFill>
                <a:latin typeface="Microsoft JhengHei"/>
              </a:rPr>
              <a:t>大眾認同感</a:t>
            </a:r>
            <a:r>
              <a:rPr sz="2000">
                <a:solidFill>
                  <a:srgbClr val="F1F5F9"/>
                </a:solidFill>
                <a:latin typeface="Microsoft JhengHei"/>
              </a:rPr>
              <a:t>：引發強烈共鳴、感同身受。</a:t>
            </a:r>
          </a:p>
          <a:p>
            <a:pPr>
              <a:spcBef>
                <a:spcPts val="400"/>
              </a:spcBef>
              <a:spcAft>
                <a:spcPts val="800"/>
              </a:spcAft>
            </a:pPr>
            <a:r>
              <a:rPr b="1" sz="2000">
                <a:solidFill>
                  <a:srgbClr val="818CF8"/>
                </a:solidFill>
                <a:latin typeface="Microsoft JhengHei"/>
              </a:rPr>
              <a:t>4. </a:t>
            </a:r>
            <a:r>
              <a:rPr b="1" sz="2000">
                <a:solidFill>
                  <a:srgbClr val="F472B6"/>
                </a:solidFill>
                <a:latin typeface="Microsoft JhengHei"/>
              </a:rPr>
              <a:t>實用乾貨</a:t>
            </a:r>
            <a:r>
              <a:rPr sz="2000">
                <a:solidFill>
                  <a:srgbClr val="F1F5F9"/>
                </a:solidFill>
                <a:latin typeface="Microsoft JhengHei"/>
              </a:rPr>
              <a:t>：對讀者有高度實用價值的内容。</a:t>
            </a:r>
          </a:p>
          <a:p>
            <a:pPr>
              <a:spcBef>
                <a:spcPts val="400"/>
              </a:spcBef>
              <a:spcAft>
                <a:spcPts val="800"/>
              </a:spcAft>
            </a:pPr>
            <a:r>
              <a:rPr b="1" sz="2000">
                <a:solidFill>
                  <a:srgbClr val="818CF8"/>
                </a:solidFill>
                <a:latin typeface="Microsoft JhengHei"/>
              </a:rPr>
              <a:t>✦ </a:t>
            </a:r>
            <a:r>
              <a:rPr b="1" sz="2000">
                <a:solidFill>
                  <a:srgbClr val="F472B6"/>
                </a:solidFill>
                <a:latin typeface="Microsoft JhengHei"/>
              </a:rPr>
              <a:t>流量研究技巧</a:t>
            </a:r>
            <a:r>
              <a:rPr sz="2000">
                <a:solidFill>
                  <a:srgbClr val="F1F5F9"/>
                </a:solidFill>
                <a:latin typeface="Microsoft JhengHei"/>
              </a:rPr>
              <a:t>：用一個全新無追蹤的帳號滑社群，因為新帳號沒有喜好定義，推播的都是最新的熱門「爆款文」，適合拆解與借鏡。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