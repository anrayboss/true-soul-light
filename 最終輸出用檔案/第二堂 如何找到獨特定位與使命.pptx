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3" r:id="rId2"/>
    <p:sldId id="32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318" r:id="rId36"/>
    <p:sldId id="319" r:id="rId37"/>
    <p:sldId id="320" r:id="rId38"/>
    <p:sldId id="308" r:id="rId39"/>
    <p:sldId id="309" r:id="rId40"/>
    <p:sldId id="310" r:id="rId41"/>
    <p:sldId id="321" r:id="rId42"/>
    <p:sldId id="311" r:id="rId43"/>
    <p:sldId id="312" r:id="rId44"/>
    <p:sldId id="313" r:id="rId45"/>
    <p:sldId id="314" r:id="rId46"/>
    <p:sldId id="315" r:id="rId47"/>
    <p:sldId id="316" r:id="rId48"/>
    <p:sldId id="317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26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83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552" y="2635624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個人天賦與使命定位工具深度分析報告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952" y="4098664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599" y="2952974"/>
            <a:ext cx="301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552" y="3318734"/>
            <a:ext cx="1036289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83344"/>
                </a:solidFill>
                <a:latin typeface="Microsoft JhengHei"/>
              </a:defRPr>
            </a:pPr>
            <a:r>
              <a:t>一、各大工具的定位方法與天賦/使命解析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1. Ikigai（生之意義）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：源自日本沖繩的哲學，強調「內省式」與「系統化」的自我探索。它不依賴神祕學或出生時間，而是藉由四個核心問題的交集來定義生存價值。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「你熱愛的事」（What you love）</a:t>
            </a:r>
            <a:r>
              <a:rPr b="0">
                <a:solidFill>
                  <a:srgbClr val="334155"/>
                </a:solidFill>
              </a:rPr>
              <a:t> 與 </a:t>
            </a:r>
            <a:r>
              <a:rPr b="1">
                <a:solidFill>
                  <a:srgbClr val="0369A1"/>
                </a:solidFill>
              </a:rPr>
              <a:t>「你擅長的事」（What you are good at）</a:t>
            </a:r>
            <a:r>
              <a:rPr b="0">
                <a:solidFill>
                  <a:srgbClr val="334155"/>
                </a:solidFill>
              </a:rPr>
              <a:t> 的重疊區，即為個人的</a:t>
            </a:r>
            <a:r>
              <a:rPr b="1">
                <a:solidFill>
                  <a:srgbClr val="0369A1"/>
                </a:solidFill>
              </a:rPr>
              <a:t>熱情（Passion）</a:t>
            </a:r>
            <a:r>
              <a:rPr b="0">
                <a:solidFill>
                  <a:srgbClr val="334155"/>
                </a:solidFill>
              </a:rPr>
              <a:t>所在。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天賦在此被定義為「能帶來心流體驗且個人具備優勢的技能」。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1. Ikigai（生之意義）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344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「世界需要的事」（What the world needs）</a:t>
            </a:r>
            <a:r>
              <a:rPr b="0">
                <a:solidFill>
                  <a:srgbClr val="334155"/>
                </a:solidFill>
              </a:rPr>
              <a:t> 與 </a:t>
            </a:r>
            <a:r>
              <a:rPr b="1">
                <a:solidFill>
                  <a:srgbClr val="0369A1"/>
                </a:solidFill>
              </a:rPr>
              <a:t>「你熱愛的事」</a:t>
            </a:r>
            <a:r>
              <a:rPr b="0">
                <a:solidFill>
                  <a:srgbClr val="334155"/>
                </a:solidFill>
              </a:rPr>
              <a:t> 的交集，定義了</a:t>
            </a:r>
            <a:r>
              <a:rPr b="1">
                <a:solidFill>
                  <a:srgbClr val="0369A1"/>
                </a:solidFill>
              </a:rPr>
              <a:t>使命（Mission）</a:t>
            </a:r>
            <a:r>
              <a:rPr b="0">
                <a:solidFill>
                  <a:srgbClr val="334155"/>
                </a:solidFill>
              </a:rPr>
              <a:t>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「世界需要的事」</a:t>
            </a:r>
            <a:r>
              <a:rPr b="0">
                <a:solidFill>
                  <a:srgbClr val="334155"/>
                </a:solidFill>
              </a:rPr>
              <a:t> 與 </a:t>
            </a:r>
            <a:r>
              <a:rPr b="1">
                <a:solidFill>
                  <a:srgbClr val="0369A1"/>
                </a:solidFill>
              </a:rPr>
              <a:t>「能讓你獲得報酬的事」（What you can be paid for）</a:t>
            </a:r>
            <a:r>
              <a:rPr b="0">
                <a:solidFill>
                  <a:srgbClr val="334155"/>
                </a:solidFill>
              </a:rPr>
              <a:t> 的交集，定義了</a:t>
            </a:r>
            <a:r>
              <a:rPr b="1">
                <a:solidFill>
                  <a:srgbClr val="0369A1"/>
                </a:solidFill>
              </a:rPr>
              <a:t>天職（Vocation）</a:t>
            </a:r>
            <a:r>
              <a:rPr b="0">
                <a:solidFill>
                  <a:srgbClr val="334155"/>
                </a:solidFill>
              </a:rPr>
              <a:t>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終極定位</a:t>
            </a:r>
            <a:r>
              <a:rPr b="0">
                <a:solidFill>
                  <a:srgbClr val="334155"/>
                </a:solidFill>
              </a:rPr>
              <a:t>：四個圈的黃金交集點即為 </a:t>
            </a:r>
            <a:r>
              <a:rPr b="1">
                <a:solidFill>
                  <a:srgbClr val="0369A1"/>
                </a:solidFill>
              </a:rPr>
              <a:t>Ikigai</a:t>
            </a:r>
            <a:r>
              <a:rPr b="0">
                <a:solidFill>
                  <a:srgbClr val="334155"/>
                </a:solidFill>
              </a:rPr>
              <a:t>，是將個人天賦轉化為社會價值與商業模式的完美定位。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2. MBTI（邁爾斯-布里格斯類型指標）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：基於榮格（Carl Jung）的心理類型理論，透過問卷評估個體在四個維度（E/I、S/N、T/F、J/P）上的偏好，組合成 16 種人格類型，揭示大腦最習慣的認知運作模式。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八大認知功能（Cognitive Functions）</a:t>
            </a:r>
            <a:r>
              <a:rPr b="0">
                <a:solidFill>
                  <a:srgbClr val="334155"/>
                </a:solidFill>
              </a:rPr>
              <a:t>：每個類型有其特定的能量排序。</a:t>
            </a:r>
            <a:r>
              <a:rPr b="1">
                <a:solidFill>
                  <a:srgbClr val="0369A1"/>
                </a:solidFill>
              </a:rPr>
              <a:t>主導功能（Dominant Function）</a:t>
            </a:r>
            <a:r>
              <a:rPr b="0">
                <a:solidFill>
                  <a:srgbClr val="334155"/>
                </a:solidFill>
              </a:rPr>
              <a:t>與</a:t>
            </a:r>
            <a:r>
              <a:rPr b="1">
                <a:solidFill>
                  <a:srgbClr val="0369A1"/>
                </a:solidFill>
              </a:rPr>
              <a:t>輔助功能（Auxiliary Function）</a:t>
            </a:r>
            <a:r>
              <a:rPr b="0">
                <a:solidFill>
                  <a:srgbClr val="334155"/>
                </a:solidFill>
              </a:rPr>
              <a:t>是個人最不費力、最自然的「天賦工具」。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例如：INFJ 的主導功能為內傾直覺（Ni），天生具備洞察本質與未來趨勢的直覺天賦。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2. MBTI（邁爾斯-布里格斯類型指標）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氣質類型（Temperaments）</a:t>
            </a:r>
            <a:r>
              <a:rPr b="0">
                <a:solidFill>
                  <a:srgbClr val="334155"/>
                </a:solidFill>
              </a:rPr>
              <a:t>：NF（理想主義者/外交官）、NT（理性者/分析師）、SJ（社群守護者）、SP（冒險家）。這決定了個人在社會結構中渴望扮演的角色。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使命在於「順應個人認知功能的舒適區，在合適的職業生態位中發揮影響力」。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3. DISC（行為風格測驗）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：由雙生理學家威廉·馬斯頓（William Marston）提出，主要測量個體在特定情境下的「外在行為風格」與「人際互動模式」，分為 D（支配）、I（影響）、S（穩健）、C（分析）四大特徵。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分析個人在面對壓力、任務與人際時的本能反應。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D型</a:t>
            </a:r>
            <a:r>
              <a:rPr b="0">
                <a:solidFill>
                  <a:srgbClr val="334155"/>
                </a:solidFill>
              </a:rPr>
              <a:t>：果斷、掌控、聚焦結果（天生領導與開拓天賦）。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I型</a:t>
            </a:r>
            <a:r>
              <a:rPr b="0">
                <a:solidFill>
                  <a:srgbClr val="334155"/>
                </a:solidFill>
              </a:rPr>
              <a:t>：熱情、說服、社交連結（天生影響力與溝通天賦）。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S型</a:t>
            </a:r>
            <a:r>
              <a:rPr b="0">
                <a:solidFill>
                  <a:srgbClr val="334155"/>
                </a:solidFill>
              </a:rPr>
              <a:t>：耐心、支持、團隊協作（天生執行力與和諧維護天賦）。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3. DISC（行為風格測驗）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C型</a:t>
            </a:r>
            <a:r>
              <a:rPr b="0">
                <a:solidFill>
                  <a:srgbClr val="334155"/>
                </a:solidFill>
              </a:rPr>
              <a:t>：精準、邏輯、品質控管（天生分析與系統建立天賦）。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DISC 側重於「當下環境」的定位。藉由對比「自然狀態（本我）」與「適應狀態（工作/環境要求）」，協助個體調整角色，將天賦放在最能創造高績效的崗位上。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4. 星盤（西方占星學）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：以個體出生當下的時間與地理坐標，繪製黃道十二宮、十大行星及相位關係的靈魂藍圖。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太陽星座</a:t>
            </a:r>
            <a:r>
              <a:rPr b="0">
                <a:solidFill>
                  <a:srgbClr val="334155"/>
                </a:solidFill>
              </a:rPr>
              <a:t>：核心意識自我，個人的基本生命力與創作天賦展現方式。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月亮星座</a:t>
            </a:r>
            <a:r>
              <a:rPr b="0">
                <a:solidFill>
                  <a:srgbClr val="334155"/>
                </a:solidFill>
              </a:rPr>
              <a:t>：潛意識、安全感來源，天生直覺與情感投射的天賦。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水星/金星/火星</a:t>
            </a:r>
            <a:r>
              <a:rPr b="0">
                <a:solidFill>
                  <a:srgbClr val="334155"/>
                </a:solidFill>
              </a:rPr>
              <a:t>：分別代表心智表達、審美/價值認同、行動力與競爭力的具體天賦。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福點（Part of Fortune）</a:t>
            </a:r>
            <a:r>
              <a:rPr b="0">
                <a:solidFill>
                  <a:srgbClr val="334155"/>
                </a:solidFill>
              </a:rPr>
              <a:t>：星盤中能量自然流暢、最易獲得物質與精神豐盛的定位點。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4. 星盤（西方占星學）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南北交點（Nodes of the Moon）</a:t>
            </a:r>
            <a:r>
              <a:rPr b="0">
                <a:solidFill>
                  <a:srgbClr val="334155"/>
                </a:solidFill>
              </a:rPr>
              <a:t>：</a:t>
            </a:r>
            <a:r>
              <a:rPr b="1">
                <a:solidFill>
                  <a:srgbClr val="0369A1"/>
                </a:solidFill>
              </a:rPr>
              <a:t>南交點（South Node）</a:t>
            </a:r>
            <a:r>
              <a:rPr b="0">
                <a:solidFill>
                  <a:srgbClr val="334155"/>
                </a:solidFill>
              </a:rPr>
              <a:t>代表過去世駕輕就熟的舒適區（天生具備的特質，但易流於執著）；</a:t>
            </a:r>
            <a:r>
              <a:rPr b="1">
                <a:solidFill>
                  <a:srgbClr val="0369A1"/>
                </a:solidFill>
              </a:rPr>
              <a:t>北交點（North Node）</a:t>
            </a:r>
            <a:r>
              <a:rPr b="0">
                <a:solidFill>
                  <a:srgbClr val="334155"/>
                </a:solidFill>
              </a:rPr>
              <a:t>則是此生靈魂進化必須前往的領域，即「靈魂使命」與主要學習課題。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中天（MC）與第十宮</a:t>
            </a:r>
            <a:r>
              <a:rPr b="0">
                <a:solidFill>
                  <a:srgbClr val="334155"/>
                </a:solidFill>
              </a:rPr>
              <a:t>：代表個人在社會上可達到的最高成就、志業、公眾形象與社會定位。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5. 人類圖（Human Design）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：結合占星、易經、卡巴拉、印度脈輪，以個人的出生時間計算出意識（黑色）與潛意識（紅色）的能量通道圖。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定義的中心（Defined Centers）</a:t>
            </a:r>
            <a:r>
              <a:rPr b="0">
                <a:solidFill>
                  <a:srgbClr val="334155"/>
                </a:solidFill>
              </a:rPr>
              <a:t>：有顏色的中心代表個人穩定輸出、不受外界干擾的內在能量。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通道（Channels）</a:t>
            </a:r>
            <a:r>
              <a:rPr b="0">
                <a:solidFill>
                  <a:srgbClr val="334155"/>
                </a:solidFill>
              </a:rPr>
              <a:t>：連接能量中心且完全接通的通道，代表個體與生俱來、穩定且專屬的才華（如 34-20 魅力通道、18-58 批評與完美通道）。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5. 人類圖（Human Design）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344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sz="28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 sz="28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類型與策略（Type &amp; Strategy）</a:t>
            </a:r>
            <a:r>
              <a:rPr b="0">
                <a:solidFill>
                  <a:srgbClr val="334155"/>
                </a:solidFill>
              </a:rPr>
              <a:t>：如顯示者、生產者、投射者、反映者，決定個體如何與世界正確互動，避免阻力。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人生角色（Profile）</a:t>
            </a:r>
            <a:r>
              <a:rPr b="0">
                <a:solidFill>
                  <a:srgbClr val="334155"/>
                </a:solidFill>
              </a:rPr>
              <a:t>：如 1/3、2/4、5/1 等，代表個體此生在社會上運作的設定檔與角色定位。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人生使命（Incarnation Cross）</a:t>
            </a:r>
            <a:r>
              <a:rPr b="0">
                <a:solidFill>
                  <a:srgbClr val="334155"/>
                </a:solidFill>
              </a:rPr>
              <a:t>：由黑紅太陽地球四個閘門構成，占據個體 70% 的生命能量，是個人此生終極的生命軌跡與使命藍圖。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6. 紫微斗數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：中國傳統神祕學，以陰曆出生時間將諸星（十四主星、輔星等）排入十二宮位（命、兄、夫、子、財、疾、遷、友、官、田、福、父），分析人生命運格局。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命宮與身宮</a:t>
            </a:r>
            <a:r>
              <a:rPr b="0">
                <a:solidFill>
                  <a:srgbClr val="334155"/>
                </a:solidFill>
              </a:rPr>
              <a:t>：命宮主星（如紫微、武曲、天機等）決定先天性格與基本天賦格局；身宮代表後半生的實踐方向。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四化星（科、權、祿、忌）中的「化祿」與「化科」</a:t>
            </a:r>
            <a:r>
              <a:rPr b="0">
                <a:solidFill>
                  <a:srgbClr val="334155"/>
                </a:solidFill>
              </a:rPr>
              <a:t>：化祿代表天生資源、順遂與才華變現處；化科代表名聲、企劃、智慧與貴人。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6. 紫微斗數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sz="28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 sz="28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官祿宮（事業宮）</a:t>
            </a:r>
            <a:r>
              <a:rPr b="0">
                <a:solidFill>
                  <a:srgbClr val="334155"/>
                </a:solidFill>
              </a:rPr>
              <a:t>：代表此生最適合的做事方式、行業類型與事業追求。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福德宮</a:t>
            </a:r>
            <a:r>
              <a:rPr b="0">
                <a:solidFill>
                  <a:srgbClr val="334155"/>
                </a:solidFill>
              </a:rPr>
              <a:t>：代表靈魂層面的精神享受、內在價值觀、因果福報與此生精神追求的終極定位。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化忌的落宮</a:t>
            </a:r>
            <a:r>
              <a:rPr b="0">
                <a:solidFill>
                  <a:srgbClr val="334155"/>
                </a:solidFill>
              </a:rPr>
              <a:t>：代表此生最執著、最容易遇到考驗與債務的宮位。將化忌的考驗轉化（即「解忌」），往往是靈魂此生最大的突破與隱藏使命。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7. 生命靈數（Numerology）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：源自畢達哥拉斯的數學哲學，將西元出生年月日的所有數字相加，縮減至個位數（1-9）或卓越數（11、22、33），揭示靈魂的數字密碼。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生日數（Day Number）</a:t>
            </a:r>
            <a:r>
              <a:rPr b="0">
                <a:solidFill>
                  <a:srgbClr val="334155"/>
                </a:solidFill>
              </a:rPr>
              <a:t>：出生當天的日期，代表個人最直接拿出來應對世界的本能工具與天賦。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天賦數（Talent Numbers）</a:t>
            </a:r>
            <a:r>
              <a:rPr b="0">
                <a:solidFill>
                  <a:srgbClr val="334155"/>
                </a:solidFill>
              </a:rPr>
              <a:t>：主命數相加前的前一步兩位數，代表輔助天賦。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九宮格連線（Lines）</a:t>
            </a:r>
            <a:r>
              <a:rPr b="0">
                <a:solidFill>
                  <a:srgbClr val="334155"/>
                </a:solidFill>
              </a:rPr>
              <a:t>：出生年月日數字在九宮格中的連線（如 1-2-3 藝術美感線、4-5-6 組織管理線），代表天生具備的優勢特質組合。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7. 生命靈數（Numerology）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生命靈數/主命數（Life Path Number）</a:t>
            </a:r>
            <a:r>
              <a:rPr b="0">
                <a:solidFill>
                  <a:srgbClr val="334155"/>
                </a:solidFill>
              </a:rPr>
              <a:t>：完整西元生日相加至個位數的值。代表個人此生的主要道路、必須經歷的靈魂學習課題，以及最終要達成的使命。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8. 瑪雅十三月亮曆（Dreamspell）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：基於卓爾金曆（Tzolkin），利用西元出生年月日換算出個人的「星系印記（Galactic Signature）」，由 20 個太陽圖騰與 13 個銀河音階組成。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主印記（Destiny Kin）</a:t>
            </a:r>
            <a:r>
              <a:rPr b="0">
                <a:solidFill>
                  <a:srgbClr val="334155"/>
                </a:solidFill>
              </a:rPr>
              <a:t>：代表核心天賦與靈魂本質。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五大神諭力量（Oracle）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支持（Analog）</a:t>
            </a:r>
            <a:r>
              <a:rPr b="0">
                <a:solidFill>
                  <a:srgbClr val="334155"/>
                </a:solidFill>
              </a:rPr>
              <a:t>：潛意識中的盟友，天生不費力就能使用的輔助天賦。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推動（Occult）</a:t>
            </a:r>
            <a:r>
              <a:rPr b="0">
                <a:solidFill>
                  <a:srgbClr val="334155"/>
                </a:solidFill>
              </a:rPr>
              <a:t>：潛藏的潛能與爆發力，無意識中的天賦。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8. 瑪雅十三月亮曆（Dreamspell）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挑戰（Antipode）</a:t>
            </a:r>
            <a:r>
              <a:rPr b="0">
                <a:solidFill>
                  <a:srgbClr val="334155"/>
                </a:solidFill>
              </a:rPr>
              <a:t>：需要學習和擴展的特質，一旦克服，將轉化為此生最強大的核心天賦。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引導（Guide）</a:t>
            </a:r>
            <a:r>
              <a:rPr b="0">
                <a:solidFill>
                  <a:srgbClr val="334155"/>
                </a:solidFill>
              </a:rPr>
              <a:t>：高我指引，代表個人天賦與使命的具體展現方向。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銀河音階（Tone）</a:t>
            </a:r>
            <a:r>
              <a:rPr b="0">
                <a:solidFill>
                  <a:srgbClr val="334155"/>
                </a:solidFill>
              </a:rPr>
              <a:t>：代表個人運作的頻率、調性與服務世界的品質。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生命波符（Wavespell）</a:t>
            </a:r>
            <a:r>
              <a:rPr b="0">
                <a:solidFill>
                  <a:srgbClr val="334155"/>
                </a:solidFill>
              </a:rPr>
              <a:t>：個人主印記所在的 13 天波符，代表此生生命旅程之靈魂演化軌跡與使命藍圖。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9. 基因天命（Gene Keys）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：由理查·拉德（Richard Rudd）創立，結合人類圖閘門、易經六十四卦與現代遺傳學。利用出生時間計算出個人的「全息輪廓圖（Holographic Profile）」，劃分為三大途徑。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啟動序列（Activation Sequence）/ 天才的四個黃金基因鍵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畢生志業（Life's Work）</a:t>
            </a:r>
            <a:r>
              <a:rPr b="0">
                <a:solidFill>
                  <a:srgbClr val="334155"/>
                </a:solidFill>
              </a:rPr>
              <a:t>：外在天賦表現。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進化（Evolution）</a:t>
            </a:r>
            <a:r>
              <a:rPr b="0">
                <a:solidFill>
                  <a:srgbClr val="334155"/>
                </a:solidFill>
              </a:rPr>
              <a:t>：此生最大的挑戰，克服後即是最大天賦。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光輝（Radiance）</a:t>
            </a:r>
            <a:r>
              <a:rPr b="0">
                <a:solidFill>
                  <a:srgbClr val="334155"/>
                </a:solidFill>
              </a:rPr>
              <a:t>：健康的物理與心靈氣場來源。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9. 基因天命（Gene Keys）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目的（Purpose）</a:t>
            </a:r>
            <a:r>
              <a:rPr b="0">
                <a:solidFill>
                  <a:srgbClr val="334155"/>
                </a:solidFill>
              </a:rPr>
              <a:t>：深層的內在潛能。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每個基因天命有三層頻率階層：</a:t>
            </a:r>
            <a:r>
              <a:rPr b="1">
                <a:solidFill>
                  <a:srgbClr val="0369A1"/>
                </a:solidFill>
              </a:rPr>
              <a:t>陰影（Shadow）</a:t>
            </a:r>
            <a:r>
              <a:rPr b="0">
                <a:solidFill>
                  <a:srgbClr val="334155"/>
                </a:solidFill>
              </a:rPr>
              <a:t>（痛苦與制約）、</a:t>
            </a:r>
            <a:r>
              <a:rPr b="1">
                <a:solidFill>
                  <a:srgbClr val="0369A1"/>
                </a:solidFill>
              </a:rPr>
              <a:t>天賦（Gift）</a:t>
            </a:r>
            <a:r>
              <a:rPr b="0">
                <a:solidFill>
                  <a:srgbClr val="334155"/>
                </a:solidFill>
              </a:rPr>
              <a:t>（釋放的潛能）、</a:t>
            </a:r>
            <a:r>
              <a:rPr b="1">
                <a:solidFill>
                  <a:srgbClr val="0369A1"/>
                </a:solidFill>
              </a:rPr>
              <a:t>悉地（Siddhi）</a:t>
            </a:r>
            <a:r>
              <a:rPr b="0">
                <a:solidFill>
                  <a:srgbClr val="334155"/>
                </a:solidFill>
              </a:rPr>
              <a:t>（靈性覺醒）。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金星序列（Venus Sequence）</a:t>
            </a:r>
            <a:r>
              <a:rPr b="0">
                <a:solidFill>
                  <a:srgbClr val="334155"/>
                </a:solidFill>
              </a:rPr>
              <a:t>：探索關係中的情感開放，揭示靈魂在心靈與感情層面的使命。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珍珠序列（Pearl Sequence）</a:t>
            </a:r>
            <a:r>
              <a:rPr b="0">
                <a:solidFill>
                  <a:srgbClr val="334155"/>
                </a:solidFill>
              </a:rPr>
              <a:t>：定義了個體如何在物質世界中透過發揮天才，與群體合作創造豐盛（珍珠、文化、繁榮）。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10. 數字易經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：將生活中的西方數字（如手機號碼、身分證字號、車牌、生日等）對應到《易經》八卦，衍生出八大磁場星（生氣、延年、天醫、伏位、五鬼、六煞、禍害、絕命），分析個人當下與天生的磁場能量。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天醫磁場</a:t>
            </a:r>
            <a:r>
              <a:rPr b="0">
                <a:solidFill>
                  <a:srgbClr val="334155"/>
                </a:solidFill>
              </a:rPr>
              <a:t>：代表智慧、財富變現、天生的高直覺與美感才華。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延年磁場</a:t>
            </a:r>
            <a:r>
              <a:rPr b="0">
                <a:solidFill>
                  <a:srgbClr val="334155"/>
                </a:solidFill>
              </a:rPr>
              <a:t>：代表領導、專案管理、責任感與高度專業執行力。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生氣磁場</a:t>
            </a:r>
            <a:r>
              <a:rPr b="0">
                <a:solidFill>
                  <a:srgbClr val="334155"/>
                </a:solidFill>
              </a:rPr>
              <a:t>：代表貴人運、隨和、樂觀與危機處理天賦。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分析身分證或常用號碼組合，即可了解個人天生或目前被激發的才華。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10. 數字易經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數字磁場的五行生剋與排列順序，決定個人在特定人生階段適合扮演的社會角色（如五鬼適合創意策劃、六煞適合公關美感、禍害適合口才說服）。使命在於「運用數字磁場引導能量流通，順應天地規律達到人生圓融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11. 姓名學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：透過漢字的筆劃理數（天格、人格、地格、外格、總格）、五行生剋、文字形音義以及與個體生肖的配對，分析人格特質、人際關係與運勢吉凶。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人格（主運）</a:t>
            </a:r>
            <a:r>
              <a:rPr b="0">
                <a:solidFill>
                  <a:srgbClr val="334155"/>
                </a:solidFill>
              </a:rPr>
              <a:t>：姓名筆劃的核心，代表個體的中年運勢、性格本質與核心才華。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地格（前運）</a:t>
            </a:r>
            <a:r>
              <a:rPr b="0">
                <a:solidFill>
                  <a:srgbClr val="334155"/>
                </a:solidFill>
              </a:rPr>
              <a:t>：代表前半生運勢、配偶與部屬關係，也代表個人潛藏、蓄勢待發的本能天賦。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生肖喜忌</a:t>
            </a:r>
            <a:r>
              <a:rPr b="0">
                <a:solidFill>
                  <a:srgbClr val="334155"/>
                </a:solidFill>
              </a:rPr>
              <a:t>：若名字中的字形能輔助生肖特質，代表該才華能輕鬆得到發揮。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11. 姓名學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總格（後運）</a:t>
            </a:r>
            <a:r>
              <a:rPr b="0">
                <a:solidFill>
                  <a:srgbClr val="334155"/>
                </a:solidFill>
              </a:rPr>
              <a:t>：代表晚年運勢與人生的終極成就定位，反映個體最終要達到的社會高度與使命歸宿。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外格（副運）</a:t>
            </a:r>
            <a:r>
              <a:rPr b="0">
                <a:solidFill>
                  <a:srgbClr val="334155"/>
                </a:solidFill>
              </a:rPr>
              <a:t>：代表社交氣場、外部名望與社會影響力，指引個體在社會大舞台上的定位。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12. 面相（Physiognomy）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：觀察面部骨骼、五官（耳、眉、眼、鼻、口）、三停（上、中、下停）及臉部氣色，解讀個體的性格、心智成熟度、各年齡段運勢與健康狀況。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額頭（上停）</a:t>
            </a:r>
            <a:r>
              <a:rPr b="0">
                <a:solidFill>
                  <a:srgbClr val="334155"/>
                </a:solidFill>
              </a:rPr>
              <a:t>：高廣開闊者，天生邏輯力、思辨力與宏觀策劃能力極佳。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眉眼</a:t>
            </a:r>
            <a:r>
              <a:rPr b="0">
                <a:solidFill>
                  <a:srgbClr val="334155"/>
                </a:solidFill>
              </a:rPr>
              <a:t>：眉清目秀、眼有神者，具備高度專注力、藝術感知力與果斷決策天賦。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鼻顴</a:t>
            </a:r>
            <a:r>
              <a:rPr b="0">
                <a:solidFill>
                  <a:srgbClr val="334155"/>
                </a:solidFill>
              </a:rPr>
              <a:t>：鼻樑挺直、鼻頭豐隆且顴骨有肉者，天生具有理財、管理、魄力與高度執行力天賦。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12. 面相（Physiognomy）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下巴與腮骨（下停）</a:t>
            </a:r>
            <a:r>
              <a:rPr b="0">
                <a:solidFill>
                  <a:srgbClr val="334155"/>
                </a:solidFill>
              </a:rPr>
              <a:t>：代表晚年運勢、承載力與傳承課題。下巴圓厚者有凝聚群眾、培育後輩、基業守成的使命。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三停比例</a:t>
            </a:r>
            <a:r>
              <a:rPr b="0">
                <a:solidFill>
                  <a:srgbClr val="334155"/>
                </a:solidFill>
              </a:rPr>
              <a:t>：上停偏重者適合以「思想、學術」為使命；中停偏重者適合以「實踐、事業打拼」為使命；下停偏重者適合以「傳承、育人、守成」為使命。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13. 九型人格（Enneagram）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：基於動機心理學與性格側寫，將人分為 9 種性格類型。透過探索個體最深層的「核心恐懼（Core Fear）」與「核心慾望（Core Desire）」，分析個體在面對壓力（解離）與安全（整合）時的行為機制。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天賦來自個體為了避開核心恐懼，天生磨練得最極致的防禦機制與內在驅動力。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例如：5 號（理智型）為避免無知與無能，天生具備強大的資訊分析與客觀解構天賦；3 號（成就型）為獲得認可，具備極佳的目標導向與自我包裝天賦。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13. 九型人格（Enneagram）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188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九型人格的使命在於「靈性整合與解脫性格盲點」。透過朝著整合方向（如 9 號和平型走向 3 號的行動力，或 7 號活躍型走向 5 號的專注）提升健康層級，釋放本質光芒，從而在社會中扮演更純粹、無私的服務角色。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14. 蓋洛普優勢測驗（CliftonStrengths）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：基於正向心理學，透過線上測驗評估個體在 34 個天賦主題（Talent Themes）上的排序，並將其分類至四大優勢領域：執行力、影響力、關係建立、戰略思維。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測驗直接產出個體的前 5 大或前 10 大</a:t>
            </a:r>
            <a:r>
              <a:rPr b="1">
                <a:solidFill>
                  <a:srgbClr val="0369A1"/>
                </a:solidFill>
              </a:rPr>
              <a:t>核心天賦主題</a:t>
            </a:r>
            <a:r>
              <a:rPr b="0">
                <a:solidFill>
                  <a:srgbClr val="334155"/>
                </a:solidFill>
              </a:rPr>
              <a:t>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蓋洛普定義公式：</a:t>
            </a:r>
            <a:r>
              <a:rPr b="1">
                <a:solidFill>
                  <a:srgbClr val="0369A1"/>
                </a:solidFill>
              </a:rPr>
              <a:t>天賦（Talent，天生的思考與行為模式） × 投入（Investment，練習與技能學習） = 優勢（Strength，能持續提供近乎完美表現的能力）</a:t>
            </a:r>
            <a:r>
              <a:rPr b="0">
                <a:solidFill>
                  <a:srgbClr val="334155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14. 蓋洛普優勢測驗（CliftonStrengths）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通過解析四大領域的偏重，協助個體在組織與職涯中定位出最高效的「個人生態位」（例如：戰略思維強者專注於願景與方向規劃，關係建立者負責人心凝聚）。其使命在於「將天然天賦轉化為極致優勢，以最高效的方式服務團隊與社會目標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15. 印度占星（Vedic Astrology / Jyotish）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：使用考慮歲差的恆星黃道（Sidereal Zodiac），高度著重於個體的業力痕跡與命運軌跡，以月宿與大限運勢系統為分析核心。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月宿（Nakshatras，27星宿）</a:t>
            </a:r>
            <a:r>
              <a:rPr b="0">
                <a:solidFill>
                  <a:srgbClr val="334155"/>
                </a:solidFill>
              </a:rPr>
              <a:t>：月宿代表靈魂最底層的直覺、本能才華、情感需求與心智本質。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第一宮主星（Lagna Lord）的星宿與落宮</a:t>
            </a:r>
            <a:r>
              <a:rPr b="0">
                <a:solidFill>
                  <a:srgbClr val="334155"/>
                </a:solidFill>
              </a:rPr>
              <a:t>：代表個人天生被賦予的體質、才華表達工具與外在發展優勢。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15. 印度占星（Vedic Astrology / Jyotish）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魂星（Atmakaraka）</a:t>
            </a:r>
            <a:r>
              <a:rPr b="0">
                <a:solidFill>
                  <a:srgbClr val="334155"/>
                </a:solidFill>
              </a:rPr>
              <a:t>：星盤中度數最高的行星（不含羅睺/計都），代表「靈魂的國王」，揭示靈魂此生的核心課題與進化天命。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大限系統（Vimshottari Dasha）</a:t>
            </a:r>
            <a:r>
              <a:rPr b="0">
                <a:solidFill>
                  <a:srgbClr val="334155"/>
                </a:solidFill>
              </a:rPr>
              <a:t>：非常精準的運勢時間表，指示個人在生命各階段被業力推動去履行的特定天命（Dharma）轉折。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第九宮（達摩宮）</a:t>
            </a:r>
            <a:r>
              <a:rPr b="0">
                <a:solidFill>
                  <a:srgbClr val="334155"/>
                </a:solidFill>
              </a:rPr>
              <a:t>：代表此生的靈性宿命與道德天命指引。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16. 納迪葉（Nadi Leaves / Nadi Astrology）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：相傳古印度聖哲於數千年前將特定靈魂的一生軌跡刻寫在棕櫚葉上。透過個體大拇指指紋分類，並以一連串「是/否」的問答核對個人資訊，找出專屬的個人葉子。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天賦在此被視為「前世修行與善因的延續」，葉子會直接宣告個人先天所擅長的智力、技能與能力。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16. 納迪葉（Nadi Leaves / Nadi Astrology）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各章節（Kandas）的直接預言</a:t>
            </a:r>
            <a:r>
              <a:rPr b="0">
                <a:solidFill>
                  <a:srgbClr val="334155"/>
                </a:solidFill>
              </a:rPr>
              <a:t>：寫明個人在事業、健康、婚姻等不同年齡段的生命軌跡與世俗定位。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消業障章（Shanti Kanda）</a:t>
            </a:r>
            <a:r>
              <a:rPr b="0">
                <a:solidFill>
                  <a:srgbClr val="334155"/>
                </a:solidFill>
              </a:rPr>
              <a:t>：指出阻礙此生發展的前世惡業，並給予具體儀軌建議。消除業障障礙、順利完成此生天命，即是其核心使命定位。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7F66-F032-B332-C1AB-5FDAFA72A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C7EB28-A28F-51CA-7FB4-D7D4AFDD85D7}"/>
              </a:ext>
            </a:extLst>
          </p:cNvPr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68FD54-E7BC-0ADA-F7DF-173CED4BF326}"/>
              </a:ext>
            </a:extLst>
          </p:cNvPr>
          <p:cNvSpPr/>
          <p:nvPr/>
        </p:nvSpPr>
        <p:spPr>
          <a:xfrm>
            <a:off x="5943600" y="2688788"/>
            <a:ext cx="301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B3175-E9A0-7EE9-7C1E-89CB80D02F69}"/>
              </a:ext>
            </a:extLst>
          </p:cNvPr>
          <p:cNvSpPr txBox="1"/>
          <p:nvPr/>
        </p:nvSpPr>
        <p:spPr>
          <a:xfrm>
            <a:off x="914553" y="3054548"/>
            <a:ext cx="1036289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83344"/>
                </a:solidFill>
                <a:latin typeface="Microsoft JhengHei"/>
              </a:defRPr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  <a:t>、各大工具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橫向總比較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12612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47A1832-E27D-217A-9E6A-B5216DB52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98" y="0"/>
            <a:ext cx="114946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750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2D382-3892-3CF8-2DEA-122D9502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F7FF64-179E-781F-4B13-C99053E2B6EE}"/>
              </a:ext>
            </a:extLst>
          </p:cNvPr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D232BE-1743-2255-B410-47DAA8D5FA9A}"/>
              </a:ext>
            </a:extLst>
          </p:cNvPr>
          <p:cNvSpPr/>
          <p:nvPr/>
        </p:nvSpPr>
        <p:spPr>
          <a:xfrm>
            <a:off x="5943600" y="2688788"/>
            <a:ext cx="301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1E9EBD-3547-6916-5053-B2B792596DB6}"/>
              </a:ext>
            </a:extLst>
          </p:cNvPr>
          <p:cNvSpPr txBox="1"/>
          <p:nvPr/>
        </p:nvSpPr>
        <p:spPr>
          <a:xfrm>
            <a:off x="914553" y="3054548"/>
            <a:ext cx="1036289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83344"/>
                </a:solidFill>
                <a:latin typeface="Microsoft JhengHei"/>
              </a:defRPr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整合應用建議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2843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十六大工具的整合應用建議（如何混搭）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在實際進行個人定位時，單一工具常有其盲點，建議採取</a:t>
            </a:r>
            <a:r>
              <a:rPr b="1">
                <a:solidFill>
                  <a:srgbClr val="0369A1"/>
                </a:solidFill>
              </a:rPr>
              <a:t>「跨維度整合」</a:t>
            </a:r>
            <a:r>
              <a:rPr b="0">
                <a:solidFill>
                  <a:srgbClr val="334155"/>
                </a:solidFill>
              </a:rPr>
              <a:t>策略：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1. </a:t>
            </a:r>
            <a:r>
              <a:rPr b="1">
                <a:solidFill>
                  <a:srgbClr val="0369A1"/>
                </a:solidFill>
              </a:rPr>
              <a:t>底層藍圖（靈魂、宿命與業力）</a:t>
            </a:r>
            <a:r>
              <a:rPr b="0">
                <a:solidFill>
                  <a:srgbClr val="334155"/>
                </a:solidFill>
              </a:rPr>
              <a:t>：先用 </a:t>
            </a:r>
            <a:r>
              <a:rPr b="1">
                <a:solidFill>
                  <a:srgbClr val="0369A1"/>
                </a:solidFill>
              </a:rPr>
              <a:t>星盤（南北交點）</a:t>
            </a:r>
            <a:r>
              <a:rPr b="0">
                <a:solidFill>
                  <a:srgbClr val="334155"/>
                </a:solidFill>
              </a:rPr>
              <a:t>、</a:t>
            </a:r>
            <a:r>
              <a:rPr b="1">
                <a:solidFill>
                  <a:srgbClr val="0369A1"/>
                </a:solidFill>
              </a:rPr>
              <a:t>印度占星（Atmakaraka 魂星）</a:t>
            </a:r>
            <a:r>
              <a:rPr b="0">
                <a:solidFill>
                  <a:srgbClr val="334155"/>
                </a:solidFill>
              </a:rPr>
              <a:t> 與 </a:t>
            </a:r>
            <a:r>
              <a:rPr b="1">
                <a:solidFill>
                  <a:srgbClr val="0369A1"/>
                </a:solidFill>
              </a:rPr>
              <a:t>紫微斗數</a:t>
            </a:r>
            <a:r>
              <a:rPr b="0">
                <a:solidFill>
                  <a:srgbClr val="334155"/>
                </a:solidFill>
              </a:rPr>
              <a:t> 了解此生的靈魂進化課題與先天宿命格局；有緣分者可透過 </a:t>
            </a:r>
            <a:r>
              <a:rPr b="1">
                <a:solidFill>
                  <a:srgbClr val="0369A1"/>
                </a:solidFill>
              </a:rPr>
              <a:t>納迪葉</a:t>
            </a:r>
            <a:r>
              <a:rPr b="0">
                <a:solidFill>
                  <a:srgbClr val="334155"/>
                </a:solidFill>
              </a:rPr>
              <a:t> 獲取宏觀的人生預言與前世業力消除建議。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2. </a:t>
            </a:r>
            <a:r>
              <a:rPr b="1">
                <a:solidFill>
                  <a:srgbClr val="0369A1"/>
                </a:solidFill>
              </a:rPr>
              <a:t>能量運作與蛻變（決策與才華）</a:t>
            </a:r>
            <a:r>
              <a:rPr b="0">
                <a:solidFill>
                  <a:srgbClr val="334155"/>
                </a:solidFill>
              </a:rPr>
              <a:t>：使用 </a:t>
            </a:r>
            <a:r>
              <a:rPr b="1">
                <a:solidFill>
                  <a:srgbClr val="0369A1"/>
                </a:solidFill>
              </a:rPr>
              <a:t>人類圖</a:t>
            </a:r>
            <a:r>
              <a:rPr b="0">
                <a:solidFill>
                  <a:srgbClr val="334155"/>
                </a:solidFill>
              </a:rPr>
              <a:t> 了解日常決策策略；配合 </a:t>
            </a:r>
            <a:r>
              <a:rPr b="1">
                <a:solidFill>
                  <a:srgbClr val="0369A1"/>
                </a:solidFill>
              </a:rPr>
              <a:t>基因天命（Gene Keys）</a:t>
            </a:r>
            <a:r>
              <a:rPr b="0">
                <a:solidFill>
                  <a:srgbClr val="334155"/>
                </a:solidFill>
              </a:rPr>
              <a:t> 識別自己如何從特定的「陰影」中解脫，並將之轉化為「天賦」與「繁榮珍珠」。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十六大工具的整合應用建議（如何混搭） (2/3)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3. </a:t>
            </a:r>
            <a:r>
              <a:rPr b="1">
                <a:solidFill>
                  <a:srgbClr val="0369A1"/>
                </a:solidFill>
              </a:rPr>
              <a:t>心智動機與自我超越（內在動能）</a:t>
            </a:r>
            <a:r>
              <a:rPr b="0">
                <a:solidFill>
                  <a:srgbClr val="334155"/>
                </a:solidFill>
              </a:rPr>
              <a:t>：使用 </a:t>
            </a:r>
            <a:r>
              <a:rPr b="1">
                <a:solidFill>
                  <a:srgbClr val="0369A1"/>
                </a:solidFill>
              </a:rPr>
              <a:t>九型人格</a:t>
            </a:r>
            <a:r>
              <a:rPr b="0">
                <a:solidFill>
                  <a:srgbClr val="334155"/>
                </a:solidFill>
              </a:rPr>
              <a:t> 探索行為背後的底層恐懼與動機，順應整合路徑解開性格制約。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4. </a:t>
            </a:r>
            <a:r>
              <a:rPr b="1">
                <a:solidFill>
                  <a:srgbClr val="0369A1"/>
                </a:solidFill>
              </a:rPr>
              <a:t>環境磁場與輔助（外在微調）</a:t>
            </a:r>
            <a:r>
              <a:rPr b="0">
                <a:solidFill>
                  <a:srgbClr val="334155"/>
                </a:solidFill>
              </a:rPr>
              <a:t>：利用 </a:t>
            </a:r>
            <a:r>
              <a:rPr b="1">
                <a:solidFill>
                  <a:srgbClr val="0369A1"/>
                </a:solidFill>
              </a:rPr>
              <a:t>數字易經</a:t>
            </a:r>
            <a:r>
              <a:rPr b="0">
                <a:solidFill>
                  <a:srgbClr val="334155"/>
                </a:solidFill>
              </a:rPr>
              <a:t> 檢視日常號碼的磁場走向；透過 </a:t>
            </a:r>
            <a:r>
              <a:rPr b="1">
                <a:solidFill>
                  <a:srgbClr val="0369A1"/>
                </a:solidFill>
              </a:rPr>
              <a:t>姓名學</a:t>
            </a:r>
            <a:r>
              <a:rPr b="0">
                <a:solidFill>
                  <a:srgbClr val="334155"/>
                </a:solidFill>
              </a:rPr>
              <a:t> 調整與輔助先天命盤的不足，優化社會交往氣場。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5. </a:t>
            </a:r>
            <a:r>
              <a:rPr b="1">
                <a:solidFill>
                  <a:srgbClr val="0369A1"/>
                </a:solidFill>
              </a:rPr>
              <a:t>日常檢視（動態與調頻）</a:t>
            </a:r>
            <a:r>
              <a:rPr b="0">
                <a:solidFill>
                  <a:srgbClr val="334155"/>
                </a:solidFill>
              </a:rPr>
              <a:t>：運用 </a:t>
            </a:r>
            <a:r>
              <a:rPr b="1">
                <a:solidFill>
                  <a:srgbClr val="0369A1"/>
                </a:solidFill>
              </a:rPr>
              <a:t>面相</a:t>
            </a:r>
            <a:r>
              <a:rPr b="0">
                <a:solidFill>
                  <a:srgbClr val="334155"/>
                </a:solidFill>
              </a:rPr>
              <a:t> 觀察當下氣色與心境（相由心生），確認能量是否走在對的路上；運用 </a:t>
            </a:r>
            <a:r>
              <a:rPr b="1">
                <a:solidFill>
                  <a:srgbClr val="0369A1"/>
                </a:solidFill>
              </a:rPr>
              <a:t>生命靈數</a:t>
            </a:r>
            <a:r>
              <a:rPr b="0">
                <a:solidFill>
                  <a:srgbClr val="334155"/>
                </a:solidFill>
              </a:rPr>
              <a:t> 與 </a:t>
            </a:r>
            <a:r>
              <a:rPr b="1">
                <a:solidFill>
                  <a:srgbClr val="0369A1"/>
                </a:solidFill>
              </a:rPr>
              <a:t>瑪雅十三月亮曆</a:t>
            </a:r>
            <a:r>
              <a:rPr b="0">
                <a:solidFill>
                  <a:srgbClr val="334155"/>
                </a:solidFill>
              </a:rPr>
              <a:t> 進行日常的調頻與課題檢視。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十六大工具的整合應用建議（如何混搭） (3/3)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6. </a:t>
            </a:r>
            <a:r>
              <a:rPr b="1">
                <a:solidFill>
                  <a:srgbClr val="0369A1"/>
                </a:solidFill>
              </a:rPr>
              <a:t>優勢淬鍊與現實應用（實踐工具）</a:t>
            </a:r>
            <a:r>
              <a:rPr b="0">
                <a:solidFill>
                  <a:srgbClr val="334155"/>
                </a:solidFill>
              </a:rPr>
              <a:t>：透過 </a:t>
            </a:r>
            <a:r>
              <a:rPr b="1">
                <a:solidFill>
                  <a:srgbClr val="0369A1"/>
                </a:solidFill>
              </a:rPr>
              <a:t>蓋洛普優勢測驗（CliftonStrengths）</a:t>
            </a:r>
            <a:r>
              <a:rPr b="0">
                <a:solidFill>
                  <a:srgbClr val="334155"/>
                </a:solidFill>
              </a:rPr>
              <a:t> 找出最具體、可量化的核心優勢，搭配 </a:t>
            </a:r>
            <a:r>
              <a:rPr b="1">
                <a:solidFill>
                  <a:srgbClr val="0369A1"/>
                </a:solidFill>
              </a:rPr>
              <a:t>MBTI</a:t>
            </a:r>
            <a:r>
              <a:rPr b="0">
                <a:solidFill>
                  <a:srgbClr val="334155"/>
                </a:solidFill>
              </a:rPr>
              <a:t> 與 </a:t>
            </a:r>
            <a:r>
              <a:rPr b="1">
                <a:solidFill>
                  <a:srgbClr val="0369A1"/>
                </a:solidFill>
              </a:rPr>
              <a:t>DISC</a:t>
            </a:r>
            <a:r>
              <a:rPr b="0">
                <a:solidFill>
                  <a:srgbClr val="334155"/>
                </a:solidFill>
              </a:rPr>
              <a:t> 調整在團隊中的溝通模式、領導風格，優化當下的工作效能。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7. </a:t>
            </a:r>
            <a:r>
              <a:rPr b="1">
                <a:solidFill>
                  <a:srgbClr val="0369A1"/>
                </a:solidFill>
              </a:rPr>
              <a:t>落地變現（商業閉環）</a:t>
            </a:r>
            <a:r>
              <a:rPr b="0">
                <a:solidFill>
                  <a:srgbClr val="334155"/>
                </a:solidFill>
              </a:rPr>
              <a:t>：將上述所有發現，套入 </a:t>
            </a:r>
            <a:r>
              <a:rPr b="1">
                <a:solidFill>
                  <a:srgbClr val="0369A1"/>
                </a:solidFill>
              </a:rPr>
              <a:t>Ikigai</a:t>
            </a:r>
            <a:r>
              <a:rPr b="0">
                <a:solidFill>
                  <a:srgbClr val="334155"/>
                </a:solidFill>
              </a:rPr>
              <a:t> 的四個圈中，找出既能發揮天賦、順應天命，又符合市場需求與商業變現的最佳落地定位（NTD/USD 營收模式）。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0A6E2-91AE-E342-5387-5EE8465E2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4B6295-D823-0BF9-6AD9-0856AF8CF0F7}"/>
              </a:ext>
            </a:extLst>
          </p:cNvPr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F54AE9-8A86-AB35-6C0E-4D2B203CFB8A}"/>
              </a:ext>
            </a:extLst>
          </p:cNvPr>
          <p:cNvSpPr/>
          <p:nvPr/>
        </p:nvSpPr>
        <p:spPr>
          <a:xfrm>
            <a:off x="5943600" y="2688788"/>
            <a:ext cx="301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5CF8E8-7570-F473-1EB2-F09FC0C1CFBE}"/>
              </a:ext>
            </a:extLst>
          </p:cNvPr>
          <p:cNvSpPr txBox="1"/>
          <p:nvPr/>
        </p:nvSpPr>
        <p:spPr>
          <a:xfrm>
            <a:off x="914553" y="3054548"/>
            <a:ext cx="1036289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83344"/>
                </a:solidFill>
                <a:latin typeface="Microsoft JhengHei"/>
              </a:defRPr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後天生命歷程探討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99152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第一階段：內在解構（挖掘核心動機與強項）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這階段的目的在於透過第一原理（First Principles）剔除外界的干擾，找出學員最真實的內在驅動力與底層優勢。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反向思考：拋開名利，如果你已經財富自由，接下來的 10 年，你最看不慣社會或你所在的行業中的什麼「亂象」或「偽科學」？你最想動手改造哪一個規則？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無痛天賦：回想過去，有哪件事是別人都覺得「天哪，這太麻煩了吧！」，但你做起來卻覺得「這不是理所當然的嗎？順手就做好了」？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情緒燃料：哪一個主題的書籍、文章或影片，是你一看到就會忍不住點開，甚至在跟朋友聊天時，會不自覺「講到雙眼發亮、充滿能量」的？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第二階段：心流與卡關經驗（定義獨家方法論）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最好的定位，往往來自於你「曾經走過的彎路」。將過去的痛苦轉化為系統，就是最強的護城河。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卡關重生：你過去人生或職涯中，經歷過最大的「卡關、低潮或痛點」是什麼？你是靠著什麼具體的思維轉變、或是什麼步驟走出來的？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心流時刻：過去半年內，做哪一件特定的事情時，你曾進入「一抬頭發現竟然過了 3 個小時」的高專注狀態？那時你具體在解決什麼問題？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36954382-B804-7CAC-AE74-696C93C02709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同理痛點：如果要你對 3 年前那個正在迷茫、痛苦的自己說一段話，你最想傳授給他的「一條核心底線」或「一個避坑指南」是什麼？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E2E9675D-23AE-D60F-9727-DC023D220BD9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第三階段：市場任務（從「自嗨」轉向「讀者剛需」）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導入 JTBD（Jobs-to-be-Done）理論，自媒體創作者不是在自言自語，而是被讀者「雇用」來解決問題的。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深夜痛點：的理想讀者，在深夜失眠時，他大腦裡最焦慮、最揮之不去的「那一個具體畫面」是什麼？（請描述出細節，而非空泛的詞彙）。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121C2CDD-D50D-14FA-5D04-47623268F05C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雇用理由：當讀者按下「追蹤」你的自媒體、或是「購買」你的服務時，他實際上是想雇用你幫他達成什麼「實體任務」（如：多賺一萬、睡個好覺）與「情感任務」（如：感到被理解、消除罪惡感）？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現存不滿：這些讀者目前在市面上，聽了哪些大師的課或看了哪些內容，卻依然覺得「聽起來很有道理，但我還是做不到 / 還是很痛苦」？他們的痛點在哪裡沒被滿足？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42B65A03-1DE1-3768-1F23-832629F4D838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第四階段：交集定位（極簡定位藍圖）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最後，將前三階段的內在、方法、外部市場進行交叉比對，產出可在 Threads、Medium 等平台直接測試的「最小可行性定位」。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一句話定位：如果只能用「一句話」說出你和同行最大的不同，那會是什麼？（公式：我幫助【哪群人】透過【什麼獨家方法】解決【什麼痛苦】，達成【什麼目標】）。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戰場選擇：基於你的文字或表達習慣，哪一個「極簡載體」（例如：Threads 脆短文、Medium 深度專欄、還是極簡字卡）最能讓你無痛、高頻率地日更或週更？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4C74B3F-5C84-6E9A-D586-D0DDB28D3777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B1AB3F8-BDEE-2AC2-D51C-FF47C4F84A9F}"/>
              </a:ext>
            </a:extLst>
          </p:cNvPr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91F3603-E464-0C40-28B9-18756EA20BF3}"/>
              </a:ext>
            </a:extLst>
          </p:cNvPr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2462</Words>
  <Application>Microsoft Office PowerPoint</Application>
  <PresentationFormat>寬螢幕</PresentationFormat>
  <Paragraphs>202</Paragraphs>
  <Slides>48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53" baseType="lpstr">
      <vt:lpstr>微軟正黑體</vt:lpstr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 Victor</cp:lastModifiedBy>
  <cp:revision>6</cp:revision>
  <dcterms:created xsi:type="dcterms:W3CDTF">2013-01-27T09:14:16Z</dcterms:created>
  <dcterms:modified xsi:type="dcterms:W3CDTF">2026-06-19T11:01:19Z</dcterms:modified>
  <cp:category/>
</cp:coreProperties>
</file>