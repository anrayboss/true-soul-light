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「各位老師、創業者，大家下午好！我是陳致豪。</a:t>
            </a:r>
          </a:p>
          <a:p/>
          <a:p>
            <a:r>
              <a:t>歡迎來到《行銷界九陽神功》。在大健康與身心靈產業，我們很多人天天都在專研專業技術，但最讓我們頭痛的，往往是怎麼把專業變成優雅、有尊嚴的收入。今天，我將毫無保留地為大家拆解這套 3 ╳ 3 的終極商業矩陣。我們不談虛無縹緲的理論，只談最硬核的落地變現！」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「在我們開始拆解這套九陽神功之前，我想先跟大家釐清一個最根本的問題：『什麼是行銷？』</a:t>
            </a:r>
          </a:p>
          <a:p/>
          <a:p>
            <a:r>
              <a:t>我們來看全球最權威的**美國行銷協會（AMA）**最新給出的官方定義：</a:t>
            </a:r>
          </a:p>
          <a:p>
            <a:r>
              <a:t>**『行銷是透過創造、溝通、傳遞和交換價值，使顧客、客戶、合作夥伴和整個社會能受益的活動、組織及過程。』**</a:t>
            </a:r>
          </a:p>
          <a:p/>
          <a:p>
            <a:r>
              <a:t>各位老師請注意這四個核心動詞：**創造、溝通、傳遞、交換價值**。</a:t>
            </a:r>
          </a:p>
          <a:p/>
          <a:p>
            <a:r>
              <a:t>這代表什麼？行銷的本質，從來不是去欺騙、去操弄，或是把不好的東西硬塞給別人。</a:t>
            </a:r>
          </a:p>
          <a:p/>
          <a:p>
            <a:r>
              <a:t>行銷的起點是**創造價值**，過程是**溝通與傳遞**，終點是藉由**交換價值**讓整個社會共同受益。這，本質上就是一套極致的『利他機制』！而我們的變現九宮格，就是這四個動作最完美的落地載體。</a:t>
            </a:r>
          </a:p>
          <a:p/>
          <a:p>
            <a:r>
              <a:t>接下來，讓我們看看怎麼用這套利他機制，一秒點亮你的商業神功總覽。」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「這就是行銷界九陽神功的終極矩陣。</a:t>
            </a:r>
          </a:p>
          <a:p/>
          <a:p>
            <a:r>
              <a:t>很多人一看到行銷就覺得頭痛，覺得名詞太多。大家不要怕，今天坐在這裡，你只要幫我記住三個核心詞：**【產品】、【推廣】、【模式】**。</a:t>
            </a:r>
          </a:p>
          <a:p/>
          <a:p/>
          <a:p/>
          <a:p>
            <a:r>
              <a:t>接下來，我們直接從第一個核心——【產品】開始拆解。」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「在進入細節之前，很多人會問：『致豪老師，為什麼你的矩陣不多不少，剛好是 3 ╳ 3 呢？』</a:t>
            </a:r>
          </a:p>
          <a:p/>
          <a:p>
            <a:r>
              <a:t>這是正統的西方認知科學。大腦在面對混亂和未知的訊息時，會本能地產生抗拒。認知心理學家發現，人類大腦工作記憶的加工極限，其實只有 **3 到 5 個**組塊。外面那些教你幾十個步驟的課程，你的大腦一聽就當機了，當機就不會採取行動。</a:t>
            </a:r>
          </a:p>
          <a:p/>
          <a:p>
            <a:r>
              <a:t>而我們的 3 ╳ 3 設計，是精準算好、能讓你的客戶大腦最放鬆、學習通道最敞開的黃金比例！當你的商業地圖呈現得如此簡單對稱，客戶大腦會瞬間產生極大的『認知安全感』。大腦覺得安全，成交速度就快十倍！」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「不只西方科學，這張矩陣也完美對齊了東方的百年智慧：【道、法、術、器】。</a:t>
            </a:r>
          </a:p>
          <a:p/>
          <a:p>
            <a:r>
              <a:t>縱向看過去：</a:t>
            </a:r>
          </a:p>
          <a:p>
            <a:r>
              <a:t>**【道】**，就是 Why。我們為什麼要開創這份大健康事業？是為了幫眾生**離苦得樂**，與市場**建立信任**，最終拿到我們應得的**心靈自由**。這是天道，是企業的發心與靈魂。</a:t>
            </a:r>
          </a:p>
          <a:p>
            <a:r>
              <a:t>**【法】**，就是 How。有了發心，具體戰略法則是什麼？我們要拿出**獨特優勢**，與客戶**創造互動**，在前台做到**物超所值**。這叫規律與策略。</a:t>
            </a:r>
          </a:p>
          <a:p>
            <a:r>
              <a:t>**【術】**，就是 What。在第一線怎麼執行？我們靠**心智定位**釘入客人大腦、靠天網地網人網引爆**客從哪來**、靠科技後台實現**自動流程**。這叫落地戰術。</a:t>
            </a:r>
          </a:p>
          <a:p/>
          <a:p>
            <a:r>
              <a:t>最後，如果你懂了道、法、術，手上卻沒有稱手的兵器，你依然只能用肉身在提水桶。所以，我的 10 堂落地正課，就是直接交到你手上的**【器】**——直接發給你的 AI 檢測地圖、自動化收款工具與分銷合約。今天，我們先把道、法、術徹底打通！」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「我們來看第一個大板塊：**【產品】**。再次強調，產品的本質就是客人的痛點。</a:t>
            </a:r>
          </a:p>
          <a:p/>
          <a:p>
            <a:r>
              <a:t>第一步，我們必須回到源頭的發心：**【離苦得樂】**。在這裡，我請出中西方兩大思想天花板來為大家背書！</a:t>
            </a:r>
          </a:p>
          <a:p/>
          <a:p>
            <a:r>
              <a:t>西方心理學泰斗**馬斯洛**說過：『人能成就什麼，他就必須去成就。這種需求，就是找到生命活著的意義。』</a:t>
            </a:r>
          </a:p>
          <a:p>
            <a:r>
              <a:t>而東方的經營之聖**稻盛和夫**也強調：『用純粹的利他心去服務，靈魂就能擺脫痛苦、得到快樂。』</a:t>
            </a:r>
          </a:p>
          <a:p/>
          <a:p>
            <a:r>
              <a:t>不管西方心理學還是東方經營學，都在告訴我們同一件事：產品的本質是解決苦痛、帶人走向快樂。</a:t>
            </a:r>
          </a:p>
          <a:p/>
          <a:p>
            <a:r>
              <a:t>現代行銷學之父菲利浦·科特勒說，產品有三個層次。各位老師請記住這三層——</a:t>
            </a:r>
          </a:p>
          <a:p/>
          <a:p>
            <a:r>
              <a:t>**第一層：生存需求。** 這是最底層的功能需求。客人的身體在痛、失眠、焦慮、血壓飆高——他來找你，最基本的渴望就是「活下去、活得不痛」。你的精油、你的頌缽、你的 AI 量測儀，在這一層解決的是他的**生理生存問題**。如果你的產品連這一層都做不到，後面全部免談。</a:t>
            </a:r>
          </a:p>
          <a:p/>
          <a:p>
            <a:r>
              <a:t>**第二層：生活品質。** 但是，只解決痛苦是不夠的。客人不只要不痛，他還要活得好、活得有質感。他要的是下班後能安靜冥想十分鐘的日常儀式感，是每天早上醒來精神飽滿的幸福感。這一層是**情緒價值**——你的服務如果能幫他從「不痛」升級到「活得舒服、活得有品質」，你的客單價就能翻倍，因為你賣 of 不再只是功能，你賣的是一種嚮往的生活方式。</a:t>
            </a:r>
          </a:p>
          <a:p/>
          <a:p>
            <a:r>
              <a:t>**第三層：生命意義。** 這是最頂層、也是我們身心大健康產業最獨特的殺手鐧。客人在你這裡，不只身體好了、生活有品質了，他要的是找到**活著的意義**。他要知道「我是誰」、「我為什麼來到這個世界」、「我這輩子到底要走向哪裡」。當你的服務能觸碰到他靈魂深處的自我認同——幫他從迷茫中找到方向、從空虛中找到使命——你就不是在賣產品了，你是在渡人。到了這一層，價格不是問題，因為**生命的覺醒是無價的**。</a:t>
            </a:r>
          </a:p>
          <a:p/>
          <a:p>
            <a:r>
              <a:t>就像全球估值超過十億美元的冥想軟體 Calm，它從不吹噓它的音頻格式和科學原理，它一上來就幫你把心靜下來，它只賣一件事：『今晚幫你解決失眠、讓你好好睡一覺』。</a:t>
            </a:r>
          </a:p>
          <a:p/>
          <a:p>
            <a:r>
              <a:t>所以各位老師，你回去之後請重新審視你的產品：你有沒有同時打包這三層？只賣功能的（生存需求），你永遠只能賺辛苦錢；能賣到情緒的（生活品質），你的客單價能翻三倍；能賣到靈魂的（生命意義），你跟客人的關係就不是買賣了，而是生命中的貴人。把功能、情緒、認同三合一，這才是幫客戶完成最完整的離苦得樂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「我們來看第一個大板塊：**【產品】**。再次強調，產品的本質就是客人的痛點。</a:t>
            </a:r>
          </a:p>
          <a:p/>
          <a:p>
            <a:r>
              <a:t>第一步，我們必須回到源頭的發心：**【離苦得樂】**。在這裡，我請出中西方兩大思想天花板來為大家背書！</a:t>
            </a:r>
          </a:p>
          <a:p/>
          <a:p>
            <a:r>
              <a:t>西方心理學泰斗**馬斯洛**說過：『人能成就什麼，他就必須去成就。這種需求，就是找到生命活著的意義。』</a:t>
            </a:r>
          </a:p>
          <a:p>
            <a:r>
              <a:t>而東方的經營之聖**稻盛和夫**也強調：『用純粹的利他心去服務，靈魂就能擺脫痛苦、得到快樂。』</a:t>
            </a:r>
          </a:p>
          <a:p/>
          <a:p>
            <a:r>
              <a:t>不管西方心理學還是東方經營學，都在告訴我們同一件事：產品的本質是解決苦痛、帶人走向快樂。</a:t>
            </a:r>
          </a:p>
          <a:p/>
          <a:p>
            <a:r>
              <a:t>現代行銷學之父菲利浦·科特勒說，產品有三個層次。各位老師請記住這三層——</a:t>
            </a:r>
          </a:p>
          <a:p/>
          <a:p>
            <a:r>
              <a:t>**第一層：生存需求。** 這是最底層的功能需求。客人的身體在痛、失眠、焦慮、血壓飆高——他來找你，最基本的渴望就是「活下去、活得不痛」。你的精油、你的頌缽、你的 AI 量測儀，在這一層解決的是他的**生理生存問題**。如果你的產品連這一層都做不到，後面全部免談。</a:t>
            </a:r>
          </a:p>
          <a:p/>
          <a:p>
            <a:r>
              <a:t>**第二層：生活品質。** 但是，只解決痛苦是不夠的。客人不只要不痛，他還要活得好、活得有質感。他要的是下班後能安靜冥想十分鐘的日常儀式感，是每天早上醒來精神飽滿的幸福感。這一層是**情緒價值**——你的服務如果能幫他從「不痛」升級到「活得舒服、活得有品質」，你的客單價就能翻倍，因為你賣 of 不再只是功能，你賣的是一種嚮往的生活方式。</a:t>
            </a:r>
          </a:p>
          <a:p/>
          <a:p>
            <a:r>
              <a:t>**第三層：生命意義。** 這是最頂層、也是我們身心大健康產業最獨特的殺手鐧。客人在你這裡，不只身體好了、生活有品質了，他要的是找到**活著的意義**。他要知道「我是誰」、「我為什麼來到這個世界」、「我這輩子到底要走向哪裡」。當你的服務能觸碰到他靈魂深處的自我認同——幫他從迷茫中找到方向、從空虛中找到使命——你就不是在賣產品了，你是在渡人。到了這一層，價格不是問題，因為**生命的覺醒是無價的**。</a:t>
            </a:r>
          </a:p>
          <a:p/>
          <a:p>
            <a:r>
              <a:t>就像全球估值超過十億美元的冥想軟體 Calm，它從不吹噓它的音頻格式和科學原理，它一上來就幫你把心靜下來，它只賣一件事：『今晚幫你解決失眠、讓你好好睡一覺』。</a:t>
            </a:r>
          </a:p>
          <a:p/>
          <a:p>
            <a:r>
              <a:t>所以各位老師，你回去之後請重新審視你的產品：你有沒有同時打包這三層？只賣功能的（生存需求），你永遠只能賺辛苦錢；能賣到情緒的（生活品質），你的客單價能翻三倍；能賣到靈魂的（生命意義），你跟客人的關係就不是買賣了，而是生命中的貴人。把功能、情緒、認同三合一，這才是幫客戶完成最完整的離苦得樂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「有了利他的發心，第二步，我們憑什麼在市場上立足？你必須拿出你的**【獨特優勢】**！</a:t>
            </a:r>
          </a:p>
          <a:p/>
          <a:p>
            <a:r>
              <a:t>大健康產業最忌隨波逐流。全台灣做身體調理、做諮詢、做保健的人多如牛毛，如果你跟別人做的一模一樣，最後唯一的下場就是打價格戰，血流成河。我們絕對不要去拼低價、拼勞力，而是要刻意拼裝出一套別人無法輕易複製的技術與服務組合。</a:t>
            </a:r>
          </a:p>
          <a:p/>
          <a:p>
            <a:r>
              <a:t>來看我們的東西方大師佐證：</a:t>
            </a:r>
          </a:p>
          <a:p>
            <a:r>
              <a:t>西方競爭策略之父**邁克爾·波特**說過：『競爭優勢關乎與眾不同。它意味著刻意選擇一整套不同的活動，以傳遞獨特的價值組合。』</a:t>
            </a:r>
          </a:p>
          <a:p>
            <a:r>
              <a:t>裝作東方的兵學鼻祖**孫子**在《孫子兵法》中也寫道：『兵無常勢，水無常形，能因敵變化而取勝者，謂之神。』</a:t>
            </a:r>
          </a:p>
          <a:p/>
          <a:p>
            <a:r>
              <a:t>生意一定要像水一樣靈活，別人沒做的事情你拿來做，你就是神！</a:t>
            </a:r>
          </a:p>
          <a:p/>
          <a:p>
            <a:r>
              <a:t>就像 lululemon，當各大體育品牌拼排汗功能和極致低價時，它獨闢蹊徑去賣『熱汗生活與正念冥想的高頻貴婦社群』，用奇兵思維獨佔高端運動藍海。</a:t>
            </a:r>
          </a:p>
          <a:p/>
          <a:p>
            <a:r>
              <a:t>就像台灣的『里仁有機』，它不跟全聯、家樂福拼便宜、拼規模，它拼的是對無添加標準的嚴苛把關。這個獨特優勢一旦在市場建立，它的客群黏著度極高。</a:t>
            </a:r>
          </a:p>
          <a:p/>
          <a:p>
            <a:r>
              <a:t>我的 12 字奇兵心法也是如此：**你無我有**（引入 AI 量子身心檢測儀，對手完全沒有）、**你有我優**（極致人本調理技術，做出絕對的精緻與差異）、**你優我廉**（超低門檻體驗，讓客人無痛入門）。優勢一旦疊加，你在市場上就是降維打擊。」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「有了利他的發心，第二步，我們憑什麼在市場上立足？你必須拿出你的**【獨特優勢】**！</a:t>
            </a:r>
          </a:p>
          <a:p/>
          <a:p>
            <a:r>
              <a:t>大健康產業最忌隨波逐流。全台灣做身體調理、做諮詢、做保健的人多如牛毛，如果你跟別人做的一模一樣，最後唯一的下場就是打價格戰，血流成河。我們絕對不要去拼低價、拼勞力，而是要刻意拼裝出一套別人無法輕易複製的技術與服務組合。</a:t>
            </a:r>
          </a:p>
          <a:p/>
          <a:p>
            <a:r>
              <a:t>來看我們的東西方大師佐證：</a:t>
            </a:r>
          </a:p>
          <a:p>
            <a:r>
              <a:t>西方競爭策略之父**邁克爾·波特**說過：『競爭優勢關乎與眾不同。它意味著刻意選擇一整套不同的活動，以傳遞獨特的價值組合。』</a:t>
            </a:r>
          </a:p>
          <a:p>
            <a:r>
              <a:t>裝作東方的兵學鼻祖**孫子**在《孫子兵法》中也寫道：『兵無常勢，水無常形，能因敵變化而取勝者，謂之神。』</a:t>
            </a:r>
          </a:p>
          <a:p/>
          <a:p>
            <a:r>
              <a:t>生意一定要像水一樣靈活，別人沒做的事情你拿來做，你就是神！</a:t>
            </a:r>
          </a:p>
          <a:p/>
          <a:p>
            <a:r>
              <a:t>就像 lululemon，當各大體育品牌拼排汗功能和極致低價時，它獨闢蹊徑去賣『熱汗生活與正念冥想的高頻貴婦社群』，用奇兵思維獨佔高端運動藍海。</a:t>
            </a:r>
          </a:p>
          <a:p/>
          <a:p>
            <a:r>
              <a:t>就像台灣的『里仁有機』，它不跟全聯、家樂福拼便宜、拼規模，它拼的是對無添加標準的嚴苛把關。這個獨特優勢一旦在市場建立，它的客群黏著度極高。</a:t>
            </a:r>
          </a:p>
          <a:p/>
          <a:p>
            <a:r>
              <a:t>我的 12 字奇兵心法也是如此：**你無我有**（引入 AI 量子身心檢測儀，對手完全沒有）、**你有我優**（極致人本調理技術，做出絕對的精緻與差異）、**你優我廉**（超低門檻體驗，讓客人無痛入門）。優勢一旦疊加，你在市場上就是降維打擊。」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「各位老師，這套『你無我有、你有我優、你優我廉』的 12 字奇兵心法，不是我憑空發明的。這是中西方兩大商業與戰略思想天花板共同驗證的真理！</a:t>
            </a:r>
          </a:p>
          <a:p/>
          <a:p>
            <a:r>
              <a:t>來看大螢幕。西方競爭策略之父**邁克爾·波特**說過：『贏的關鍵，就是跟別人不一樣。你要故意選一條不同的路，給客人獨一無二的價值。』這就是我們講的，你的工作室必須拼裝出一套別人拷貝不走的服務組合。</a:t>
            </a:r>
          </a:p>
          <a:p/>
          <a:p>
            <a:r>
              <a:t>而在兩千年前，我們東方的兵學鼻祖**孫子**在《孫子兵法》中早就寫下神仙鐵律：『兵無常勢，水無常形，能因敵變化而取勝者，謂之神。』</a:t>
            </a:r>
          </a:p>
          <a:p/>
          <a:p>
            <a:r>
              <a:t>商業的競爭就像水一樣，沒有固定的形狀。對手在墨守成規，你就要主動求變。別人沒有的檢測工具，你率先引進（你無我有）；別人也有的技術，你把體驗做到極致（你有我優）。這就是奇正相生。</a:t>
            </a:r>
          </a:p>
          <a:p/>
          <a:p>
            <a:r>
              <a:t>當你把西方波特的競爭策略，跟東方孫子的兵學智慧融會貫通，你在商戰上就是神，沒有人能抄襲你！」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「各位老師，這套『你無我有、你有我優、你優我廉』的 12 字奇兵心法，不是我憑空發明的。這是中西方兩大商業與戰略思想天花板共同驗證的真理！</a:t>
            </a:r>
          </a:p>
          <a:p/>
          <a:p>
            <a:r>
              <a:t>來看大螢幕。西方競爭策略之父**邁克爾·波特**說過：『贏的關鍵，就是跟別人不一樣。你要故意選一條不同的路，給客人獨一無二的價值。』這就是我們講的，你的工作室必須拼裝出一套別人拷貝不走的服務組合。</a:t>
            </a:r>
          </a:p>
          <a:p/>
          <a:p>
            <a:r>
              <a:t>而在兩千年前，我們東方的兵學鼻祖**孫子**在《孫子兵法》中早就寫下神仙鐵律：『兵無常勢，水無常形，能因敵變化而取勝者，謂之神。』</a:t>
            </a:r>
          </a:p>
          <a:p/>
          <a:p>
            <a:r>
              <a:t>商業的競爭就像水一樣，沒有固定的形狀。對手在墨守成規，你就要主動求變。別人沒有的檢測工具，你率先引進（你無我有）；別人也有的技術，你把體驗做到極致（你有我優）。這就是奇正相生。</a:t>
            </a:r>
          </a:p>
          <a:p/>
          <a:p>
            <a:r>
              <a:t>當你把西方波特的競爭策略，跟東方孫子的兵學智慧融會貫通，你在商戰上就是神，沒有人能抄襲你！」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「我們來看我們天天去買咖啡的【全家便利商店】。</a:t>
            </a:r>
          </a:p>
          <a:p/>
          <a:p>
            <a:r>
              <a:t>根據《商業周刊》第 1735 期的封面報導，全家能在飽和的超商血海裡逆襲老大，靠的就是這套策略：**【你無我有、你有我優、你優我廉】**。</a:t>
            </a:r>
          </a:p>
          <a:p/>
          <a:p>
            <a:r>
              <a:t>全家當年是怎麼打破僵局的？在龍頭老大還在按兵不動的時候，全家率先在 App 推出**『隨買跨店取』**的手機寄杯服務，還把**『Fami!ce 霜淇淋』**做成每個月換口味的爆款。對手當時根本沒有這個技術和產品，全家直接獨佔數位超商與冰品市場！這就叫**『你無我有』**。</a:t>
            </a:r>
          </a:p>
          <a:p/>
          <a:p>
            <a:r>
              <a:t>當對手看到全家賺錢，也開始跟進做手機寄杯、也開始賣咖啡麵包時，全家怎麼做？它直接把品質拉高到你追不上的維度！全家砸重金去推**『Let's Café 100%單品咖啡』**，去拿國際金獎認證；它做**『匠土司』**把口感做到極致。大家都有普通咖啡，但我的單品咖啡比你更優！這就叫**『你有我優』**。</a:t>
            </a:r>
          </a:p>
          <a:p/>
          <a:p>
            <a:r>
              <a:t>面對那些動輒一杯兩兩百塊 of 星巴克，或者是高檔下午茶餐廳的品牌優勢，全家怎麼包抄？它每週五六日祭出**『康康五』買一送一**，甚至讓你用累積的 **Fa點點數直接折現金**。用最不可思議的低門檻，把那些想喝好咖啡、吃小點心卻不想花大錢的客戶，大批量吸引過來！這就叫**『你優我廉』**。</a:t>
            </a:r>
          </a:p>
          <a:p/>
          <a:p>
            <a:r>
              <a:t>各位老師，全家超商就是用這 12 個字，在台灣超商飽和的血海市場裡硬生生砸出一個百億帝國。今天下午，你只要把你的身心靈服務，按照全家的邏輯塞進這三個格子，你的產品線就擁有了世界級的進攻性與防禦力！」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「我們來看我們天天去買咖啡的【全家便利商店】。</a:t>
            </a:r>
          </a:p>
          <a:p/>
          <a:p>
            <a:r>
              <a:t>根據《商業周刊》第 1735 期的封面報導，全家能在飽和的超商血海裡逆襲老大，靠的就是這套策略：**【你無我有、你有我優、你優我廉】**。</a:t>
            </a:r>
          </a:p>
          <a:p/>
          <a:p>
            <a:r>
              <a:t>全家當年是怎麼打破僵局的？在龍頭老大還在按兵不動的時候，全家率先在 App 推出**『隨買跨店取』**的手機寄杯服務，還把**『Fami!ce 霜淇淋』**做成每個月換口味的爆款。對手當時根本沒有這個技術和產品，全家直接獨佔數位超商與冰品市場！這就叫**『你無我有』**。</a:t>
            </a:r>
          </a:p>
          <a:p/>
          <a:p>
            <a:r>
              <a:t>當對手看到全家賺錢，也開始跟進做手機寄杯、也開始賣咖啡麵包時，全家怎麼做？它直接把品質拉高到你追不上的維度！全家砸重金去推**『Let's Café 100%單品咖啡』**，去拿國際金獎認證；它做**『匠土司』**把口感做到極致。大家都有普通咖啡，但我的單品咖啡比你更優！這就叫**『你有我優』**。</a:t>
            </a:r>
          </a:p>
          <a:p/>
          <a:p>
            <a:r>
              <a:t>面對那些動輒一杯兩兩百塊 of 星巴克，或者是高檔下午茶餐廳的品牌優勢，全家怎麼包抄？它每週五六日祭出**『康康五』買一送一**，甚至讓你用累積的 **Fa點點數直接折現金**。用最不可思議的低門檻，把那些想喝好咖啡、吃小點心卻不想花大錢的客戶，大批量吸引過來！這就叫**『你優我廉』**。</a:t>
            </a:r>
          </a:p>
          <a:p/>
          <a:p>
            <a:r>
              <a:t>各位老師，全家超商就是用這 12 個字，在台灣超商飽和的血海市場裡硬生生砸出一個百億帝國。今天下午，你只要把你的身心靈服務，按照全家的邏輯塞進這三個格子，你的產品線就擁有了世界級的進攻性與防禦力！」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「產品的最後一步，我們要在客人的大腦裡，落地成一根拔不掉的釘子，這四個字一字不能改，叫作**【心智定位】**！</a:t>
            </a:r>
          </a:p>
          <a:p/>
          <a:p>
            <a:r>
              <a:t>很多老師覺得自己什麼都會，又會調理、又會算命、又會能量、又會賣保健品。客人一問他是做什麼的，他講了半小時，客人還是聽不懂。定位模糊，你在市場上就是路人甲。</a:t>
            </a:r>
          </a:p>
          <a:p/>
          <a:p>
            <a:r>
              <a:t>來看我們的東西方名家背書：</a:t>
            </a:r>
          </a:p>
          <a:p>
            <a:r>
              <a:t>定位之父**傑克·特勞特**說過：『定位不是你對產品做了什麼改動，而是你在客人的心智裡卡住了什麼位置。』</a:t>
            </a:r>
          </a:p>
          <a:p>
            <a:r>
              <a:t>東方的謀略鼻祖**鬼谷子**也定下鐵律：『聖人揣情摩意，度時量能。』意思就是，真正厲害的人會摸透人心，然後衡量自己的能量與定位。</a:t>
            </a:r>
          </a:p>
          <a:p/>
          <a:p>
            <a:r>
              <a:t>就像**星巴克**，他不叫『咖啡店』，他在全世界客人的大腦格子裡卡死了一個位置，叫作『辦公室與家之外的**第三空間**』。你想喝咖啡放空，腦海裡第一個浮現的就是它。</a:t>
            </a:r>
          </a:p>
          <a:p/>
          <a:p>
            <a:r>
              <a:t>就像台灣的**薰衣草森林**，它不拼豪華裝潢，直接在台灣人腦袋裡卡死一個代名詞就叫『**森林系放鬆與幸福感**』。你想放鬆，就會自動開車入山給她們送錢。</a:t>
            </a:r>
          </a:p>
          <a:p/>
          <a:p>
            <a:r>
              <a:t>定位定了，你的江山就穩了！」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「產品的最後一步，我們要在客人的大腦裡，落地成一根拔不掉的釘子，這四個字一字不能改，叫作**【心智定位】**！</a:t>
            </a:r>
          </a:p>
          <a:p/>
          <a:p>
            <a:r>
              <a:t>很多老師覺得自己什麼都會，又會調理、又會算命、又會能量、又會賣保健品。客人一問他是做什麼的，他講了半小時，客人還是聽不懂。定位模糊，你在市場上就是路人甲。</a:t>
            </a:r>
          </a:p>
          <a:p/>
          <a:p>
            <a:r>
              <a:t>來看我們的東西方名家背書：</a:t>
            </a:r>
          </a:p>
          <a:p>
            <a:r>
              <a:t>定位之父**傑克·特勞特**說過：『定位不是你對產品做了什麼改動，而是你在客人的心智裡卡住了什麼位置。』</a:t>
            </a:r>
          </a:p>
          <a:p>
            <a:r>
              <a:t>東方的謀略鼻祖**鬼谷子**也定下鐵律：『聖人揣情摩意，度時量能。』意思就是，真正厲害的人會摸透人心，然後衡量自己的能量與定位。</a:t>
            </a:r>
          </a:p>
          <a:p/>
          <a:p>
            <a:r>
              <a:t>就像**星巴克**，他不叫『咖啡店』，他在全世界客人的大腦格子裡卡死了一個位置，叫作『辦公室與家之外的**第三空間**』。你想喝咖啡放空，腦海裡第一個浮現的就是它。</a:t>
            </a:r>
          </a:p>
          <a:p/>
          <a:p>
            <a:r>
              <a:t>就像台灣的**薰衣草森林**，它不拼豪華裝潢，直接在台灣人腦袋裡卡死一個代名詞就叫『**森林系放鬆與幸福感**』。你想放鬆，就會自動開車入山給她們送錢。</a:t>
            </a:r>
          </a:p>
          <a:p/>
          <a:p>
            <a:r>
              <a:t>定位定了，你的江山就穩了！」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「有了頂級產品，我們進入第二個大板塊：**【推廣】**。也就是你要怎麼跟市場溝通。</a:t>
            </a:r>
          </a:p>
          <a:p/>
          <a:p>
            <a:r>
              <a:t>很多老師天天在社群發文卻沒人理，因為你搞錯了推廣的終極目的。我們為什麼要發聲、為什麼要露臉？唯一、且最重要的目的，叫作**【建立信任】**！</a:t>
            </a:r>
          </a:p>
          <a:p/>
          <a:p>
            <a:r>
              <a:t>在身心大健康和高客單領域，信任就是你的命根子。客人如果對你沒有信任，你技術再好、產品再好，他連碰都不讓你碰。</a:t>
            </a:r>
          </a:p>
          <a:p/>
          <a:p>
            <a:r>
              <a:t>西方心理學大師**丹尼爾·康納曼**指出：『熟悉感與權威，會帶來認知放鬆與安全感。』</a:t>
            </a:r>
          </a:p>
          <a:p>
            <a:r>
              <a:t>東方的至聖先師**孔子**也說：『民無信不立。』做生意如果沒有信任，你的事業連站都站不穩！</a:t>
            </a:r>
          </a:p>
          <a:p/>
          <a:p>
            <a:r>
              <a:t>那信任要怎麼建立？這三個細節一字都不能改：**【自證、見證、實證】**。</a:t>
            </a:r>
          </a:p>
          <a:p>
            <a:r>
              <a:t>首先，是**【自證】**。用你自己的生命實踐和內心肯定，證明你說的是真的；其次，是**【見證】**。用客戶最真實、有血有肉的口碑，證明你的方法在別人身上也同樣有效；最後，是**【實證】**。用權威的科研數據與檢測對比，給他的理性大腦一份無法抗拒的安全感。</a:t>
            </a:r>
          </a:p>
          <a:p>
            <a:r>
              <a:t>就像『長庚生技』，之所以在台灣無可動搖，就是因為它完美契合了創辦人王永慶先生自身健康的『自證』、無數消費者的『見證』、以及頂尖實驗室科研成果的『實證』。信任立住了，後面成交就只是順理成章的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「有了頂級產品，我們進入第二個大板塊：**【推廣】**。也就是你要怎麼跟市場溝通。</a:t>
            </a:r>
          </a:p>
          <a:p/>
          <a:p>
            <a:r>
              <a:t>很多老師天天在社群發文卻沒人理，因為你搞錯了推廣的終極目的。我們為什麼要發聲、為什麼要露臉？唯一、且最重要的目的，叫作**【建立信任】**！</a:t>
            </a:r>
          </a:p>
          <a:p/>
          <a:p>
            <a:r>
              <a:t>在身心大健康和高客單領域，信任就是你的命根子。客人如果對你沒有信任，你技術再好、產品再好，他連碰都不讓你碰。</a:t>
            </a:r>
          </a:p>
          <a:p/>
          <a:p>
            <a:r>
              <a:t>西方心理學大師**丹尼爾·康納曼**指出：『熟悉感與權威，會帶來認知放鬆與安全感。』</a:t>
            </a:r>
          </a:p>
          <a:p>
            <a:r>
              <a:t>東方的至聖先師**孔子**也說：『民無信不立。』做生意如果沒有信任，你的事業連站都站不穩！</a:t>
            </a:r>
          </a:p>
          <a:p/>
          <a:p>
            <a:r>
              <a:t>那信任要怎麼建立？這三個細節一字都不能改：**【自證、見證、實證】**。</a:t>
            </a:r>
          </a:p>
          <a:p>
            <a:r>
              <a:t>首先，是**【自證】**。用你自己的生命實踐和內心肯定，證明你說的是真的；其次，是**【見證】**。用客戶最真實、有血有肉的口碑，證明你的方法在別人身上也同樣有效；最後，是**【實證】**。用權威的科研數據與檢測對比，給他的理性大腦一份無法抗拒的安全感。</a:t>
            </a:r>
          </a:p>
          <a:p>
            <a:r>
              <a:t>就像『長庚生技』，之所以在台灣無可動搖，就是因為它完美契合了創辦人王永慶先生自身健康的『自證』、無數消費者的『見證』、以及頂尖實驗室科研成果的『實證』。信任立住了，後面成交就只是順理成章的事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「信任立住之後，我們在線上線下具體怎麼推廣？我們的策略叫**【創造互動】**。</a:t>
            </a:r>
          </a:p>
          <a:p/>
          <a:p>
            <a:r>
              <a:t>請大家死死記住這條絕對不重複、順流到底的能量梯子：**有趣共振、真誠連結、感動分享**。</a:t>
            </a:r>
          </a:p>
          <a:p/>
          <a:p>
            <a:r>
              <a:t>第一步，你的內容首先要**【有趣共振】**，頻率對了，才能在一秒內把客人的眼球吸過來；</a:t>
            </a:r>
          </a:p>
          <a:p>
            <a:r>
              <a:t>第二步，不要做冰冷的商業推銷，要在私域裡跟學員建立深度的**【真誠連結】**。當你把心靠攏，客人的防線自然卸下，信任才會扎根；</a:t>
            </a:r>
          </a:p>
          <a:p>
            <a:r>
              <a:t>第三步，當他被你的真誠打動，體驗到前所未有的價值，他就會帶著滿滿的喜悅，主動幫你**【感動分享】**、把口碑傳出去。</a:t>
            </a:r>
          </a:p>
          <a:p/>
          <a:p>
            <a:r>
              <a:t>影響力大師**西奧迪尼**說過：『我們更願意對自己喜愛、且能產生共振的人說好。』</a:t>
            </a:r>
          </a:p>
          <a:p>
            <a:r>
              <a:t>探尋西方行銷趨勢大師**喬納·博格**也說：『當我們在乎，我們就分享。』</a:t>
            </a:r>
          </a:p>
          <a:p/>
          <a:p>
            <a:r>
              <a:t>就像台灣知名的『哇賽心理學』，它從不跟你講枯燥的學術大道理，它透過有趣的生活互動切入，真誠地和聽眾連結，最後讓大家自發性地感動分享。當你把這套互動轉起來，推廣就不再是痛苦 of 推銷，而是能量的溫暖傳遞。」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「信任立住之後，我們在線上線下具體怎麼推廣？我們的策略叫**【創造互動】**。</a:t>
            </a:r>
          </a:p>
          <a:p/>
          <a:p>
            <a:r>
              <a:t>請大家死死記住這條絕對不重複、順流到底的能量梯子：**有趣共振、真誠連結、感動分享**。</a:t>
            </a:r>
          </a:p>
          <a:p/>
          <a:p>
            <a:r>
              <a:t>第一步，你的內容首先要**【有趣共振】**，頻率對了，才能在一秒內把客人的眼球吸過來；</a:t>
            </a:r>
          </a:p>
          <a:p>
            <a:r>
              <a:t>第二步，不要做冰冷的商業推銷，要在私域裡跟學員建立深度的**【真誠連結】**。當你把心靠攏，客人的防線自然卸下，信任才會扎根；</a:t>
            </a:r>
          </a:p>
          <a:p>
            <a:r>
              <a:t>第三步，當他被你的真誠打動，體驗到前所未有的價值，他就會帶著滿滿的喜悅，主動幫你**【感動分享】**、把口碑傳出去。</a:t>
            </a:r>
          </a:p>
          <a:p/>
          <a:p>
            <a:r>
              <a:t>影響力大師**西奧迪尼**說過：『我們更願意對自己喜愛、且能產生共振的人說好。』</a:t>
            </a:r>
          </a:p>
          <a:p>
            <a:r>
              <a:t>探尋西方行銷趨勢大師**喬納·博格**也說：『當我們在乎，我們就分享。』</a:t>
            </a:r>
          </a:p>
          <a:p/>
          <a:p>
            <a:r>
              <a:t>就像台灣知名的『哇賽心理學』，它從不跟你講枯燥的學術大道理，它透過有趣的生活互動切入，真誠地和聽眾連結，最後讓大家自發性地感動分享。當你把這套互動轉起來，推廣就不再是痛苦 of 推銷，而是能量的溫暖傳遞。」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「當你把信任與互動都建立好之後，最後推廣落地的成果，你就能清清楚楚地看透——**【客從哪來】**！</a:t>
            </a:r>
          </a:p>
          <a:p/>
          <a:p>
            <a:r>
              <a:t>很多老師天天在盲目亂下廣告，預算花光了卻沒有半個客人。因為你沒有建立通路的架構。大健康產業，我們必須打通這三個維度：**【天網引流】、【地網體驗】、【人網口碑】**。</a:t>
            </a:r>
          </a:p>
          <a:p/>
          <a:p>
            <a:r>
              <a:t>來看我們的東西方名家背書：</a:t>
            </a:r>
          </a:p>
          <a:p>
            <a:r>
              <a:t>廣告教父**大衛·奧格威**說過：『如果不能帶來銷售，再有創意也是扯淡。客人不是白痴，她就像你老婆一樣聰明。』</a:t>
            </a:r>
          </a:p>
          <a:p>
            <a:r>
              <a:t>東方第一經濟學家**管仲**也定下鐵律：『通流物資，客自引來。』</a:t>
            </a:r>
          </a:p>
          <a:p/>
          <a:p>
            <a:r>
              <a:t>意思就是：通路一旦理順，客流自然順流主動走進來。</a:t>
            </a:r>
          </a:p>
          <a:p/>
          <a:p>
            <a:r>
              <a:t>我們來看『台灣高鐵』，它用手機 App 與網路宣傳（天網引流）把票賣出去；用乾淨、高效率的實體車站與乘車環境（地網體驗）完成交付；最後靠著安全、快速的極致口碑（人網口碑）帶來了無可動搖的高回購率。這，就是客從哪來的終極秘密。」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「當你把信任與互動都建立好之後，最後推廣落地的成果，你就能清清楚楚地看透——**【客從哪來】**！</a:t>
            </a:r>
          </a:p>
          <a:p/>
          <a:p>
            <a:r>
              <a:t>很多老師天天在盲目亂下廣告，預算花光了卻沒有半個客人。因為你沒有建立通路的架構。大健康產業，我們必須打通這三個維度：**【天網引流】、【地網體驗】、【人網口碑】**。</a:t>
            </a:r>
          </a:p>
          <a:p/>
          <a:p>
            <a:r>
              <a:t>來看我們的東西方名家背書：</a:t>
            </a:r>
          </a:p>
          <a:p>
            <a:r>
              <a:t>廣告教父**大衛·奧格威**說過：『如果不能帶來銷售，再有創意也是扯淡。客人不是白痴，她就像你老婆一樣聰明。』</a:t>
            </a:r>
          </a:p>
          <a:p>
            <a:r>
              <a:t>東方第一經濟學家**管仲**也定下鐵律：『通流物資，客自引來。』</a:t>
            </a:r>
          </a:p>
          <a:p/>
          <a:p>
            <a:r>
              <a:t>意思就是：通路一旦理順，客流自然順流主動走進來。</a:t>
            </a:r>
          </a:p>
          <a:p/>
          <a:p>
            <a:r>
              <a:t>我們來看『台灣高鐵』，它用手機 App 與網路宣傳（天網引流）把票賣出去；用乾淨、高效率的實體車站與乘車環境（地網體驗）完成交付；最後靠著安全、快速的極致口碑（人網口碑）帶來了無可動搖的高回購率。這，就是客從哪來的終極秘密。」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「有了產品，也有了推廣，最後我們要怎麼收現、完成價值的交換？我們進入第三個大板塊：**【模式】**，也就是你的獲利模式。</a:t>
            </a:r>
          </a:p>
          <a:p/>
          <a:p>
            <a:r>
              <a:t>很多做助人事業的老師，一談錢就覺得市儈，甚至有金錢卡點，所以天天流血奉獻，把自己累得半死。各位，沒有商業保護的善良是走不遠的！我們理順模式，終極驅動不是為了當暴發戶，而是為了追求精神與物質雙富足的——**【心靈自由】**！</a:t>
            </a:r>
          </a:p>
          <a:p/>
          <a:p>
            <a:r>
              <a:t>來看我們的東西方名家背書：</a:t>
            </a:r>
          </a:p>
          <a:p>
            <a:r>
              <a:t>台灣經營之神**王永慶**總裁說：『要把事情做好，就是刨根究底，把複雜的事情弄成最簡單的制度，然後徹頭徹尾地去執行。』</a:t>
            </a:r>
          </a:p>
          <a:p>
            <a:r>
              <a:t>汽車工業之父**亨利·福特**也強調：『只要你把複雜的任務切成小步驟，就沒有難做的事。』</a:t>
            </a:r>
          </a:p>
          <a:p/>
          <a:p>
            <a:r>
              <a:t>它的心法就十二個字，一字不能改：**【付出價值 ➔ 豐盛回流 ➔ 生生不息】**。</a:t>
            </a:r>
          </a:p>
          <a:p/>
          <a:p>
            <a:r>
              <a:t>你的起點是**【付出價值】**，用產品幫客戶拿掉痛苦；你的回流叫**【豐盛回流】**，大大方方敞開能量、收下你應得的報酬；當你有豐盛的回流，你的事業與生命才能**【生生不息】**。</a:t>
            </a:r>
          </a:p>
          <a:p/>
          <a:p>
            <a:r>
              <a:t>就像台灣的『佐登妮絲』，它不只在幫客人護膚調理，它背後設計了一套讓店長和加盟主能夠獲利的商業循環，把愛好變成事業，最終成就了創辦人與夥伴們的心靈自由。」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「有了產品，也有了推廣，最後我們要怎麼收現、完成價值的交換？我們進入第三個大板塊：**【模式】**，也就是你的獲利模式。</a:t>
            </a:r>
          </a:p>
          <a:p/>
          <a:p>
            <a:r>
              <a:t>很多做助人事業的老師，一談錢就覺得市儈，甚至有金錢卡點，所以天天流血奉獻，把自己累得半死。各位，沒有商業保護的善良是走不遠的！我們理順模式，終極驅動不是為了當暴發戶，而是為了追求精神與物質雙富足的——**【心靈自由】**！</a:t>
            </a:r>
          </a:p>
          <a:p/>
          <a:p>
            <a:r>
              <a:t>來看我們的東西方名家背書：</a:t>
            </a:r>
          </a:p>
          <a:p>
            <a:r>
              <a:t>台灣經營之神**王永慶**總裁說：『要把事情做好，就是刨根究底，把複雜的事情弄成最簡單的制度，然後徹頭徹尾地去執行。』</a:t>
            </a:r>
          </a:p>
          <a:p>
            <a:r>
              <a:t>汽車工業之父**亨利·福特**也強調：『只要你把複雜的任務切成小步驟，就沒有難做的事。』</a:t>
            </a:r>
          </a:p>
          <a:p/>
          <a:p>
            <a:r>
              <a:t>它的心法就十二個字，一字不能改：**【付出價值 ➔ 豐盛回流 ➔ 生生不息】**。</a:t>
            </a:r>
          </a:p>
          <a:p/>
          <a:p>
            <a:r>
              <a:t>你的起點是**【付出價值】**，用產品幫客戶拿掉痛苦；你的回流叫**【豐盛回流】**，大大方方敞開能量、收下你應得的報酬；當你有豐盛的回流，你的事業與生命才能**【生生不息】**。</a:t>
            </a:r>
          </a:p>
          <a:p/>
          <a:p>
            <a:r>
              <a:t>就像台灣的『佐登妮絲』，它不只在幫客人護膚調理，它背後設計了一套讓店長和加盟主能夠獲利的商業循環，把愛好變成事業，最終成就了創辦人與夥伴們的心靈自由。」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「各位老師，為什麼我要把【離苦得樂】和【付出價值】當作九宮格的起手式？</a:t>
            </a:r>
          </a:p>
          <a:p/>
          <a:p>
            <a:r>
              <a:t>這不心靈修行，這是最嚴謹的神經科學！</a:t>
            </a:r>
          </a:p>
          <a:p/>
          <a:p>
            <a:r>
              <a:t>神經學與腦科學早就證實，當你看到個案痛苦，你大腦的前腦島（AI）和前單帶迴（ACC）會複製他的痛苦電訊號，你天生就會難受。這叫鏡像神經元系統——『感同身受』不是形容詞，而是大腦中真實發生的電訊號。</a:t>
            </a:r>
          </a:p>
          <a:p/>
          <a:p>
            <a:r>
              <a:t>而當你出手幫助他、治癒他，你大腦的 Mesolimbic Dopamine（中腦邊緣多巴胺系統）會瞬間激活，釋放內啡肽，這在醫學上叫 Helper's High（利他高潮）。</a:t>
            </a:r>
          </a:p>
          <a:p/>
          <a:p>
            <a:r>
              <a:t>這代表什麼？大自然和宇宙在基因裡早就寫好了密碼：**你越是利他、越是付出價值，你的大腦就會給你最高級的快樂，財富也會隨之回流！** 反過來，如果你天天自私、天天計較，就是在違反大腦的演化定律，你的能量和事業一定會枯竭！這就是天道！」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「那在第一線，我們要怎麼優雅地收錢、對齊致富經典的法則？我們的策略叫**【物超所值】**！</a:t>
            </a:r>
          </a:p>
          <a:p/>
          <a:p>
            <a:r>
              <a:t>來看我們的東西方財富與商業大師佐證：</a:t>
            </a:r>
          </a:p>
          <a:p>
            <a:r>
              <a:t>西方《失落的致富經典》作者**華萊士·瓦特斯**說過：『你給別人的使用價值，必須遠遠大於你收回的現金價值。』這就是大健康產業物超所值的硬道理！</a:t>
            </a:r>
          </a:p>
          <a:p>
            <a:r>
              <a:t>而東方商祖**陶朱公（范蠡）**也定下鐵律：『以義致利，利以義制。』追求利益必須符合道義，大方讓利給他人，才能獲得長遠的大利。</a:t>
            </a:r>
          </a:p>
          <a:p/>
          <a:p>
            <a:r>
              <a:t>我們的物超所值，不是去委屈自己、流血破盤去折磨自己，而是要建立一個高效自動運轉的管道，解放精力。所以，我們只要卡死這十二個字：**【五星顧客 ➔ 建立管道 ➔ 讓利倍增】**。</a:t>
            </a:r>
          </a:p>
          <a:p/>
          <a:p>
            <a:r>
              <a:t>第一，篩選出真正認同你價值的**【五星顧客】**；第二，跟這些五星顧客**【建立管道】**，因為他們自帶高端的人脈；第三，大方啟動**【讓利倍增】**的分潤機制，讓這群五星顧客與優質通路心甘情願變成你的業務分身，幫你把管道的水灌滿！</a:t>
            </a:r>
          </a:p>
          <a:p/>
          <a:p>
            <a:r>
              <a:t>就像『Curves 女性健身』，月費不高，卻提供無限次的一對一教練指導與社群溫度的極高價值。當你給的使用價值遠超想像，你的管道建立好，財富回流就會成倍爆發！</a:t>
            </a:r>
          </a:p>
          <a:p/>
          <a:p>
            <a:r>
              <a:t>再看台灣頂級優格**馬修嚴選**的高端路徑：它**鎖定五星顧客**——認同無添加、對養生有極高需求且具備消費力的貴婦與高端家庭；它**建立管道**，設計專屬 App 實現跨店分次取貨，流程極簡無摩擦；它**讓利倍增**，讓忠實客戶瘋狂轉介紹，續訂產值高達數億。當你點開自動化，全台灣的通路都會幫你賣！」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「那在第一線，我們要怎麼優雅地收錢、對齊致富經典的法則？我們的策略叫**【物超所值】**！</a:t>
            </a:r>
          </a:p>
          <a:p/>
          <a:p>
            <a:r>
              <a:t>來看我們的東西方財富與商業大師佐證：</a:t>
            </a:r>
          </a:p>
          <a:p>
            <a:r>
              <a:t>西方《失落的致富經典》作者**華萊士·瓦特斯**說過：『你給別人的使用價值，必須遠遠大於你收回的現金價值。』這就是大健康產業物超所值的硬道理！</a:t>
            </a:r>
          </a:p>
          <a:p>
            <a:r>
              <a:t>而東方商祖**陶朱公（范蠡）**也定下鐵律：『以義致利，利以義制。』追求利益必須符合道義，大方讓利給他人，才能獲得長遠的大利。</a:t>
            </a:r>
          </a:p>
          <a:p/>
          <a:p>
            <a:r>
              <a:t>我們的物超所值，不是去委屈自己、流血破盤去折磨自己，而是要建立一個高效自動運轉的管道，解放精力。所以，我們只要卡死這十二個字：**【五星顧客 ➔ 建立管道 ➔ 讓利倍增】**。</a:t>
            </a:r>
          </a:p>
          <a:p/>
          <a:p>
            <a:r>
              <a:t>第一，篩選出真正認同你價值的**【五星顧客】**；第二，跟這些五星顧客**【建立管道】**，因為他們自帶高端的人脈；第三，大方啟動**【讓利倍增】**的分潤機制，讓這群五星顧客與優質通路心甘情願變成你的業務分身，幫你把管道的水灌滿！</a:t>
            </a:r>
          </a:p>
          <a:p/>
          <a:p>
            <a:r>
              <a:t>就像『Curves 女性健身』，月費不高，卻提供無限次的一對一教練指導與社群溫度的極高價值。當你給的使用價值遠超想像，你的管道建立好，財富回流就會成倍爆發！</a:t>
            </a:r>
          </a:p>
          <a:p/>
          <a:p>
            <a:r>
              <a:t>再看台灣頂級優格**馬修嚴選**的高端路徑：它**鎖定五星顧客**——認同無添加、對養生有極高需求且具備消費力的貴婦與高端家庭；它**建立管道**，設計專屬 App 實現跨店分次取貨，流程極簡無摩擦；它**讓利倍增**，讓忠實客戶瘋狂轉介紹，續訂產值高達數億。當你點開自動化，全台灣的通路都會幫你賣！」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「渠道建好了，這套獲利模式最後到底要在生活裡，落地成什麼最優雅的資產形態？最後一格：**【自動流程】**！</a:t>
            </a:r>
          </a:p>
          <a:p/>
          <a:p>
            <a:r>
              <a:t>來看我們的東西方科技大師佐證：</a:t>
            </a:r>
          </a:p>
          <a:p>
            <a:r>
              <a:t>科技巨頭**馬斯克**在他的五步工作法中定下鐵律：『把所有重複、麻煩的步驟，通通交給系統自動化。』</a:t>
            </a:r>
          </a:p>
          <a:p>
            <a:r>
              <a:t>半導體教父**張忠謀**也強調：『核心流程自動運轉，把重複的工作交給機器，人去創造價值。』</a:t>
            </a:r>
          </a:p>
          <a:p/>
          <a:p>
            <a:r>
              <a:t>世界上最厲害的賺錢道路，其實都是最乾淨、最簡單的。</a:t>
            </a:r>
          </a:p>
          <a:p/>
          <a:p>
            <a:r>
              <a:t>要讓肉身真正解套、讓系統代勞，你只要死死卡住這十二個字：**【簡單方案 ➔ 科技系統 ➔ 複製模式】**。</a:t>
            </a:r>
          </a:p>
          <a:p/>
          <a:p>
            <a:r>
              <a:t>首先，把複雜的產品去脂，濃縮成標準交付、容易理解的**【簡單方案】**；</a:t>
            </a:r>
          </a:p>
          <a:p>
            <a:r>
              <a:t>方案簡單了，才能讓自動預約、自動對帳、AI 工具等**【科技系統】**進場代勞，把你的肉身從雜務中抽離出來；</a:t>
            </a:r>
          </a:p>
          <a:p>
            <a:r>
              <a:t>系統穩了，你才能放心地把這套獲利閉環，大規模地去**【複製模式】**、招募團隊夥伴。</a:t>
            </a:r>
          </a:p>
          <a:p/>
          <a:p>
            <a:r>
              <a:t>看看**台灣高鐵 T-EX**，手機 App 自動預約、一鍵付款。不靠人力對帳，用科技自動化將人力釋放至核心服務。</a:t>
            </a:r>
          </a:p>
          <a:p>
            <a:r>
              <a:t>看看**麥當勞**，全世界口味、時間、溫度完全統一。擺脫個人情緒和狀態人治，用極致的標準系統批量複製。</a:t>
            </a:r>
          </a:p>
          <a:p>
            <a:r>
              <a:t>看看**星巴克**，不靠神級咖啡師，靠著簡單方案、科技設備與複製流程，每天在全世界自動為創辦人流通價值。</a:t>
            </a:r>
          </a:p>
          <a:p/>
          <a:p>
            <a:r>
              <a:t>這就是我們最終要建立的自動化收款王國——大健康產業最高段位的心靈自由！」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「渠道建好了，這套獲利模式最後到底要在生活裡，落地成什麼最優雅的資產形態？最後一格：**【自動流程】**！</a:t>
            </a:r>
          </a:p>
          <a:p/>
          <a:p>
            <a:r>
              <a:t>來看我們的東西方科技大師佐證：</a:t>
            </a:r>
          </a:p>
          <a:p>
            <a:r>
              <a:t>科技巨頭**馬斯克**在他的五步工作法中定下鐵律：『把所有重複、麻煩的步驟，通通交給系統自動化。』</a:t>
            </a:r>
          </a:p>
          <a:p>
            <a:r>
              <a:t>半導體教父**張忠謀**也強調：『核心流程自動運轉，把重複的工作交給機器，人去創造價值。』</a:t>
            </a:r>
          </a:p>
          <a:p/>
          <a:p>
            <a:r>
              <a:t>世界上最厲害的賺錢道路，其實都是最乾淨、最簡單的。</a:t>
            </a:r>
          </a:p>
          <a:p/>
          <a:p>
            <a:r>
              <a:t>要讓肉身真正解套、讓系統代勞，你只要死死卡住這十二個字：**【簡單方案 ➔ 科技系統 ➔ 複製模式】**。</a:t>
            </a:r>
          </a:p>
          <a:p/>
          <a:p>
            <a:r>
              <a:t>首先，把複雜的產品去脂，濃縮成標準交付、容易理解的**【簡單方案】**；</a:t>
            </a:r>
          </a:p>
          <a:p>
            <a:r>
              <a:t>方案簡單了，才能讓自動預約、自動對帳、AI 工具等**【科技系統】**進場代勞，把你的肉身從雜務中抽離出來；</a:t>
            </a:r>
          </a:p>
          <a:p>
            <a:r>
              <a:t>系統穩了，你才能放心地把這套獲利閉環，大規模地去**【複製模式】**、招募團隊夥伴。</a:t>
            </a:r>
          </a:p>
          <a:p/>
          <a:p>
            <a:r>
              <a:t>看看**台灣高鐵 T-EX**，手機 App 自動預約、一鍵付款。不靠人力對帳，用科技自動化將人力釋放至核心服務。</a:t>
            </a:r>
          </a:p>
          <a:p>
            <a:r>
              <a:t>看看**麥當勞**，全世界口味、時間、溫度完全統一。擺脫個人情緒和狀態人治，用極致的標準系統批量複製。</a:t>
            </a:r>
          </a:p>
          <a:p>
            <a:r>
              <a:t>看看**星巴克**，不靠神級咖啡師，靠著簡單方案、科技設備與複製流程，每天在全世界自動為創辦人流通價值。</a:t>
            </a:r>
          </a:p>
          <a:p/>
          <a:p>
            <a:r>
              <a:t>這就是我們最終要建立的自動化收款王國——大健康產業最高段位的心靈自由！」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「今天我用最簡單的點、線、面，幫大家理順了這一張 3 x 3 的九陽神功商業地圖。</a:t>
            </a:r>
          </a:p>
          <a:p/>
          <a:p>
            <a:r>
              <a:t>如果你現在低頭看看自己的事業，發現自己的『產品』不夠深、『推廣』不夠密、或者『模式』根本沒有自動化，你依然是用肉身在提水桶。</a:t>
            </a:r>
          </a:p>
          <a:p/>
          <a:p>
            <a:r>
              <a:t>為了幫大家把這九個格子，一格一格真正地裝配在你的事業底盤上，我特別設計了這套【實戰正課】。</a:t>
            </a:r>
          </a:p>
          <a:p/>
          <a:p>
            <a:r>
              <a:t>我們不講廢話，也不只上課。在這 10 堂課裡，我會直接帶你現場搭建。從定出你的 15 字痛點救贖宣告，到現場把你的 LINE 自動預約與收款系統一鍵裝配好，直接現場拿走你的『終極兵器』。</a:t>
            </a:r>
          </a:p>
          <a:p/>
          <a:p>
            <a:r>
              <a:t>這 10 堂實戰課的詳細大綱，就在這裡……」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「今天我用最簡單的點、線、面，幫大家理順了這一張 3 x 3 的九陽神功商業地圖。</a:t>
            </a:r>
          </a:p>
          <a:p/>
          <a:p>
            <a:r>
              <a:t>如果你現在低頭看看自己的事業，發現自己的『產品』不夠深、『推廣』不夠密、或者『模式』根本沒有自動化，你依然是用肉身在提水桶。</a:t>
            </a:r>
          </a:p>
          <a:p/>
          <a:p>
            <a:r>
              <a:t>為了幫大家把這九個格子，一格一格真正地裝配在你的事業底盤上，我特別設計了這套【實戰正課】。</a:t>
            </a:r>
          </a:p>
          <a:p/>
          <a:p>
            <a:r>
              <a:t>我們不講廢話，也不只上課。在這 10 堂課裡，我會直接帶你現場搭建。從定出你的 15 字痛點救贖宣告，到現場把你的 LINE 自動預約與收款系統一鍵裝配好，直接現場拿走你的『終極兵器』。</a:t>
            </a:r>
          </a:p>
          <a:p/>
          <a:p>
            <a:r>
              <a:t>這 10 堂實戰課的詳細大綱，就在這裡……」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「在我們大健康產業，有一條永遠不變的鐵律。</a:t>
            </a:r>
          </a:p>
          <a:p/>
          <a:p>
            <a:r>
              <a:t>各位老師，我們之所以要把後台推向極致的自動流程，用科技做你的後台，幫你做掉所有枯燥、重複、消耗能量的行政苦工；</a:t>
            </a:r>
          </a:p>
          <a:p/>
          <a:p>
            <a:r>
              <a:t>目的不是為了變得冰冷，而是為了把我們最尊貴的肉身與寶貴時間省下來——</a:t>
            </a:r>
          </a:p>
          <a:p/>
          <a:p>
            <a:r>
              <a:t>拿來對全台灣最信任你、最認同你的五星顧客，做最溫暖、最奢華、最無可取代的——【人性服務】！</a:t>
            </a:r>
          </a:p>
          <a:p/>
          <a:p>
            <a:r>
              <a:t>**前台極致溫暖，後台極致自動。** 這，才是真正的降維打擊。</a:t>
            </a:r>
          </a:p>
          <a:p/>
          <a:p>
            <a:r>
              <a:t>只要理順這三個核心：【產品】、【推廣】、【模式】。</a:t>
            </a:r>
          </a:p>
          <a:p>
            <a:r>
              <a:t>這，就是行銷界九陽神功。謝謝大家！」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「如果你的大健康事業，也想要在前台擁有極致溫暖的人性服務、在後台擁有一套 24 小時不打烊的自動收款系統，今天，致豪提供限量的一對一現場診斷預約。</a:t>
            </a:r>
          </a:p>
          <a:p/>
          <a:p>
            <a:r>
              <a:t>掃描螢幕上的 QR Code，下週開始，讓我們像台灣最頂尖的大健康巨頭一樣，解放肉身、優雅收現。</a:t>
            </a:r>
          </a:p>
          <a:p/>
          <a:p>
            <a:r>
              <a:t>謝謝大家，我們正課現場見！」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前言：行銷與變現分享 (1/3)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大家好，我叫做仲豪。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今天主要要跟大家分享：如何做身心健康產業的行銷與變現。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內容主要有幾個重點與獨特之處：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一、有我21年行銷經驗，花了500萬課程學費與花了至少1000萬社會學費的內容整理；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前言：行銷與變現分享 (2/3)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二、整理出最簡單易懂《行銷界的九陽神功》不必學這麼多也可以輕鬆做行銷；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三、不用拍這麼多片也可訂單爆量的方法，因為如果要像外面拍很多影片，要日更，真的是會讓人緊張；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四、外面你不會看到這整套方法，因為我過去都只傳給內部人員，而我這幾年來也確實達到成果；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前言：行銷與變現分享 (3/3)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五、可以找到屬於你個人的行銷方式與建立AI資料庫；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六、很多內容是可以用很久的 因為我會從最基本的底層邏輯開始講。很多外面是學工具，學了三個月，一年就無法用。我這邊是學最基的道、法、術、器的順序。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然後，你會有以下這些疑慮，就是要不要花錢。今天我會講所有內容的濃縮包大概5%，最後的方案是買3000、達成功課退3000，總共30小時。所以你不需要擔心我要賣很貴的課程，你可以看一下我的內容來評估我的課程是否合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行銷界九陽神功：3 ╳ 3 大健康產業終極商業矩陣</a:t>
            </a:r>
          </a:p>
          <a:p>
            <a:pPr algn="ctr">
              <a:spcBef>
                <a:spcPts val="4000"/>
              </a:spcBef>
              <a:defRPr sz="2200">
                <a:solidFill>
                  <a:srgbClr val="0284C7"/>
                </a:solidFill>
                <a:latin typeface="Microsoft JhengHei"/>
              </a:defRPr>
            </a:pPr>
            <a:r>
              <a:t>完整現場演講講稿（最終定案版）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📊 九陽神功 3 ╳ 3 終極矩陣總覽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7259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  <a:gridCol w="2681478"/>
                <a:gridCol w="2681478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核心支柱</a:t>
                      </a:r>
                    </a:p>
                  </a:txBody>
                  <a:tcPr>
                    <a:solidFill>
                      <a:srgbClr val="0833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🎯 Why（核心驅動）</a:t>
                      </a:r>
                    </a:p>
                  </a:txBody>
                  <a:tcPr>
                    <a:solidFill>
                      <a:srgbClr val="0833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⚡ How（執行策略）</a:t>
                      </a:r>
                    </a:p>
                  </a:txBody>
                  <a:tcPr>
                    <a:solidFill>
                      <a:srgbClr val="0833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💰 What（落地變現）</a:t>
                      </a:r>
                    </a:p>
                  </a:txBody>
                  <a:tcPr>
                    <a:solidFill>
                      <a:srgbClr val="0833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/>
                      </a:r>
                      <a:r>
                        <a:rPr b="1">
                          <a:solidFill>
                            <a:srgbClr val="0369A1"/>
                          </a:solidFill>
                        </a:rPr>
                        <a:t>一、產品</a:t>
                      </a:r>
                      <a:r>
                        <a:rPr b="0">
                          <a:solidFill>
                            <a:srgbClr val="334155"/>
                          </a:solidFill>
                        </a:rPr>
                        <a:t>（創造價值）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1. 離苦得樂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2. 獨特優勢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3. 心智定位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/>
                      </a:r>
                      <a:r>
                        <a:rPr b="1">
                          <a:solidFill>
                            <a:srgbClr val="0369A1"/>
                          </a:solidFill>
                        </a:rPr>
                        <a:t>二、推廣</a:t>
                      </a:r>
                      <a:r>
                        <a:rPr b="0">
                          <a:solidFill>
                            <a:srgbClr val="334155"/>
                          </a:solidFill>
                        </a:rPr>
                        <a:t>（傳遞與溝通價值）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4. 建立信任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5. 創造互動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6. 客從哪來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/>
                      </a:r>
                      <a:r>
                        <a:rPr b="1">
                          <a:solidFill>
                            <a:srgbClr val="0369A1"/>
                          </a:solidFill>
                        </a:rPr>
                        <a:t>三、模式</a:t>
                      </a:r>
                      <a:r>
                        <a:rPr b="0">
                          <a:solidFill>
                            <a:srgbClr val="334155"/>
                          </a:solidFill>
                        </a:rPr>
                        <a:t>（價值交換）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7. 心靈自由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8. 物超所值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300">
                          <a:latin typeface="Microsoft JhengHei"/>
                        </a:defRPr>
                      </a:pPr>
                      <a:r>
                        <a:rPr b="0">
                          <a:solidFill>
                            <a:srgbClr val="334155"/>
                          </a:solidFill>
                        </a:rPr>
                        <a:t>9. 自動流程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 行銷界九陽神功</a:t>
            </a:r>
          </a:p>
          <a:p>
            <a:pPr algn="ctr">
              <a:spcBef>
                <a:spcPts val="4000"/>
              </a:spcBef>
              <a:defRPr sz="2200">
                <a:solidFill>
                  <a:srgbClr val="0284C7"/>
                </a:solidFill>
                <a:latin typeface="Microsoft JhengHei"/>
              </a:defRPr>
            </a:pPr>
            <a:r>
              <a:t> 3 ╳ 3 大健康產業終極商業矩陣</a:t>
            </a:r>
            <a:br/>
            <a:r>
              <a:t>( 大健康與身心產業專屬 ╳ 終極變現底層思維)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行銷的定義（美國行銷協會 AMA 最新版）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美國行銷協會 (AMA) 最新版行銷定義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核心內容：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行銷是透過</a:t>
            </a:r>
            <a:r>
              <a:rPr b="1">
                <a:solidFill>
                  <a:srgbClr val="0369A1"/>
                </a:solidFill>
              </a:rPr>
              <a:t>創造、溝通、傳遞和交換價值</a:t>
            </a:r>
            <a:r>
              <a:rPr b="0">
                <a:solidFill>
                  <a:srgbClr val="334155"/>
                </a:solidFill>
              </a:rPr>
              <a:t>，使顧客、客戶、合作夥伴和整個社會能受益的活動、組織及過程。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底字：</a:t>
            </a:r>
            <a:r>
              <a:rPr b="0">
                <a:solidFill>
                  <a:srgbClr val="334155"/>
                </a:solidFill>
              </a:rPr>
              <a:t> 行銷不是操弄，行銷是價值的流通與利他。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神功總覽（終極極簡九宮格）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神功總覽：3 ╳ 3 終極極簡矩陣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矩陣內容：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一、 產品（創造價值）：</a:t>
            </a:r>
            <a:r>
              <a:rPr b="0">
                <a:solidFill>
                  <a:srgbClr val="334155"/>
                </a:solidFill>
              </a:rPr>
              <a:t> 1. 離苦得樂 ➔ 2. 獨特優勢 ➔ 3. 心智定位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二、 推廣（傳遞與溝通價值）：</a:t>
            </a:r>
            <a:r>
              <a:rPr b="0">
                <a:solidFill>
                  <a:srgbClr val="334155"/>
                </a:solidFill>
              </a:rPr>
              <a:t> 4. 建立信任 ➔ 5. 創造互動 ➔ 6. 客從哪來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三、 模式（價值交換）：</a:t>
            </a:r>
            <a:r>
              <a:rPr b="0">
                <a:solidFill>
                  <a:srgbClr val="334155"/>
                </a:solidFill>
              </a:rPr>
              <a:t> 7. 心靈自由 ➔ 8. 物超所值 ➔ 9. 自動流程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西方科學依據（為什麼是 3 ╳ 3？）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為什麼是 3 ╳ 3？（西方科學）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左卡：</a:t>
            </a:r>
            <a:r>
              <a:rPr b="0">
                <a:solidFill>
                  <a:srgbClr val="334155"/>
                </a:solidFill>
              </a:rPr>
              <a:t> 大腦工作記憶限制（大腦主動加工的極限是 3 到 5 個組塊，3 ╳ 3 是黃金容量）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右卡：</a:t>
            </a:r>
            <a:r>
              <a:rPr b="0">
                <a:solidFill>
                  <a:srgbClr val="334155"/>
                </a:solidFill>
              </a:rPr>
              <a:t> 認知安全感 (Cognitive Ease)（對稱的地圖能給大腦安全感，當覺得簡單，成交速度快十倍）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東方哲學（九宮格與道、法、術、器）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九宮格與【道、法、術、器】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道（Why）：</a:t>
            </a:r>
            <a:r>
              <a:rPr b="0">
                <a:solidFill>
                  <a:srgbClr val="334155"/>
                </a:solidFill>
              </a:rPr>
              <a:t> 離苦得樂、建立信任、心靈自由（核心發心）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法（How）：</a:t>
            </a:r>
            <a:r>
              <a:rPr b="0">
                <a:solidFill>
                  <a:srgbClr val="334155"/>
                </a:solidFill>
              </a:rPr>
              <a:t> 獨特優勢、創造互動、物超所值（策略法則）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術（What）：</a:t>
            </a:r>
            <a:r>
              <a:rPr b="0">
                <a:solidFill>
                  <a:srgbClr val="334155"/>
                </a:solidFill>
              </a:rPr>
              <a:t> 心智定位、客從哪來、自動流程（落地戰術）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器（正課）：</a:t>
            </a:r>
            <a:r>
              <a:rPr b="0">
                <a:solidFill>
                  <a:srgbClr val="334155"/>
                </a:solidFill>
              </a:rPr>
              <a:t> 實戰正課工具 ╳ 一鍵現場裝配（終極利器）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產品 1 —— 離苦得樂（Why）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客人帶著痛與焦慮而來，他們買的不是你的產品長度，而是重獲幸福的解藥。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1. 產品 Why ➔ 離苦得樂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三層需求：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🔹 </a:t>
            </a:r>
            <a:r>
              <a:rPr b="1">
                <a:solidFill>
                  <a:srgbClr val="0369A1"/>
                </a:solidFill>
              </a:rPr>
              <a:t>生存需求</a:t>
            </a:r>
            <a:r>
              <a:rPr b="0">
                <a:solidFill>
                  <a:srgbClr val="334155"/>
                </a:solidFill>
              </a:rPr>
              <a:t>（功能層）：解決身體的痛、生理的苦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🔸 </a:t>
            </a:r>
            <a:r>
              <a:rPr b="1">
                <a:solidFill>
                  <a:srgbClr val="0369A1"/>
                </a:solidFill>
              </a:rPr>
              <a:t>生活品質</a:t>
            </a:r>
            <a:r>
              <a:rPr b="0">
                <a:solidFill>
                  <a:srgbClr val="334155"/>
                </a:solidFill>
              </a:rPr>
              <a:t>（情緒層）：提升日常的幸福感與情緒價值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🔶 </a:t>
            </a:r>
            <a:r>
              <a:rPr b="1">
                <a:solidFill>
                  <a:srgbClr val="0369A1"/>
                </a:solidFill>
              </a:rPr>
              <a:t>生命意義</a:t>
            </a:r>
            <a:r>
              <a:rPr b="0">
                <a:solidFill>
                  <a:srgbClr val="334155"/>
                </a:solidFill>
              </a:rPr>
              <a:t>（認同層）：直達靈魂深處 of 自我實現與認同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產品 1 —— 離苦得樂（Why）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馬斯洛（西方心理學泰斗）：</a:t>
            </a:r>
            <a:r>
              <a:rPr b="0">
                <a:solidFill>
                  <a:srgbClr val="475569"/>
                </a:solidFill>
              </a:rPr>
              <a:t> *"What a man can be, he must be."* ➔ 人能成就什麼，他就必須去成就。這叫活著的意義。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475569"/>
                </a:solidFill>
              </a:rPr>
              <a:t>稻盛和夫（日本經營之聖）：</a:t>
            </a:r>
            <a:r>
              <a:rPr b="0">
                <a:solidFill>
                  <a:srgbClr val="475569"/>
                </a:solidFill>
              </a:rPr>
              <a:t> *"Free your soul from suffering by serving others with a pure heart."* ➔ 用純粹的利他心去服務，靈魂就能擺脫痛苦、得到快樂。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5912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冥想軟體 Calm。它不賣功能，它只賣「今晚好眠」的痛苦救贖。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產品 2 —— 獨特優勢（How）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絕不拼低價流血，不隨緣。刻意拼裝一套別人無法輕易複製的技術與服務組合。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2. 產品 How ➔ 獨特優勢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12字奇兵心法：</a:t>
            </a:r>
            <a:r>
              <a:rPr b="0">
                <a:solidFill>
                  <a:srgbClr val="334155"/>
                </a:solidFill>
              </a:rPr>
              <a:t> 你無我有 ➔ 你有我優 ➔ 你優我廉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產品 2 —— 獨特優勢（How）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邁克爾·波特（全球競爭策略之父）：</a:t>
            </a:r>
            <a:r>
              <a:rPr b="0">
                <a:solidFill>
                  <a:srgbClr val="475569"/>
                </a:solidFill>
              </a:rPr>
              <a:t> *"Competitive advantage is about being different."* ➔ 贏的關鍵，就是跟別人不一樣，故意選一條不同的路。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475569"/>
                </a:solidFill>
              </a:rPr>
              <a:t>孫子（東方兵學鼻祖）：</a:t>
            </a:r>
            <a:r>
              <a:rPr b="0">
                <a:solidFill>
                  <a:srgbClr val="475569"/>
                </a:solidFill>
              </a:rPr>
              <a:t> </a:t>
            </a:r>
            <a:r>
              <a:rPr b="1">
                <a:solidFill>
                  <a:srgbClr val="475569"/>
                </a:solidFill>
              </a:rPr>
              <a:t>「兵無常勢，水無常形，能因敵變化而取勝者，謂之神。」</a:t>
            </a:r>
            <a:r>
              <a:rPr b="0">
                <a:solidFill>
                  <a:srgbClr val="475569"/>
                </a:solidFill>
              </a:rPr>
              <a:t> ➔ 生意要像水一樣靈活，別人沒做的事情你拿來做，你就是神。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5912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lululemon ╳ 里仁有機。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獨特優勢之東西方大師佐證（How）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版面視覺設計（黑白極簡美學）：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背景：</a:t>
            </a:r>
            <a:r>
              <a:rPr b="0">
                <a:solidFill>
                  <a:srgbClr val="334155"/>
                </a:solidFill>
              </a:rPr>
              <a:t> 深色極簡底色（如暗灰 / 炭黑），突顯主體。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版面分欄：</a:t>
            </a:r>
            <a:r>
              <a:rPr b="0">
                <a:solidFill>
                  <a:srgbClr val="334155"/>
                </a:solidFill>
              </a:rPr>
              <a:t> 左右對稱分欄，排版大氣通透。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➔ </a:t>
            </a:r>
            <a:r>
              <a:rPr b="1">
                <a:solidFill>
                  <a:srgbClr val="0369A1"/>
                </a:solidFill>
              </a:rPr>
              <a:t>贏的關鍵，就是跟別人不一樣，選一條沒人走過的路。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➔ </a:t>
            </a:r>
            <a:r>
              <a:rPr b="1">
                <a:solidFill>
                  <a:srgbClr val="0369A1"/>
                </a:solidFill>
              </a:rPr>
              <a:t>生意要像水一樣靈活，別人沒做的事情你拿來做，你就是神。</a:t>
            </a:r>
            <a:r>
              <a:rPr b="0">
                <a:solidFill>
                  <a:srgbClr val="334155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獨特優勢之東西方大師佐證（How）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43891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邁克爾·波特（Michael Porter）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>“Competitive advantage is about being different.”
➔
 贏的關鍵，就是跟別人不一樣，選一條沒人走過的路。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孫子（Sun Tzu）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>「兵無常勢，水無常形，能因敵變化而取勝者，謂之神。」
➔
 生意要像水一樣靈活，別人沒做的事情你拿來做，你就是神。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產品 2 案例 —— 全家便利商店的百億逆襲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2. 產品 案例剖析 ➔ 全家便利商店的百億逆襲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核心策略：</a:t>
            </a:r>
            <a:r>
              <a:rPr b="0">
                <a:solidFill>
                  <a:srgbClr val="334155"/>
                </a:solidFill>
              </a:rPr>
              <a:t> 你無我有 ➔ 你有我優 ➔ 你優我廉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實戰案例與根據：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🔹 </a:t>
            </a:r>
            <a:r>
              <a:rPr b="1">
                <a:solidFill>
                  <a:srgbClr val="0369A1"/>
                </a:solidFill>
              </a:rPr>
              <a:t>你無我有：</a:t>
            </a:r>
            <a:r>
              <a:rPr b="0">
                <a:solidFill>
                  <a:srgbClr val="334155"/>
                </a:solidFill>
              </a:rPr>
              <a:t> 率先推出「App隨買跨店取」與「Fami!ce 創意霜淇淋」，在對手反應過來前獨佔數位寄杯與冰品藍海。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🔸 </a:t>
            </a:r>
            <a:r>
              <a:rPr b="1">
                <a:solidFill>
                  <a:srgbClr val="0369A1"/>
                </a:solidFill>
              </a:rPr>
              <a:t>你有我優：</a:t>
            </a:r>
            <a:r>
              <a:rPr b="0">
                <a:solidFill>
                  <a:srgbClr val="334155"/>
                </a:solidFill>
              </a:rPr>
              <a:t> 當對手跟進時，砸重金升級「Let's Café 100%單品咖啡」與「匠土司」，把大眾商品的品質做到極致差異化。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產品 2 案例 —— 全家便利商店的百億逆襲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🔶 </a:t>
            </a:r>
            <a:r>
              <a:rPr b="1">
                <a:solidFill>
                  <a:srgbClr val="0369A1"/>
                </a:solidFill>
              </a:rPr>
              <a:t>你優我廉：</a:t>
            </a:r>
            <a:r>
              <a:rPr b="0">
                <a:solidFill>
                  <a:srgbClr val="334155"/>
                </a:solidFill>
              </a:rPr>
              <a:t> 面對高檔下午茶餐廳的市場優勢，常年祭出週末「康康五（買一送一）」與「Fa點點數直接折現」，用不可思議的超低門檻瘋狂引流。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數據根據：</a:t>
            </a:r>
            <a:r>
              <a:rPr b="0">
                <a:solidFill>
                  <a:srgbClr val="334155"/>
                </a:solidFill>
              </a:rPr>
              <a:t> 台灣證券交易所（TWSE，股票代號 5903 全家），《商業周刊》第 1735 期封面故事。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產品 3 —— 心智定位（What）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產品再好，定位模糊就是路人甲。你必須在客人的大腦格子裡，卡死唯一的代名詞。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3. 產品 What ➔ 心智定位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產品 3 —— 心智定位（What）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傑克·特勞特（全球定位之父）：</a:t>
            </a:r>
            <a:r>
              <a:rPr b="0">
                <a:solidFill>
                  <a:srgbClr val="475569"/>
                </a:solidFill>
              </a:rPr>
              <a:t> *"Positioning is not what you do to a product. Positioning is what you do to the mind of the prospect."* ➔ 定位，不是改動產品，而是要在客人的腦袋裡，幫自己卡住一個位置。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475569"/>
                </a:solidFill>
              </a:rPr>
              <a:t>鬼谷子（東方謀略鼻祖）：</a:t>
            </a:r>
            <a:r>
              <a:rPr b="0">
                <a:solidFill>
                  <a:srgbClr val="475569"/>
                </a:solidFill>
              </a:rPr>
              <a:t> </a:t>
            </a:r>
            <a:r>
              <a:rPr b="1">
                <a:solidFill>
                  <a:srgbClr val="475569"/>
                </a:solidFill>
              </a:rPr>
              <a:t>「聖人揣情摩意，度時量能。」</a:t>
            </a:r>
            <a:r>
              <a:rPr b="0">
                <a:solidFill>
                  <a:srgbClr val="475569"/>
                </a:solidFill>
              </a:rPr>
              <a:t> ➔ 厲害的人，會精準摸透客人的心思，給自己定好無可取代的位置。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5912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星巴克（第三空間）╳ 薰衣草森林（森林系放鬆）。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推廣 4 —— 建立信任（Why）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建立信任三細節：自證（自我肯定）➔ 見證（客戶口碑）➔ 實證（權威數據）。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4. 推廣 Why ➔ 建立信任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推廣 4 —— 建立信任（Why）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丹尼爾·康納曼（諾貝爾經濟學獎得主）：</a:t>
            </a:r>
            <a:r>
              <a:rPr b="0">
                <a:solidFill>
                  <a:srgbClr val="475569"/>
                </a:solidFill>
              </a:rPr>
              <a:t> *"Familiarity breeds cognitive ease and a comforting feeling of safety."* ➔ 大腦只要看到熟悉的、權威的東西，就會自動放下防備，覺得很安全。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475569"/>
                </a:solidFill>
              </a:rPr>
              <a:t>孔子（儒家至聖先師）：</a:t>
            </a:r>
            <a:r>
              <a:rPr b="0">
                <a:solidFill>
                  <a:srgbClr val="475569"/>
                </a:solidFill>
              </a:rPr>
              <a:t> </a:t>
            </a:r>
            <a:r>
              <a:rPr b="1">
                <a:solidFill>
                  <a:srgbClr val="475569"/>
                </a:solidFill>
              </a:rPr>
              <a:t>「民無信不立。」</a:t>
            </a:r>
            <a:r>
              <a:rPr b="0">
                <a:solidFill>
                  <a:srgbClr val="475569"/>
                </a:solidFill>
              </a:rPr>
              <a:t> ➔ 做生意如果沒有信用與信任感，你連站都站不穩。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5912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長庚生技。靠王永慶董事長的自身健康實踐，結合頂尖見證與科研數據建構防線。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推廣 5 —— 創造互動（How）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私域能量梯子：有趣共振 ➔ 真誠連結 ➔感動分享。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5. 推廣 How ➔ 創造互動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推廣 5 —— 創造互動（How）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羅伯特·西奧迪尼（全球影響力科學大師）：</a:t>
            </a:r>
            <a:r>
              <a:rPr b="0">
                <a:solidFill>
                  <a:srgbClr val="475569"/>
                </a:solidFill>
              </a:rPr>
              <a:t> *"People prefer to say yes to those they know and like."* ➔ 每個人都更喜歡對自己認識、而且喜歡的人說『好』。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475569"/>
                </a:solidFill>
              </a:rPr>
              <a:t>喬納·博格（《瘋潮行銷》大師）：</a:t>
            </a:r>
            <a:r>
              <a:rPr b="0">
                <a:solidFill>
                  <a:srgbClr val="475569"/>
                </a:solidFill>
              </a:rPr>
              <a:t> *"When we care, we share."* ➔ 當我們在乎、靈魂受到觸動，大腦就會強烈渴望去分享。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5912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哇賽心理學。不講枯燥的論文學術，靠有趣好玩的心理學互動，與大眾真誠連結。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推廣 6 —— 客從哪來（What）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天網引流 ➔ 地網體驗 ➔ 人網口碑。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6. 推廣 What ➔ 客從哪來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東西方大師佐證：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>-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👑 </a:t>
            </a:r>
            <a:r>
              <a:rPr b="1">
                <a:solidFill>
                  <a:srgbClr val="0369A1"/>
                </a:solidFill>
              </a:rPr>
              <a:t>管仲（東方第一經濟學家/相國）：</a:t>
            </a:r>
            <a:r>
              <a:rPr b="0">
                <a:solidFill>
                  <a:srgbClr val="334155"/>
                </a:solidFill>
              </a:rPr>
              <a:t> </a:t>
            </a:r>
            <a:r>
              <a:rPr b="1">
                <a:solidFill>
                  <a:srgbClr val="0369A1"/>
                </a:solidFill>
              </a:rPr>
              <a:t>「通流物資，客自引來。」</a:t>
            </a:r>
            <a:r>
              <a:rPr b="0">
                <a:solidFill>
                  <a:srgbClr val="334155"/>
                </a:solidFill>
              </a:rPr>
              <a:t> ➔ 把你的商業路徑理通順了，客商自己就會順著路引過來。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推廣 6 —— 客從哪來（What）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5486400"/>
            <a:ext cx="10725912" cy="82296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台灣高鐵。天網做App預約與數位宣傳，地網做實體車站，人網口碑帶來極高回購率。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模式 7 —— 心靈自由（Why）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12 字財富循環：付出價值 ➔ 豐盛回流 ➔ 生生不息。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7. 模式 Why ➔ 心靈自由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模式 7 —— 心靈自由（Why）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王永慶（台灣經營之神）：</a:t>
            </a:r>
            <a:r>
              <a:rPr b="0">
                <a:solidFill>
                  <a:srgbClr val="475569"/>
                </a:solidFill>
              </a:rPr>
              <a:t> </a:t>
            </a:r>
            <a:r>
              <a:rPr b="1">
                <a:solidFill>
                  <a:srgbClr val="0369A1"/>
                </a:solidFill>
              </a:rPr>
              <a:t>「刨根究底，簡單制度，徹頭徹尾去執行。」</a:t>
            </a:r>
            <a:r>
              <a:rPr b="0">
                <a:solidFill>
                  <a:srgbClr val="475569"/>
                </a:solidFill>
              </a:rPr>
              <a:t> ➔ 系統的核心是極致的複製，把複雜的事情弄成最簡單的制度去執行。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475569"/>
                </a:solidFill>
              </a:rPr>
              <a:t>亨利·福特（全球汽車工業之父）：</a:t>
            </a:r>
            <a:r>
              <a:rPr b="0">
                <a:solidFill>
                  <a:srgbClr val="475569"/>
                </a:solidFill>
              </a:rPr>
              <a:t> *"Nothing is hard if you divide it into small jobs."* ➔ 只要你將複雜的任務切成小步驟，就沒有難做的事。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5912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佐登妮絲。從傳統美容升級為美學健康集團，不僅幫個案找回美麗，更成就了無數創業者的心靈自由。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🧠 腦科學加持——為什麼「離苦得樂」與「付出價值」是天道？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利他，是刻在基因裡的生物密碼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核心概念：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鏡像神經元（Mirror Neurons）：大腦會複製他人的痛苦電訊號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OXTR 催產素受體基因 ╳ AVPR1A 利他基因：幫助他人的生理本能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>Helper's High（利他高潮）：助人時多巴胺與內啡肽大量釋放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模式 8 —— 物超所值（How）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五星顧客 ➔ 建立管道 ➔ 讓利倍增。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8. 模式 How ➔ 物超所值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模式 8 —— 物超所值（How）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華萊士·瓦特斯（《失落的致富經典》作者）：</a:t>
            </a:r>
            <a:r>
              <a:rPr b="0">
                <a:solidFill>
                  <a:srgbClr val="475569"/>
                </a:solidFill>
              </a:rPr>
              <a:t> *"Give every person more in use value than you take from them in cash value."* ➔ 你給別人的使用價值，必須遠遠大於你收回的現金價值。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475569"/>
                </a:solidFill>
              </a:rPr>
              <a:t>陶朱公（范蠡，東方商祖）：</a:t>
            </a:r>
            <a:r>
              <a:rPr b="0">
                <a:solidFill>
                  <a:srgbClr val="475569"/>
                </a:solidFill>
              </a:rPr>
              <a:t> </a:t>
            </a:r>
            <a:r>
              <a:rPr b="1">
                <a:solidFill>
                  <a:srgbClr val="475569"/>
                </a:solidFill>
              </a:rPr>
              <a:t>「以義致利，利以義制。」</a:t>
            </a:r>
            <a:r>
              <a:rPr b="0">
                <a:solidFill>
                  <a:srgbClr val="475569"/>
                </a:solidFill>
              </a:rPr>
              <a:t> ➔ 追求利益必須符合道義，大方讓利給他人，才能獲得長遠的大利。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5912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Curves 女性健身 ╳ 馬修嚴選。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模式 9 —— 自動流程（What）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5912" cy="7772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284C7"/>
                </a:solidFill>
              </a:rPr>
              <a:t>觀念核心：</a:t>
            </a:r>
            <a:r>
              <a:rPr b="0">
                <a:solidFill>
                  <a:srgbClr val="334155"/>
                </a:solidFill>
              </a:rPr>
              <a:t> 12 字系統法則：簡單方案 ➔ 科技系統 ➔ 複製模式。大師的肉身很尊貴，必須砍掉複雜的客製化，導入科技自動化，解放精力，批量複製團隊。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59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標題：</a:t>
            </a:r>
            <a:r>
              <a:rPr b="0">
                <a:solidFill>
                  <a:srgbClr val="334155"/>
                </a:solidFill>
              </a:rPr>
              <a:t> 9. 模式 What ➔ 自動流程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模式 9 —— 自動流程（What）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120640" cy="347472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0369A1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埃隆·馬斯克（全球科技冒險巨擘）：</a:t>
            </a:r>
            <a:r>
              <a:rPr b="0">
                <a:solidFill>
                  <a:srgbClr val="475569"/>
                </a:solidFill>
              </a:rPr>
              <a:t> *"Automate everything that can be automated."* ➔ 把所有重複、麻煩的步驟，通通交給系統自動化。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12080" cy="3474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 bIns="274320"/>
          <a:lstStyle/>
          <a:p>
            <a:pPr algn="ctr">
              <a:spcAft>
                <a:spcPts val="1200"/>
              </a:spcAft>
              <a:defRPr sz="2000" b="1">
                <a:solidFill>
                  <a:srgbClr val="475569"/>
                </a:solidFill>
                <a:latin typeface="Microsoft JhengHei"/>
              </a:defRPr>
            </a:pPr>
            <a:r>
              <a:t>大師語錄</a:t>
            </a:r>
          </a:p>
          <a:p>
            <a:pPr>
              <a:defRPr sz="1500">
                <a:latin typeface="Microsoft JhengHei"/>
              </a:defRPr>
            </a:pPr>
            <a:r>
              <a:rPr b="0">
                <a:solidFill>
                  <a:srgbClr val="475569"/>
                </a:solidFill>
              </a:rPr>
              <a:t/>
            </a:r>
            <a:r>
              <a:rPr b="1">
                <a:solidFill>
                  <a:srgbClr val="475569"/>
                </a:solidFill>
              </a:rPr>
              <a:t>張忠謀（全球半導體教父）：</a:t>
            </a:r>
            <a:r>
              <a:rPr b="0">
                <a:solidFill>
                  <a:srgbClr val="475569"/>
                </a:solidFill>
              </a:rPr>
              <a:t> </a:t>
            </a:r>
            <a:r>
              <a:rPr b="1">
                <a:solidFill>
                  <a:srgbClr val="475569"/>
                </a:solidFill>
              </a:rPr>
              <a:t>「核心流程自動運轉，把重複的工作交給機器，人去創造價值。」</a:t>
            </a:r>
            <a:r>
              <a:rPr b="0">
                <a:solidFill>
                  <a:srgbClr val="475569"/>
                </a:solidFill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5912" cy="868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82880" rIns="182880"/>
          <a:lstStyle/>
          <a:p>
            <a:pPr algn="l">
              <a:defRPr sz="1600">
                <a:latin typeface="Microsoft JhengHei"/>
              </a:defRPr>
            </a:pP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B45309"/>
                </a:solidFill>
              </a:rPr>
              <a:t>實戰案例對撞：</a:t>
            </a:r>
            <a:r>
              <a:rPr b="0">
                <a:solidFill>
                  <a:srgbClr val="334155"/>
                </a:solidFill>
              </a:rPr>
              <a:t> 台灣高鐵 T-EX ╳ 星巴克 ╳ 麥當勞。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實戰正課大綱：一鍵裝配商業王國 (1/2)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2800">
                <a:latin typeface="Microsoft JhengHei"/>
              </a:defRPr>
            </a:pPr>
            <a:r>
              <a:rPr sz="2800" b="1">
                <a:solidFill>
                  <a:srgbClr val="0EA5E9"/>
                </a:solidFill>
                <a:latin typeface="Microsoft JhengHei"/>
              </a:rPr>
              <a:t>✦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課程大綱：</a:t>
            </a:r>
            <a:r>
              <a:rPr b="0">
                <a:solidFill>
                  <a:srgbClr val="334155"/>
                </a:solidFill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說明會：</a:t>
            </a:r>
            <a:r>
              <a:rPr b="0">
                <a:solidFill>
                  <a:srgbClr val="334155"/>
                </a:solidFill>
              </a:rPr>
              <a:t> 獨特優勢與報名優惠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第一堂：</a:t>
            </a:r>
            <a:r>
              <a:rPr b="0">
                <a:solidFill>
                  <a:srgbClr val="334155"/>
                </a:solidFill>
              </a:rPr>
              <a:t> 基礎理論與應用（底層邏輯，扎馬步）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第二堂：</a:t>
            </a:r>
            <a:r>
              <a:rPr b="0">
                <a:solidFill>
                  <a:srgbClr val="334155"/>
                </a:solidFill>
              </a:rPr>
              <a:t> 如何找到獨特定位與使命（找到自己獨特優勢）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第三堂：</a:t>
            </a:r>
            <a:r>
              <a:rPr b="0">
                <a:solidFill>
                  <a:srgbClr val="334155"/>
                </a:solidFill>
              </a:rPr>
              <a:t> 如何寫出自傳找到個人賣點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第四堂：</a:t>
            </a:r>
            <a:r>
              <a:rPr b="0">
                <a:solidFill>
                  <a:srgbClr val="334155"/>
                </a:solidFill>
              </a:rPr>
              <a:t> 透過第三方工具測驗（找到自己的定位）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第五堂：</a:t>
            </a:r>
            <a:r>
              <a:rPr b="0">
                <a:solidFill>
                  <a:srgbClr val="334155"/>
                </a:solidFill>
              </a:rPr>
              <a:t> 流量與文案（文案公式與流量獲取方法）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94360"/>
            <a:ext cx="73152" cy="548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10497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83344"/>
                </a:solidFill>
                <a:latin typeface="Microsoft JhengHei"/>
              </a:defRPr>
            </a:pPr>
            <a:r>
              <a:t>實戰正課大綱：一鍵裝配商業王國 (2/2)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591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2591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第六堂：</a:t>
            </a:r>
            <a:r>
              <a:rPr b="0">
                <a:solidFill>
                  <a:srgbClr val="334155"/>
                </a:solidFill>
              </a:rPr>
              <a:t> 商業模式與變現（變現模式）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第七堂：</a:t>
            </a:r>
            <a:r>
              <a:rPr b="0">
                <a:solidFill>
                  <a:srgbClr val="334155"/>
                </a:solidFill>
              </a:rPr>
              <a:t> 如何選品與選人（好產品帶你上天堂）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第八堂：</a:t>
            </a:r>
            <a:r>
              <a:rPr b="0">
                <a:solidFill>
                  <a:srgbClr val="334155"/>
                </a:solidFill>
              </a:rPr>
              <a:t> 如何做個人頁與粉絲頁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第九堂：</a:t>
            </a:r>
            <a:r>
              <a:rPr b="0">
                <a:solidFill>
                  <a:srgbClr val="334155"/>
                </a:solidFill>
              </a:rPr>
              <a:t> 如何做好轉換與運用工具跟進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500">
                <a:latin typeface="Microsoft JhengHei"/>
              </a:defRPr>
            </a:pPr>
            <a:r>
              <a:rPr sz="2500" b="1">
                <a:solidFill>
                  <a:srgbClr val="7DD3FC"/>
                </a:solidFill>
                <a:latin typeface="Microsoft JhengHei"/>
              </a:rPr>
              <a:t>•  </a:t>
            </a:r>
            <a:r>
              <a:rPr b="0">
                <a:solidFill>
                  <a:srgbClr val="334155"/>
                </a:solidFill>
              </a:rPr>
              <a:t/>
            </a:r>
            <a:r>
              <a:rPr b="1">
                <a:solidFill>
                  <a:srgbClr val="0369A1"/>
                </a:solidFill>
              </a:rPr>
              <a:t>第十堂：</a:t>
            </a:r>
            <a:r>
              <a:rPr b="0">
                <a:solidFill>
                  <a:srgbClr val="334155"/>
                </a:solidFill>
              </a:rPr>
              <a:t> 現場操作與量測與畢業典禮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用科技做後台，幫你做掉所有行政苦工；</a:t>
            </a:r>
            <a:br/>
            <a:r>
              <a:t>把省下來的寶貴時間，拿來對你的五星顧客，</a:t>
            </a:r>
            <a:br/>
            <a:r>
              <a:t>做全台灣最優雅、最無可取代的【人性服務】！</a:t>
            </a:r>
          </a:p>
          <a:p>
            <a:pPr algn="ctr">
              <a:spcBef>
                <a:spcPts val="4000"/>
              </a:spcBef>
              <a:defRPr sz="2200">
                <a:solidFill>
                  <a:srgbClr val="0284C7"/>
                </a:solidFill>
                <a:latin typeface="Microsoft JhengHei"/>
              </a:defRPr>
            </a:pPr>
            <a:r>
              <a:t> 前台極致溫暖，後台極致自動。這，就是行銷界九陽神功。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 安裝你的「宇宙收款機」</a:t>
            </a:r>
          </a:p>
          <a:p>
            <a:pPr algn="ctr">
              <a:spcBef>
                <a:spcPts val="4000"/>
              </a:spcBef>
              <a:defRPr sz="2200">
                <a:solidFill>
                  <a:srgbClr val="0284C7"/>
                </a:solidFill>
                <a:latin typeface="Microsoft JhengHei"/>
              </a:defRPr>
            </a:pPr>
            <a:r>
              <a:t> 【 產品 x 推廣 ➔ 模式 】</a:t>
            </a:r>
            <a:br/>
            <a:r>
              <a:t>( 預約一對一現場診斷)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62095" cy="2743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