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74" r:id="rId2"/>
    <p:sldId id="275" r:id="rId3"/>
    <p:sldId id="278" r:id="rId4"/>
    <p:sldId id="279" r:id="rId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6" autoAdjust="0"/>
    <p:restoredTop sz="94660"/>
  </p:normalViewPr>
  <p:slideViewPr>
    <p:cSldViewPr snapToGrid="0">
      <p:cViewPr varScale="1">
        <p:scale>
          <a:sx n="104" d="100"/>
          <a:sy n="104" d="100"/>
        </p:scale>
        <p:origin x="126"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8A164-6C5B-47FF-AF9D-F0A0379289FE}" type="datetimeFigureOut">
              <a:rPr lang="zh-TW" altLang="en-US" smtClean="0"/>
              <a:t>2026/6/24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F83E4-A819-4050-BDC9-AF1FFE1E96EC}" type="slidenum">
              <a:rPr lang="zh-TW" altLang="en-US" smtClean="0"/>
              <a:t>‹#›</a:t>
            </a:fld>
            <a:endParaRPr lang="zh-TW" altLang="en-US"/>
          </a:p>
        </p:txBody>
      </p:sp>
    </p:spTree>
    <p:extLst>
      <p:ext uri="{BB962C8B-B14F-4D97-AF65-F5344CB8AC3E}">
        <p14:creationId xmlns:p14="http://schemas.microsoft.com/office/powerpoint/2010/main" val="364370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「產品的最後一步，我們要在客人的大腦裡，落地成一根拔不掉的釘子，這四個字一字不能改，叫作**【心智定位】**！</a:t>
            </a:r>
          </a:p>
          <a:p>
            <a:endParaRPr/>
          </a:p>
          <a:p>
            <a:r>
              <a:t>很多老師覺得自己什麼都會，又會調理、又會算命、又會能量、又會賣保健品。客人一問他是做什麼的，他講了半小時，客人還是聽不懂。定位模糊，你在市場上就是路人甲。</a:t>
            </a:r>
          </a:p>
          <a:p>
            <a:endParaRPr/>
          </a:p>
          <a:p>
            <a:r>
              <a:t>來看我們的東西方名家背書：</a:t>
            </a:r>
          </a:p>
          <a:p>
            <a:r>
              <a:t>定位之父**傑克·特勞特**說過：『定位不是你對產品做了什麼改動，而是你在客人的心智裡卡住了什麼位置。』</a:t>
            </a:r>
          </a:p>
          <a:p>
            <a:r>
              <a:t>東方的謀略鼻祖**鬼谷子**也定下鐵律：『聖人揣情摩意，度時量能。』意思就是，真正厲害的人會摸透人心，然後衡量自己的能量與定位。</a:t>
            </a:r>
          </a:p>
          <a:p>
            <a:endParaRPr/>
          </a:p>
          <a:p>
            <a:r>
              <a:t>就像**星巴克**，他不叫『咖啡店』，他在全世界客人的大腦格子裡卡死了一個位置，叫作『辦公室與家之外的**第三空間**』。你想喝咖啡放空，腦海裡第一個浮現的就是它。</a:t>
            </a:r>
          </a:p>
          <a:p>
            <a:endParaRPr/>
          </a:p>
          <a:p>
            <a:r>
              <a:t>就像台灣的**薰衣草森林**，它不拼豪華裝潢，直接在台灣人腦袋裡卡死一個代名詞就叫『**森林系放鬆與幸福感**』。你想放鬆，就會自動開車入山給她們送錢。</a:t>
            </a:r>
          </a:p>
          <a:p>
            <a:endParaRPr/>
          </a:p>
          <a:p>
            <a:r>
              <a:t>定位定了，你的江山就穩了！」</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「產品的最後一步，我們要在客人的大腦裡，落地成一根拔不掉的釘子，這四個字一字不能改，叫作**【心智定位】**！</a:t>
            </a:r>
          </a:p>
          <a:p>
            <a:endParaRPr/>
          </a:p>
          <a:p>
            <a:r>
              <a:t>很多老師覺得自己什麼都會，又會調理、又會算命、又會能量、又會賣保健品。客人一問他是做什麼的，他講了半小時，客人還是聽不懂。定位模糊，你在市場上就是路人甲。</a:t>
            </a:r>
          </a:p>
          <a:p>
            <a:endParaRPr/>
          </a:p>
          <a:p>
            <a:r>
              <a:t>來看我們的東西方名家背書：</a:t>
            </a:r>
          </a:p>
          <a:p>
            <a:r>
              <a:t>定位之父**傑克·特勞特**說過：『定位不是你對產品做了什麼改動，而是你在客人的心智裡卡住了什麼位置。』</a:t>
            </a:r>
          </a:p>
          <a:p>
            <a:r>
              <a:t>東方的謀略鼻祖**鬼谷子**也定下鐵律：『聖人揣情摩意，度時量能。』意思就是，真正厲害的人會摸透人心，然後衡量自己的能量與定位。</a:t>
            </a:r>
          </a:p>
          <a:p>
            <a:endParaRPr/>
          </a:p>
          <a:p>
            <a:r>
              <a:t>就像**星巴克**，他不叫『咖啡店』，他在全世界客人的大腦格子裡卡死了一個位置，叫作『辦公室與家之外的**第三空間**』。你想喝咖啡放空，腦海裡第一個浮現的就是它。</a:t>
            </a:r>
          </a:p>
          <a:p>
            <a:endParaRPr/>
          </a:p>
          <a:p>
            <a:r>
              <a:t>就像台灣的**薰衣草森林**，它不拼豪華裝潢，直接在台灣人腦袋裡卡死一個代名詞就叫『**森林系放鬆與幸福感**』。你想放鬆，就會自動開車入山給她們送錢。</a:t>
            </a:r>
          </a:p>
          <a:p>
            <a:endParaRPr/>
          </a:p>
          <a:p>
            <a:r>
              <a:t>定位定了，你的江山就穩了！」</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37BC-79E5-12C3-52FB-D955DC344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3DDF6-785B-0FB7-9BCB-5A4775FC186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4BDA119-71F2-EF37-62FA-407B2BDD5C46}"/>
              </a:ext>
            </a:extLst>
          </p:cNvPr>
          <p:cNvSpPr>
            <a:spLocks noGrp="1"/>
          </p:cNvSpPr>
          <p:nvPr>
            <p:ph type="body" sz="quarter" idx="3"/>
          </p:nvPr>
        </p:nvSpPr>
        <p:spPr/>
        <p:txBody>
          <a:bodyPr/>
          <a:lstStyle/>
          <a:p>
            <a:r>
              <a:t>「有了頂級產品，我們進入第二個大板塊：**【推廣】**。也就是你要怎麼跟市場溝通。</a:t>
            </a:r>
          </a:p>
          <a:p>
            <a:endParaRPr/>
          </a:p>
          <a:p>
            <a:r>
              <a:t>很多老師天天在社群發文卻沒人理，因為你搞錯了推廣的終極目的。我們為什麼要發聲、為什麼要露臉？唯一、且最重要的目的，叫作**【建立信任】**！</a:t>
            </a:r>
          </a:p>
          <a:p>
            <a:endParaRPr/>
          </a:p>
          <a:p>
            <a:r>
              <a:t>在身心大健康和高客單領域，信任就是你的命根子。客人如果對你沒有信任，你技術再好、產品再好，他連碰都不讓你碰。</a:t>
            </a:r>
          </a:p>
          <a:p>
            <a:endParaRPr/>
          </a:p>
          <a:p>
            <a:r>
              <a:t>西方心理學大師**丹尼爾·康納曼**指出：『熟悉感與權威，會帶來認知放鬆與安全感。』</a:t>
            </a:r>
          </a:p>
          <a:p>
            <a:r>
              <a:t>東方的至聖先師**孔子**也說：『民無信不立。』做生意如果沒有信任，你的事業連站都站不穩！</a:t>
            </a:r>
          </a:p>
          <a:p>
            <a:endParaRPr/>
          </a:p>
          <a:p>
            <a:r>
              <a:t>那信任要怎麼建立？這三個細節一字都不能改：**【自證、見證、實證】**。</a:t>
            </a:r>
          </a:p>
          <a:p>
            <a:r>
              <a:t>首先，是**【自證】**。用你自己的生命實踐和內心肯定，證明你說的是真的；其次，是**【見證】**。用客戶最真實、有血有肉的口碑，證明你的方法在別人身上也同樣有效；最後，是**【實證】**。用權威的科研數據與檢測對比，給他的理性大腦一份無法抗拒的安全感。</a:t>
            </a:r>
          </a:p>
          <a:p>
            <a:r>
              <a:t>就像『長庚生技』，之所以在台灣無可動搖，就是因為它完美契合了創辦人王永慶先生自身健康的『自證』、無數消費者的『見證』、以及頂尖實驗室科研成果的『實證』。信任立住了，後面成交就只是順理成章的事。」</a:t>
            </a:r>
          </a:p>
        </p:txBody>
      </p:sp>
      <p:sp>
        <p:nvSpPr>
          <p:cNvPr id="4" name="Slide Number Placeholder 3">
            <a:extLst>
              <a:ext uri="{FF2B5EF4-FFF2-40B4-BE49-F238E27FC236}">
                <a16:creationId xmlns:a16="http://schemas.microsoft.com/office/drawing/2014/main" id="{5651804C-5497-2CC0-CB92-62C1F5C16304}"/>
              </a:ext>
            </a:extLst>
          </p:cNvPr>
          <p:cNvSpPr>
            <a:spLocks noGrp="1"/>
          </p:cNvSpPr>
          <p:nvPr>
            <p:ph type="sldNum" sz="quarter" idx="5"/>
          </p:nvPr>
        </p:nvSpPr>
        <p:spPr/>
      </p:sp>
    </p:spTree>
    <p:extLst>
      <p:ext uri="{BB962C8B-B14F-4D97-AF65-F5344CB8AC3E}">
        <p14:creationId xmlns:p14="http://schemas.microsoft.com/office/powerpoint/2010/main" val="1011377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61451-AB54-3BCB-3EE5-49CD6AF03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7272A-DA92-FE1D-14BA-C0932BA99D7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C4FF207-2267-6A13-A0A8-FD1C8882F365}"/>
              </a:ext>
            </a:extLst>
          </p:cNvPr>
          <p:cNvSpPr>
            <a:spLocks noGrp="1"/>
          </p:cNvSpPr>
          <p:nvPr>
            <p:ph type="body" sz="quarter" idx="3"/>
          </p:nvPr>
        </p:nvSpPr>
        <p:spPr/>
        <p:txBody>
          <a:bodyPr/>
          <a:lstStyle/>
          <a:p>
            <a:r>
              <a:t>「產品的最後一步，我們要在客人的大腦裡，落地成一根拔不掉的釘子，這四個字一字不能改，叫作**【心智定位】**！</a:t>
            </a:r>
          </a:p>
          <a:p>
            <a:endParaRPr/>
          </a:p>
          <a:p>
            <a:r>
              <a:t>很多老師覺得自己什麼都會，又會調理、又會算命、又會能量、又會賣保健品。客人一問他是做什麼的，他講了半小時，客人還是聽不懂。定位模糊，你在市場上就是路人甲。</a:t>
            </a:r>
          </a:p>
          <a:p>
            <a:endParaRPr/>
          </a:p>
          <a:p>
            <a:r>
              <a:t>來看我們的東西方名家背書：</a:t>
            </a:r>
          </a:p>
          <a:p>
            <a:r>
              <a:t>定位之父**傑克·特勞特**說過：『定位不是你對產品做了什麼改動，而是你在客人的心智裡卡住了什麼位置。』</a:t>
            </a:r>
          </a:p>
          <a:p>
            <a:r>
              <a:t>東方的謀略鼻祖**鬼谷子**也定下鐵律：『聖人揣情摩意，度時量能。』意思就是，真正厲害的人會摸透人心，然後衡量自己的能量與定位。</a:t>
            </a:r>
          </a:p>
          <a:p>
            <a:endParaRPr/>
          </a:p>
          <a:p>
            <a:r>
              <a:t>就像**星巴克**，他不叫『咖啡店』，他在全世界客人的大腦格子裡卡死了一個位置，叫作『辦公室與家之外的**第三空間**』。你想喝咖啡放空，腦海裡第一個浮現的就是它。</a:t>
            </a:r>
          </a:p>
          <a:p>
            <a:endParaRPr/>
          </a:p>
          <a:p>
            <a:r>
              <a:t>就像台灣的**薰衣草森林**，它不拼豪華裝潢，直接在台灣人腦袋裡卡死一個代名詞就叫『**森林系放鬆與幸福感**』。你想放鬆，就會自動開車入山給她們送錢。</a:t>
            </a:r>
          </a:p>
          <a:p>
            <a:endParaRPr/>
          </a:p>
          <a:p>
            <a:r>
              <a:t>定位定了，你的江山就穩了！」</a:t>
            </a:r>
          </a:p>
        </p:txBody>
      </p:sp>
      <p:sp>
        <p:nvSpPr>
          <p:cNvPr id="4" name="Slide Number Placeholder 3">
            <a:extLst>
              <a:ext uri="{FF2B5EF4-FFF2-40B4-BE49-F238E27FC236}">
                <a16:creationId xmlns:a16="http://schemas.microsoft.com/office/drawing/2014/main" id="{1B69047F-97AC-2803-B7E1-6F8B13F6FCB1}"/>
              </a:ext>
            </a:extLst>
          </p:cNvPr>
          <p:cNvSpPr>
            <a:spLocks noGrp="1"/>
          </p:cNvSpPr>
          <p:nvPr>
            <p:ph type="sldNum" sz="quarter" idx="5"/>
          </p:nvPr>
        </p:nvSpPr>
        <p:spPr/>
      </p:sp>
    </p:spTree>
    <p:extLst>
      <p:ext uri="{BB962C8B-B14F-4D97-AF65-F5344CB8AC3E}">
        <p14:creationId xmlns:p14="http://schemas.microsoft.com/office/powerpoint/2010/main" val="2968205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E9E57F-44D6-01F0-0432-8BF4F5E2941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D64649A-718A-B0A5-A574-38E79FEE4E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19BEB6D-23EF-C3E6-E966-E10A7646DF39}"/>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363BC29C-9B62-5A75-6935-EFBFDCBEDF1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F885FAA-DA64-0FC1-FC66-F99A483C8E96}"/>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2882525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AD9F6F-3D05-A775-AA31-D5FCE388574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AC82BA-2BF4-3331-46FC-7E2EEFD21B27}"/>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7A4C489-79EF-BF95-6087-8DA7B4116665}"/>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24FD798D-07FD-9698-C004-A4A153199A0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DBA4FAD-E345-228E-F3CA-D093BA0639D4}"/>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18311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71C685-33B4-2147-7F6A-6CF47E35296D}"/>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678CCC6-7028-8006-60F5-5B4A2335E3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72D9D4C-6828-04EB-0399-F625B961BCB0}"/>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C29E1760-59B6-8C09-C961-349AB183FDD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D9CB780-2AE4-661E-6383-6798BDF94C7F}"/>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486152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24E103-FA08-92F1-05F6-ADE5692029E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5196A46-9666-DB29-5B33-3B690AFCF0ED}"/>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672C2DD-CF0B-187B-FFDD-5462468A58E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581D55A-870A-6B89-AC43-D9E318170B78}"/>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6" name="頁尾版面配置區 5">
            <a:extLst>
              <a:ext uri="{FF2B5EF4-FFF2-40B4-BE49-F238E27FC236}">
                <a16:creationId xmlns:a16="http://schemas.microsoft.com/office/drawing/2014/main" id="{AD6B4B41-0BE8-3247-F51D-D1A2FE08501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D180D2D-A6B3-5659-DBD0-F2182D880F7B}"/>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258703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69545-E5A3-93E7-BAF5-B888BF5FD8A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F5D10B3-0A05-62D8-74EE-D3E4B38536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7D357BA-5C27-F811-87D5-FA7A782A09E8}"/>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167E218-C9BC-FAD7-A38E-3D6EE006E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3F26802B-2DE5-C02B-073B-533E4010F9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5F1E07D-CA97-F025-73AD-E317AA335F19}"/>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8" name="頁尾版面配置區 7">
            <a:extLst>
              <a:ext uri="{FF2B5EF4-FFF2-40B4-BE49-F238E27FC236}">
                <a16:creationId xmlns:a16="http://schemas.microsoft.com/office/drawing/2014/main" id="{45F7539E-CB64-D577-24B0-05B63845636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D6A5047-D8DE-87E9-8B38-D4D17EB26F64}"/>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96733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EF75AC-7748-BD50-FF8B-B499E533E74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E721C87-EFBB-37DE-A9AD-96571276BDF9}"/>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4" name="頁尾版面配置區 3">
            <a:extLst>
              <a:ext uri="{FF2B5EF4-FFF2-40B4-BE49-F238E27FC236}">
                <a16:creationId xmlns:a16="http://schemas.microsoft.com/office/drawing/2014/main" id="{EC0CC245-B8DA-417E-FFC2-B503DE256C5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4BA5B80-5324-7B99-55A7-3F6CCA974A2F}"/>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2283690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21370B6-428C-454C-3F36-3769BE7798D6}"/>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3" name="頁尾版面配置區 2">
            <a:extLst>
              <a:ext uri="{FF2B5EF4-FFF2-40B4-BE49-F238E27FC236}">
                <a16:creationId xmlns:a16="http://schemas.microsoft.com/office/drawing/2014/main" id="{189DD24F-D482-39EE-C5EC-FDE5EF122EC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7A999DF-5F8E-AC66-BD1D-B0837C7BCD6B}"/>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2153076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D8B540-3C8C-1C5A-1874-02C8FC17E55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DC235DC2-A4BA-A008-E8CF-302DB7834E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C1CD341-E55C-8B20-FA7D-9E33783C0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E2246D-FC6B-2134-059C-0CC685DC4800}"/>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6" name="頁尾版面配置區 5">
            <a:extLst>
              <a:ext uri="{FF2B5EF4-FFF2-40B4-BE49-F238E27FC236}">
                <a16:creationId xmlns:a16="http://schemas.microsoft.com/office/drawing/2014/main" id="{EF611FEB-3E61-0CCF-1C32-788B2A73C93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8FAD29F-B833-8016-1181-FB7AA54864B6}"/>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192970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681D3F-45B1-07A9-60B1-3196CBF773D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75C2D68-E71A-AAF7-3DB4-2CB56F3A3A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DED989E2-BB07-C1B8-F449-A474586CB4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93E2B1A-B2A0-2891-A86A-B1F3AE61D231}"/>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6" name="頁尾版面配置區 5">
            <a:extLst>
              <a:ext uri="{FF2B5EF4-FFF2-40B4-BE49-F238E27FC236}">
                <a16:creationId xmlns:a16="http://schemas.microsoft.com/office/drawing/2014/main" id="{85448B19-001D-57BD-BB82-48FB80BB44F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E0839B1-CBE5-BA6F-7B3A-C6505BEA0803}"/>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489143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9C9504-BF28-1F32-ABA7-4D88360C1746}"/>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58451A2B-58BF-6495-2912-C32B9E06896E}"/>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43AE4C7-9BAC-A78E-F5DD-226B97858DA2}"/>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9447688B-C9D9-8323-26D7-BADE9093A8B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C938D49-4AB6-5253-BC40-E6DF45779AD5}"/>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340451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18355B26-D834-34BB-D285-614D9691A41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1C61F5B-23DD-9818-4D6C-AC50B796E6F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4F8B6C-3C71-7CA4-4BE8-D7B68B038509}"/>
              </a:ext>
            </a:extLst>
          </p:cNvPr>
          <p:cNvSpPr>
            <a:spLocks noGrp="1"/>
          </p:cNvSpPr>
          <p:nvPr>
            <p:ph type="dt" sz="half" idx="10"/>
          </p:nvPr>
        </p:nvSpPr>
        <p:spPr/>
        <p:txBody>
          <a:body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103117EB-A509-0927-5179-175828B4641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6DCDF4-5071-A702-C3F6-AA4EF02104A4}"/>
              </a:ext>
            </a:extLst>
          </p:cNvPr>
          <p:cNvSpPr>
            <a:spLocks noGrp="1"/>
          </p:cNvSpPr>
          <p:nvPr>
            <p:ph type="sldNum" sz="quarter" idx="12"/>
          </p:nvPr>
        </p:nvSpPr>
        <p:spPr/>
        <p:txBody>
          <a:body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198410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FF1C57D-48F9-81E0-FE31-02C456DAAC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D343967-E694-8602-82C4-27E88E03A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4897C2F-110E-52F6-CDE6-1EC7C11EDC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4C5D0F-1F5A-4270-A4CA-F4C4EE7A7BC5}" type="datetimeFigureOut">
              <a:rPr lang="zh-TW" altLang="en-US" smtClean="0"/>
              <a:t>2026/6/24</a:t>
            </a:fld>
            <a:endParaRPr lang="zh-TW" altLang="en-US"/>
          </a:p>
        </p:txBody>
      </p:sp>
      <p:sp>
        <p:nvSpPr>
          <p:cNvPr id="5" name="頁尾版面配置區 4">
            <a:extLst>
              <a:ext uri="{FF2B5EF4-FFF2-40B4-BE49-F238E27FC236}">
                <a16:creationId xmlns:a16="http://schemas.microsoft.com/office/drawing/2014/main" id="{64AA0ED7-393C-0D5E-8A7E-55126F302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C2936BDC-D00D-AE0F-492E-91CBDD8AE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54B3C-E341-41DB-AB2F-E38D9FADF678}" type="slidenum">
              <a:rPr lang="zh-TW" altLang="en-US" smtClean="0"/>
              <a:t>‹#›</a:t>
            </a:fld>
            <a:endParaRPr lang="zh-TW" altLang="en-US"/>
          </a:p>
        </p:txBody>
      </p:sp>
    </p:spTree>
    <p:extLst>
      <p:ext uri="{BB962C8B-B14F-4D97-AF65-F5344CB8AC3E}">
        <p14:creationId xmlns:p14="http://schemas.microsoft.com/office/powerpoint/2010/main" val="11336450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1520" y="594360"/>
            <a:ext cx="73152" cy="5486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548640"/>
            <a:ext cx="10497312" cy="731520"/>
          </a:xfrm>
          <a:prstGeom prst="rect">
            <a:avLst/>
          </a:prstGeom>
          <a:noFill/>
        </p:spPr>
        <p:txBody>
          <a:bodyPr wrap="square">
            <a:spAutoFit/>
          </a:bodyPr>
          <a:lstStyle/>
          <a:p>
            <a:pPr>
              <a:defRPr sz="3200" b="1">
                <a:solidFill>
                  <a:srgbClr val="083344"/>
                </a:solidFill>
                <a:latin typeface="Microsoft JhengHei"/>
              </a:defRPr>
            </a:pPr>
            <a:r>
              <a:t>產品 3 —— 心智定位（What） (1/2)</a:t>
            </a:r>
          </a:p>
        </p:txBody>
      </p:sp>
      <p:sp>
        <p:nvSpPr>
          <p:cNvPr id="5" name="Rectangle 4"/>
          <p:cNvSpPr/>
          <p:nvPr/>
        </p:nvSpPr>
        <p:spPr>
          <a:xfrm>
            <a:off x="731520" y="132588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50474" y="1976174"/>
            <a:ext cx="7928124" cy="3014928"/>
          </a:xfrm>
          <a:prstGeom prst="rect">
            <a:avLst/>
          </a:prstGeom>
          <a:noFill/>
        </p:spPr>
        <p:txBody>
          <a:bodyPr wrap="square">
            <a:spAutoFit/>
          </a:bodyPr>
          <a:lstStyle>
            <a:defPPr>
              <a:defRPr lang="zh-TW"/>
            </a:defPPr>
            <a:lvl1pPr algn="ctr">
              <a:defRPr sz="4400" b="1">
                <a:solidFill>
                  <a:srgbClr val="1E293B"/>
                </a:solidFill>
                <a:latin typeface="Microsoft JhengHei"/>
              </a:defRPr>
            </a:lvl1pPr>
          </a:lstStyle>
          <a:p>
            <a:pPr>
              <a:lnSpc>
                <a:spcPct val="150000"/>
              </a:lnSpc>
            </a:pPr>
            <a:r>
              <a:rPr lang="zh-TW" altLang="en-US">
                <a:latin typeface="微軟正黑體" panose="020B0604030504040204" pitchFamily="34" charset="-120"/>
                <a:ea typeface="微軟正黑體" panose="020B0604030504040204" pitchFamily="34" charset="-120"/>
              </a:rPr>
              <a:t>產品再好，定位模糊就是路人甲。你必須在客人的大腦格子裡，卡死唯一的代名詞。</a:t>
            </a:r>
          </a:p>
        </p:txBody>
      </p:sp>
      <p:sp>
        <p:nvSpPr>
          <p:cNvPr id="8" name="文字方塊 7">
            <a:extLst>
              <a:ext uri="{FF2B5EF4-FFF2-40B4-BE49-F238E27FC236}">
                <a16:creationId xmlns:a16="http://schemas.microsoft.com/office/drawing/2014/main" id="{7A3E1330-DA2A-422E-D70F-5EF2E14C55F3}"/>
              </a:ext>
            </a:extLst>
          </p:cNvPr>
          <p:cNvSpPr txBox="1"/>
          <p:nvPr/>
        </p:nvSpPr>
        <p:spPr>
          <a:xfrm>
            <a:off x="1551478" y="5772185"/>
            <a:ext cx="9089044" cy="523220"/>
          </a:xfrm>
          <a:prstGeom prst="rect">
            <a:avLst/>
          </a:prstGeom>
          <a:noFill/>
        </p:spPr>
        <p:txBody>
          <a:bodyPr wrap="square">
            <a:spAutoFit/>
          </a:bodyPr>
          <a:lstStyle/>
          <a:p>
            <a:pPr algn="ctr"/>
            <a:r>
              <a:rPr lang="zh-TW" altLang="en-US" sz="2800" b="1">
                <a:solidFill>
                  <a:srgbClr val="B45309"/>
                </a:solidFill>
                <a:latin typeface="微軟正黑體" panose="020B0604030504040204" pitchFamily="34" charset="-120"/>
                <a:ea typeface="微軟正黑體" panose="020B0604030504040204" pitchFamily="34" charset="-120"/>
              </a:rPr>
              <a:t>實戰案例： </a:t>
            </a:r>
            <a:r>
              <a:rPr lang="zh-TW" altLang="en-US" sz="2400" b="0">
                <a:solidFill>
                  <a:srgbClr val="334155"/>
                </a:solidFill>
                <a:latin typeface="微軟正黑體" panose="020B0604030504040204" pitchFamily="34" charset="-120"/>
                <a:ea typeface="微軟正黑體" panose="020B0604030504040204" pitchFamily="34" charset="-120"/>
              </a:rPr>
              <a:t>星巴克（第三空間）╳ 薰衣草森林（森林系放鬆）。</a:t>
            </a:r>
            <a:endParaRPr lang="zh-TW" altLang="en-US" sz="2400">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14C42035-309F-0826-A4C5-86F80F3D1C47}"/>
              </a:ext>
            </a:extLst>
          </p:cNvPr>
          <p:cNvGrpSpPr/>
          <p:nvPr/>
        </p:nvGrpSpPr>
        <p:grpSpPr>
          <a:xfrm>
            <a:off x="1569321" y="1800905"/>
            <a:ext cx="962306" cy="494239"/>
            <a:chOff x="1734712" y="1815612"/>
            <a:chExt cx="962306" cy="494239"/>
          </a:xfrm>
        </p:grpSpPr>
        <p:sp>
          <p:nvSpPr>
            <p:cNvPr id="12" name="Rectangle 3">
              <a:extLst>
                <a:ext uri="{FF2B5EF4-FFF2-40B4-BE49-F238E27FC236}">
                  <a16:creationId xmlns:a16="http://schemas.microsoft.com/office/drawing/2014/main" id="{76A6711D-200C-519E-19CF-92F0DAE436CB}"/>
                </a:ext>
              </a:extLst>
            </p:cNvPr>
            <p:cNvSpPr/>
            <p:nvPr/>
          </p:nvSpPr>
          <p:spPr>
            <a:xfrm flipV="1">
              <a:off x="1757571" y="1815612"/>
              <a:ext cx="939447"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3">
              <a:extLst>
                <a:ext uri="{FF2B5EF4-FFF2-40B4-BE49-F238E27FC236}">
                  <a16:creationId xmlns:a16="http://schemas.microsoft.com/office/drawing/2014/main" id="{DF20F67E-AF05-13E5-DF1D-4E57F29759CB}"/>
                </a:ext>
              </a:extLst>
            </p:cNvPr>
            <p:cNvSpPr/>
            <p:nvPr/>
          </p:nvSpPr>
          <p:spPr>
            <a:xfrm rot="5400000" flipV="1">
              <a:off x="1510453" y="2039872"/>
              <a:ext cx="494238"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6" name="群組 15">
            <a:extLst>
              <a:ext uri="{FF2B5EF4-FFF2-40B4-BE49-F238E27FC236}">
                <a16:creationId xmlns:a16="http://schemas.microsoft.com/office/drawing/2014/main" id="{4A98A241-560E-E002-DCBF-478F9C0E52F1}"/>
              </a:ext>
            </a:extLst>
          </p:cNvPr>
          <p:cNvGrpSpPr/>
          <p:nvPr/>
        </p:nvGrpSpPr>
        <p:grpSpPr>
          <a:xfrm rot="10800000">
            <a:off x="9168094" y="4743982"/>
            <a:ext cx="962306" cy="494239"/>
            <a:chOff x="9458809" y="4968242"/>
            <a:chExt cx="962306" cy="494239"/>
          </a:xfrm>
        </p:grpSpPr>
        <p:sp>
          <p:nvSpPr>
            <p:cNvPr id="14" name="Rectangle 3">
              <a:extLst>
                <a:ext uri="{FF2B5EF4-FFF2-40B4-BE49-F238E27FC236}">
                  <a16:creationId xmlns:a16="http://schemas.microsoft.com/office/drawing/2014/main" id="{85EADC3F-8D17-271A-7B5D-C4E2AB52CB09}"/>
                </a:ext>
              </a:extLst>
            </p:cNvPr>
            <p:cNvSpPr/>
            <p:nvPr/>
          </p:nvSpPr>
          <p:spPr>
            <a:xfrm rot="10800000" flipV="1">
              <a:off x="9481668" y="4968242"/>
              <a:ext cx="939447"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3">
              <a:extLst>
                <a:ext uri="{FF2B5EF4-FFF2-40B4-BE49-F238E27FC236}">
                  <a16:creationId xmlns:a16="http://schemas.microsoft.com/office/drawing/2014/main" id="{1506B4C8-980D-593B-F560-B5A9C6226383}"/>
                </a:ext>
              </a:extLst>
            </p:cNvPr>
            <p:cNvSpPr/>
            <p:nvPr/>
          </p:nvSpPr>
          <p:spPr>
            <a:xfrm rot="16200000" flipV="1">
              <a:off x="9234550" y="5192502"/>
              <a:ext cx="494238"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9" name="文字方塊 18">
            <a:extLst>
              <a:ext uri="{FF2B5EF4-FFF2-40B4-BE49-F238E27FC236}">
                <a16:creationId xmlns:a16="http://schemas.microsoft.com/office/drawing/2014/main" id="{775C58C9-7B66-0C8C-BAD3-F9461A2AC7CD}"/>
              </a:ext>
            </a:extLst>
          </p:cNvPr>
          <p:cNvSpPr txBox="1"/>
          <p:nvPr/>
        </p:nvSpPr>
        <p:spPr>
          <a:xfrm>
            <a:off x="11083636" y="2371641"/>
            <a:ext cx="1072308" cy="2187715"/>
          </a:xfrm>
          <a:prstGeom prst="rect">
            <a:avLst/>
          </a:prstGeom>
          <a:noFill/>
        </p:spPr>
        <p:txBody>
          <a:bodyPr wrap="square">
            <a:spAutoFit/>
          </a:bodyPr>
          <a:lstStyle/>
          <a:p>
            <a:pPr algn="r">
              <a:lnSpc>
                <a:spcPct val="150000"/>
              </a:lnSpc>
            </a:pPr>
            <a:r>
              <a:rPr lang="en-US" altLang="zh-TW" sz="1000" b="1">
                <a:latin typeface="微軟正黑體" panose="020B0604030504040204" pitchFamily="34" charset="-120"/>
                <a:ea typeface="微軟正黑體" panose="020B0604030504040204" pitchFamily="34" charset="-120"/>
              </a:rPr>
              <a:t>1. </a:t>
            </a:r>
            <a:r>
              <a:rPr lang="zh-TW" altLang="en-US" sz="1000" b="1">
                <a:latin typeface="微軟正黑體" panose="020B0604030504040204" pitchFamily="34" charset="-120"/>
                <a:ea typeface="微軟正黑體" panose="020B0604030504040204" pitchFamily="34" charset="-120"/>
              </a:rPr>
              <a:t>離苦得樂</a:t>
            </a:r>
          </a:p>
          <a:p>
            <a:pPr algn="r">
              <a:lnSpc>
                <a:spcPct val="150000"/>
              </a:lnSpc>
            </a:pPr>
            <a:r>
              <a:rPr lang="en-US" altLang="zh-TW" sz="1000" b="1">
                <a:latin typeface="微軟正黑體" panose="020B0604030504040204" pitchFamily="34" charset="-120"/>
                <a:ea typeface="微軟正黑體" panose="020B0604030504040204" pitchFamily="34" charset="-120"/>
              </a:rPr>
              <a:t>2. </a:t>
            </a:r>
            <a:r>
              <a:rPr lang="zh-TW" altLang="en-US" sz="1000" b="1">
                <a:latin typeface="微軟正黑體" panose="020B0604030504040204" pitchFamily="34" charset="-120"/>
                <a:ea typeface="微軟正黑體" panose="020B0604030504040204" pitchFamily="34" charset="-120"/>
              </a:rPr>
              <a:t>獨特優勢</a:t>
            </a:r>
          </a:p>
          <a:p>
            <a:pPr algn="r">
              <a:lnSpc>
                <a:spcPct val="150000"/>
              </a:lnSpc>
            </a:pPr>
            <a:r>
              <a:rPr lang="en-US" altLang="zh-TW" sz="1200" b="1">
                <a:highlight>
                  <a:srgbClr val="FFFF00"/>
                </a:highlight>
                <a:latin typeface="微軟正黑體" panose="020B0604030504040204" pitchFamily="34" charset="-120"/>
                <a:ea typeface="微軟正黑體" panose="020B0604030504040204" pitchFamily="34" charset="-120"/>
              </a:rPr>
              <a:t>3. </a:t>
            </a:r>
            <a:r>
              <a:rPr lang="zh-TW" altLang="en-US" sz="1200" b="1">
                <a:highlight>
                  <a:srgbClr val="FFFF00"/>
                </a:highlight>
                <a:latin typeface="微軟正黑體" panose="020B0604030504040204" pitchFamily="34" charset="-120"/>
                <a:ea typeface="微軟正黑體" panose="020B0604030504040204" pitchFamily="34" charset="-120"/>
              </a:rPr>
              <a:t>心智定位</a:t>
            </a:r>
          </a:p>
          <a:p>
            <a:pPr algn="r">
              <a:lnSpc>
                <a:spcPct val="150000"/>
              </a:lnSpc>
            </a:pPr>
            <a:r>
              <a:rPr lang="en-US" altLang="zh-TW" sz="1000" b="1">
                <a:latin typeface="微軟正黑體" panose="020B0604030504040204" pitchFamily="34" charset="-120"/>
                <a:ea typeface="微軟正黑體" panose="020B0604030504040204" pitchFamily="34" charset="-120"/>
              </a:rPr>
              <a:t>4. </a:t>
            </a:r>
            <a:r>
              <a:rPr lang="zh-TW" altLang="en-US" sz="1000" b="1">
                <a:latin typeface="微軟正黑體" panose="020B0604030504040204" pitchFamily="34" charset="-120"/>
                <a:ea typeface="微軟正黑體" panose="020B0604030504040204" pitchFamily="34" charset="-120"/>
              </a:rPr>
              <a:t>建立信任</a:t>
            </a:r>
          </a:p>
          <a:p>
            <a:pPr algn="r">
              <a:lnSpc>
                <a:spcPct val="150000"/>
              </a:lnSpc>
            </a:pPr>
            <a:r>
              <a:rPr lang="en-US" altLang="zh-TW" sz="1000" b="1">
                <a:latin typeface="微軟正黑體" panose="020B0604030504040204" pitchFamily="34" charset="-120"/>
                <a:ea typeface="微軟正黑體" panose="020B0604030504040204" pitchFamily="34" charset="-120"/>
              </a:rPr>
              <a:t>5. </a:t>
            </a:r>
            <a:r>
              <a:rPr lang="zh-TW" altLang="en-US" sz="1000" b="1">
                <a:latin typeface="微軟正黑體" panose="020B0604030504040204" pitchFamily="34" charset="-120"/>
                <a:ea typeface="微軟正黑體" panose="020B0604030504040204" pitchFamily="34" charset="-120"/>
              </a:rPr>
              <a:t>創造互動</a:t>
            </a:r>
          </a:p>
          <a:p>
            <a:pPr algn="r">
              <a:lnSpc>
                <a:spcPct val="150000"/>
              </a:lnSpc>
            </a:pPr>
            <a:r>
              <a:rPr lang="en-US" altLang="zh-TW" sz="1000" b="1">
                <a:latin typeface="微軟正黑體" panose="020B0604030504040204" pitchFamily="34" charset="-120"/>
                <a:ea typeface="微軟正黑體" panose="020B0604030504040204" pitchFamily="34" charset="-120"/>
              </a:rPr>
              <a:t>6. </a:t>
            </a:r>
            <a:r>
              <a:rPr lang="zh-TW" altLang="en-US" sz="1000" b="1">
                <a:latin typeface="微軟正黑體" panose="020B0604030504040204" pitchFamily="34" charset="-120"/>
                <a:ea typeface="微軟正黑體" panose="020B0604030504040204" pitchFamily="34" charset="-120"/>
              </a:rPr>
              <a:t>客從哪來</a:t>
            </a:r>
          </a:p>
          <a:p>
            <a:pPr algn="r">
              <a:lnSpc>
                <a:spcPct val="150000"/>
              </a:lnSpc>
            </a:pPr>
            <a:r>
              <a:rPr lang="en-US" altLang="zh-TW" sz="1000" b="1">
                <a:latin typeface="微軟正黑體" panose="020B0604030504040204" pitchFamily="34" charset="-120"/>
                <a:ea typeface="微軟正黑體" panose="020B0604030504040204" pitchFamily="34" charset="-120"/>
              </a:rPr>
              <a:t>7. </a:t>
            </a:r>
            <a:r>
              <a:rPr lang="zh-TW" altLang="en-US" sz="1000" b="1">
                <a:latin typeface="微軟正黑體" panose="020B0604030504040204" pitchFamily="34" charset="-120"/>
                <a:ea typeface="微軟正黑體" panose="020B0604030504040204" pitchFamily="34" charset="-120"/>
              </a:rPr>
              <a:t>心靈自由</a:t>
            </a:r>
          </a:p>
          <a:p>
            <a:pPr algn="r">
              <a:lnSpc>
                <a:spcPct val="150000"/>
              </a:lnSpc>
            </a:pPr>
            <a:r>
              <a:rPr lang="en-US" altLang="zh-TW" sz="1000" b="1">
                <a:latin typeface="微軟正黑體" panose="020B0604030504040204" pitchFamily="34" charset="-120"/>
                <a:ea typeface="微軟正黑體" panose="020B0604030504040204" pitchFamily="34" charset="-120"/>
              </a:rPr>
              <a:t>8. </a:t>
            </a:r>
            <a:r>
              <a:rPr lang="zh-TW" altLang="en-US" sz="1000" b="1">
                <a:latin typeface="微軟正黑體" panose="020B0604030504040204" pitchFamily="34" charset="-120"/>
                <a:ea typeface="微軟正黑體" panose="020B0604030504040204" pitchFamily="34" charset="-120"/>
              </a:rPr>
              <a:t>物超所值</a:t>
            </a:r>
          </a:p>
          <a:p>
            <a:pPr algn="r">
              <a:lnSpc>
                <a:spcPct val="150000"/>
              </a:lnSpc>
            </a:pPr>
            <a:r>
              <a:rPr lang="en-US" altLang="zh-TW" sz="1000" b="1">
                <a:latin typeface="微軟正黑體" panose="020B0604030504040204" pitchFamily="34" charset="-120"/>
                <a:ea typeface="微軟正黑體" panose="020B0604030504040204" pitchFamily="34" charset="-120"/>
              </a:rPr>
              <a:t>9. </a:t>
            </a:r>
            <a:r>
              <a:rPr lang="zh-TW" altLang="en-US" sz="1000" b="1">
                <a:latin typeface="微軟正黑體" panose="020B0604030504040204" pitchFamily="34" charset="-120"/>
                <a:ea typeface="微軟正黑體" panose="020B0604030504040204" pitchFamily="34" charset="-120"/>
              </a:rPr>
              <a:t>自動流程</a:t>
            </a:r>
            <a:endParaRPr lang="zh-TW" altLang="en-US" sz="1000">
              <a:latin typeface="微軟正黑體" panose="020B0604030504040204" pitchFamily="34" charset="-120"/>
              <a:ea typeface="微軟正黑體" panose="020B060403050404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1520" y="594360"/>
            <a:ext cx="73152" cy="5486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548640"/>
            <a:ext cx="10497312" cy="731520"/>
          </a:xfrm>
          <a:prstGeom prst="rect">
            <a:avLst/>
          </a:prstGeom>
          <a:noFill/>
        </p:spPr>
        <p:txBody>
          <a:bodyPr wrap="square">
            <a:spAutoFit/>
          </a:bodyPr>
          <a:lstStyle/>
          <a:p>
            <a:pPr>
              <a:defRPr sz="3200" b="1">
                <a:solidFill>
                  <a:srgbClr val="083344"/>
                </a:solidFill>
                <a:latin typeface="Microsoft JhengHei"/>
              </a:defRPr>
            </a:pPr>
            <a:r>
              <a:t>產品 3 —— 心智定位（What） (2/2)</a:t>
            </a:r>
          </a:p>
        </p:txBody>
      </p:sp>
      <p:sp>
        <p:nvSpPr>
          <p:cNvPr id="5" name="Rectangle 4"/>
          <p:cNvSpPr/>
          <p:nvPr/>
        </p:nvSpPr>
        <p:spPr>
          <a:xfrm>
            <a:off x="731520" y="132588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out.png"/>
          <p:cNvPicPr>
            <a:picLocks noChangeAspect="1"/>
          </p:cNvPicPr>
          <p:nvPr/>
        </p:nvPicPr>
        <p:blipFill>
          <a:blip r:embed="rId3"/>
          <a:stretch>
            <a:fillRect/>
          </a:stretch>
        </p:blipFill>
        <p:spPr>
          <a:xfrm>
            <a:off x="455076" y="1380557"/>
            <a:ext cx="5077044" cy="5077044"/>
          </a:xfrm>
          <a:prstGeom prst="rect">
            <a:avLst/>
          </a:prstGeom>
        </p:spPr>
      </p:pic>
      <p:sp>
        <p:nvSpPr>
          <p:cNvPr id="7" name="TextBox 6"/>
          <p:cNvSpPr txBox="1"/>
          <p:nvPr/>
        </p:nvSpPr>
        <p:spPr>
          <a:xfrm>
            <a:off x="3878427" y="1673537"/>
            <a:ext cx="4800600" cy="1846659"/>
          </a:xfrm>
          <a:prstGeom prst="rect">
            <a:avLst/>
          </a:prstGeom>
          <a:noFill/>
        </p:spPr>
        <p:txBody>
          <a:bodyPr wrap="square" lIns="0" tIns="0" rIns="0" bIns="0">
            <a:spAutoFit/>
          </a:bodyPr>
          <a:lstStyle/>
          <a:p>
            <a:pPr>
              <a:spcAft>
                <a:spcPts val="1000"/>
              </a:spcAft>
              <a:defRPr sz="2000" b="1">
                <a:solidFill>
                  <a:srgbClr val="0369A1"/>
                </a:solidFill>
                <a:latin typeface="DFKai-SB"/>
              </a:defRPr>
            </a:pPr>
            <a:r>
              <a:rPr lang="en-US"/>
              <a:t>{</a:t>
            </a:r>
            <a:r>
              <a:rPr lang="zh-TW" altLang="en-US"/>
              <a:t>西方名人語錄</a:t>
            </a:r>
            <a:r>
              <a:rPr lang="en-US" altLang="zh-TW"/>
              <a:t>}</a:t>
            </a:r>
            <a:r>
              <a:rPr lang="zh-TW" altLang="zh-TW" b="1"/>
              <a:t> Lorem Ipsum is simply dummy text of the printing and typesetting industry. Lorem Ipsum has been the industry's standard dummy text ever since 1966, when designers at Letraset and James Mosle</a:t>
            </a:r>
            <a:endParaRPr b="0" i="0">
              <a:solidFill>
                <a:srgbClr val="334155"/>
              </a:solidFill>
              <a:latin typeface="DFKai-SB"/>
            </a:endParaRPr>
          </a:p>
        </p:txBody>
      </p:sp>
      <p:pic>
        <p:nvPicPr>
          <p:cNvPr id="8" name="Picture 7" descr="guiguzi.png"/>
          <p:cNvPicPr>
            <a:picLocks noChangeAspect="1"/>
          </p:cNvPicPr>
          <p:nvPr/>
        </p:nvPicPr>
        <p:blipFill>
          <a:blip r:embed="rId4"/>
          <a:stretch>
            <a:fillRect/>
          </a:stretch>
        </p:blipFill>
        <p:spPr>
          <a:xfrm>
            <a:off x="7308199" y="1377509"/>
            <a:ext cx="5080092" cy="5080092"/>
          </a:xfrm>
          <a:prstGeom prst="rect">
            <a:avLst/>
          </a:prstGeom>
        </p:spPr>
      </p:pic>
      <p:sp>
        <p:nvSpPr>
          <p:cNvPr id="9" name="TextBox 8"/>
          <p:cNvSpPr txBox="1"/>
          <p:nvPr/>
        </p:nvSpPr>
        <p:spPr>
          <a:xfrm>
            <a:off x="3878427" y="4583024"/>
            <a:ext cx="4800600" cy="1974900"/>
          </a:xfrm>
          <a:prstGeom prst="rect">
            <a:avLst/>
          </a:prstGeom>
          <a:noFill/>
        </p:spPr>
        <p:txBody>
          <a:bodyPr wrap="square" lIns="0" tIns="0" rIns="0" bIns="0">
            <a:spAutoFit/>
          </a:bodyPr>
          <a:lstStyle/>
          <a:p>
            <a:pPr algn="r">
              <a:spcAft>
                <a:spcPts val="1000"/>
              </a:spcAft>
              <a:defRPr sz="2000" b="1">
                <a:solidFill>
                  <a:srgbClr val="475569"/>
                </a:solidFill>
                <a:latin typeface="DFKai-SB"/>
              </a:defRPr>
            </a:pPr>
            <a:r>
              <a:rPr lang="en-US" altLang="zh-TW"/>
              <a:t>{</a:t>
            </a:r>
            <a:r>
              <a:rPr lang="zh-TW" altLang="en-US"/>
              <a:t>東方名人語錄</a:t>
            </a:r>
            <a:r>
              <a:rPr lang="en-US" altLang="zh-TW"/>
              <a:t>}</a:t>
            </a:r>
          </a:p>
          <a:p>
            <a:pPr algn="r">
              <a:spcAft>
                <a:spcPts val="1000"/>
              </a:spcAft>
              <a:defRPr sz="2000" b="1">
                <a:solidFill>
                  <a:srgbClr val="475569"/>
                </a:solidFill>
                <a:latin typeface="DFKai-SB"/>
              </a:defRPr>
            </a:pPr>
            <a:r>
              <a:rPr lang="zh-TW" altLang="zh-TW" b="1"/>
              <a:t>Lorem Ipsum is simply dummy text of the printing and typesetting industry. Lorem Ipsum has been the industry's standard dummy text ever since 1966, when designers at Letraset and James </a:t>
            </a:r>
            <a:endParaRPr b="0" i="0">
              <a:solidFill>
                <a:srgbClr val="334155"/>
              </a:solidFill>
              <a:latin typeface="DFKai-SB"/>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745C-0D3E-A905-522D-5A4B10E415B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B7511CD-B9DA-70CB-215C-401CCAA5F04B}"/>
              </a:ext>
            </a:extLst>
          </p:cNvPr>
          <p:cNvSpPr/>
          <p:nvPr/>
        </p:nvSpPr>
        <p:spPr>
          <a:xfrm>
            <a:off x="731520" y="594360"/>
            <a:ext cx="73152" cy="5486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CDC9D59-D78E-23AB-AE6A-EE236E285A7C}"/>
              </a:ext>
            </a:extLst>
          </p:cNvPr>
          <p:cNvSpPr txBox="1"/>
          <p:nvPr/>
        </p:nvSpPr>
        <p:spPr>
          <a:xfrm>
            <a:off x="960120" y="548640"/>
            <a:ext cx="10497312" cy="731520"/>
          </a:xfrm>
          <a:prstGeom prst="rect">
            <a:avLst/>
          </a:prstGeom>
          <a:noFill/>
        </p:spPr>
        <p:txBody>
          <a:bodyPr wrap="square">
            <a:spAutoFit/>
          </a:bodyPr>
          <a:lstStyle/>
          <a:p>
            <a:pPr>
              <a:defRPr sz="3200" b="1">
                <a:solidFill>
                  <a:srgbClr val="083344"/>
                </a:solidFill>
                <a:latin typeface="Microsoft JhengHei"/>
              </a:defRPr>
            </a:pPr>
            <a:r>
              <a:t>推廣 4 —— 建立信任（Why） (1/2)</a:t>
            </a:r>
          </a:p>
        </p:txBody>
      </p:sp>
      <p:sp>
        <p:nvSpPr>
          <p:cNvPr id="5" name="Rectangle 4">
            <a:extLst>
              <a:ext uri="{FF2B5EF4-FFF2-40B4-BE49-F238E27FC236}">
                <a16:creationId xmlns:a16="http://schemas.microsoft.com/office/drawing/2014/main" id="{4250FA31-D07F-BFED-4F99-73A0AB60C17C}"/>
              </a:ext>
            </a:extLst>
          </p:cNvPr>
          <p:cNvSpPr/>
          <p:nvPr/>
        </p:nvSpPr>
        <p:spPr>
          <a:xfrm>
            <a:off x="731520" y="132588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5">
            <a:extLst>
              <a:ext uri="{FF2B5EF4-FFF2-40B4-BE49-F238E27FC236}">
                <a16:creationId xmlns:a16="http://schemas.microsoft.com/office/drawing/2014/main" id="{DA267245-6A41-0455-74AE-CB29B726CFFF}"/>
              </a:ext>
            </a:extLst>
          </p:cNvPr>
          <p:cNvSpPr txBox="1"/>
          <p:nvPr/>
        </p:nvSpPr>
        <p:spPr>
          <a:xfrm>
            <a:off x="2050474" y="1976174"/>
            <a:ext cx="7928124" cy="3014928"/>
          </a:xfrm>
          <a:prstGeom prst="rect">
            <a:avLst/>
          </a:prstGeom>
          <a:noFill/>
        </p:spPr>
        <p:txBody>
          <a:bodyPr wrap="square">
            <a:spAutoFit/>
          </a:bodyPr>
          <a:lstStyle>
            <a:defPPr>
              <a:defRPr lang="zh-TW"/>
            </a:defPPr>
            <a:lvl1pPr algn="ctr">
              <a:defRPr sz="4400" b="1">
                <a:solidFill>
                  <a:srgbClr val="1E293B"/>
                </a:solidFill>
                <a:latin typeface="Microsoft JhengHei"/>
              </a:defRPr>
            </a:lvl1pPr>
          </a:lstStyle>
          <a:p>
            <a:pPr>
              <a:lnSpc>
                <a:spcPct val="150000"/>
              </a:lnSpc>
            </a:pPr>
            <a:r>
              <a:rPr lang="zh-TW" altLang="en-US">
                <a:solidFill>
                  <a:srgbClr val="334155"/>
                </a:solidFill>
                <a:latin typeface="微軟正黑體" panose="020B0604030504040204" pitchFamily="34" charset="-120"/>
                <a:ea typeface="微軟正黑體" panose="020B0604030504040204" pitchFamily="34" charset="-120"/>
              </a:rPr>
              <a:t>建立信任三細節：自證（自我肯定）➔ 見證（客戶口碑）➔ 實證（權威數據）。</a:t>
            </a:r>
            <a:endParaRPr lang="zh-TW" altLang="en-US">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CB5922CC-B3DC-C5EC-7240-080A0D361F04}"/>
              </a:ext>
            </a:extLst>
          </p:cNvPr>
          <p:cNvSpPr txBox="1"/>
          <p:nvPr/>
        </p:nvSpPr>
        <p:spPr>
          <a:xfrm>
            <a:off x="1551478" y="5772185"/>
            <a:ext cx="9089044" cy="830997"/>
          </a:xfrm>
          <a:prstGeom prst="rect">
            <a:avLst/>
          </a:prstGeom>
          <a:noFill/>
        </p:spPr>
        <p:txBody>
          <a:bodyPr wrap="square">
            <a:spAutoFit/>
          </a:bodyPr>
          <a:lstStyle/>
          <a:p>
            <a:pPr algn="ctr"/>
            <a:r>
              <a:rPr lang="zh-TW" altLang="en-US" sz="2400" b="1">
                <a:solidFill>
                  <a:srgbClr val="B45309"/>
                </a:solidFill>
                <a:latin typeface="微軟正黑體" panose="020B0604030504040204" pitchFamily="34" charset="-120"/>
                <a:ea typeface="微軟正黑體" panose="020B0604030504040204" pitchFamily="34" charset="-120"/>
              </a:rPr>
              <a:t>實戰案例：</a:t>
            </a:r>
            <a:r>
              <a:rPr lang="zh-TW" altLang="en-US" sz="2400" b="0">
                <a:solidFill>
                  <a:srgbClr val="334155"/>
                </a:solidFill>
                <a:latin typeface="微軟正黑體" panose="020B0604030504040204" pitchFamily="34" charset="-120"/>
                <a:ea typeface="微軟正黑體" panose="020B0604030504040204" pitchFamily="34" charset="-120"/>
              </a:rPr>
              <a:t>長庚生技。靠王永慶董事長的自身健康實踐，結合頂尖見證與科研數據建構防線。</a:t>
            </a:r>
            <a:endParaRPr lang="zh-TW" altLang="en-US" sz="2000">
              <a:latin typeface="微軟正黑體" panose="020B0604030504040204" pitchFamily="34" charset="-120"/>
              <a:ea typeface="微軟正黑體" panose="020B0604030504040204" pitchFamily="34" charset="-120"/>
            </a:endParaRPr>
          </a:p>
        </p:txBody>
      </p:sp>
      <p:grpSp>
        <p:nvGrpSpPr>
          <p:cNvPr id="9" name="群組 8">
            <a:extLst>
              <a:ext uri="{FF2B5EF4-FFF2-40B4-BE49-F238E27FC236}">
                <a16:creationId xmlns:a16="http://schemas.microsoft.com/office/drawing/2014/main" id="{C5FC7C81-BBC1-F81E-AF42-88AAE3E891F9}"/>
              </a:ext>
            </a:extLst>
          </p:cNvPr>
          <p:cNvGrpSpPr/>
          <p:nvPr/>
        </p:nvGrpSpPr>
        <p:grpSpPr>
          <a:xfrm>
            <a:off x="1569321" y="1800905"/>
            <a:ext cx="962306" cy="494239"/>
            <a:chOff x="1734712" y="1815612"/>
            <a:chExt cx="962306" cy="494239"/>
          </a:xfrm>
        </p:grpSpPr>
        <p:sp>
          <p:nvSpPr>
            <p:cNvPr id="10" name="Rectangle 3">
              <a:extLst>
                <a:ext uri="{FF2B5EF4-FFF2-40B4-BE49-F238E27FC236}">
                  <a16:creationId xmlns:a16="http://schemas.microsoft.com/office/drawing/2014/main" id="{30C61549-4D65-0C4F-73A0-C97443DBF6B3}"/>
                </a:ext>
              </a:extLst>
            </p:cNvPr>
            <p:cNvSpPr/>
            <p:nvPr/>
          </p:nvSpPr>
          <p:spPr>
            <a:xfrm flipV="1">
              <a:off x="1757571" y="1815612"/>
              <a:ext cx="939447"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3">
              <a:extLst>
                <a:ext uri="{FF2B5EF4-FFF2-40B4-BE49-F238E27FC236}">
                  <a16:creationId xmlns:a16="http://schemas.microsoft.com/office/drawing/2014/main" id="{5F4B13FA-3B60-FEC1-DDFB-9578F48108F8}"/>
                </a:ext>
              </a:extLst>
            </p:cNvPr>
            <p:cNvSpPr/>
            <p:nvPr/>
          </p:nvSpPr>
          <p:spPr>
            <a:xfrm rot="5400000" flipV="1">
              <a:off x="1510453" y="2039872"/>
              <a:ext cx="494238"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2" name="群組 11">
            <a:extLst>
              <a:ext uri="{FF2B5EF4-FFF2-40B4-BE49-F238E27FC236}">
                <a16:creationId xmlns:a16="http://schemas.microsoft.com/office/drawing/2014/main" id="{8E47879F-518F-57F6-7789-9795FE9E7897}"/>
              </a:ext>
            </a:extLst>
          </p:cNvPr>
          <p:cNvGrpSpPr/>
          <p:nvPr/>
        </p:nvGrpSpPr>
        <p:grpSpPr>
          <a:xfrm rot="10800000">
            <a:off x="9168094" y="4743982"/>
            <a:ext cx="962306" cy="494239"/>
            <a:chOff x="9458809" y="4968242"/>
            <a:chExt cx="962306" cy="494239"/>
          </a:xfrm>
        </p:grpSpPr>
        <p:sp>
          <p:nvSpPr>
            <p:cNvPr id="13" name="Rectangle 3">
              <a:extLst>
                <a:ext uri="{FF2B5EF4-FFF2-40B4-BE49-F238E27FC236}">
                  <a16:creationId xmlns:a16="http://schemas.microsoft.com/office/drawing/2014/main" id="{EFC546E6-E36E-016C-71B7-5323A83C8F64}"/>
                </a:ext>
              </a:extLst>
            </p:cNvPr>
            <p:cNvSpPr/>
            <p:nvPr/>
          </p:nvSpPr>
          <p:spPr>
            <a:xfrm rot="10800000" flipV="1">
              <a:off x="9481668" y="4968242"/>
              <a:ext cx="939447"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3">
              <a:extLst>
                <a:ext uri="{FF2B5EF4-FFF2-40B4-BE49-F238E27FC236}">
                  <a16:creationId xmlns:a16="http://schemas.microsoft.com/office/drawing/2014/main" id="{D5D3F865-6B0D-2B98-2AE6-8CC8E56C10AC}"/>
                </a:ext>
              </a:extLst>
            </p:cNvPr>
            <p:cNvSpPr/>
            <p:nvPr/>
          </p:nvSpPr>
          <p:spPr>
            <a:xfrm rot="16200000" flipV="1">
              <a:off x="9234550" y="5192502"/>
              <a:ext cx="494238" cy="45719"/>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7" name="文字方塊 16">
            <a:extLst>
              <a:ext uri="{FF2B5EF4-FFF2-40B4-BE49-F238E27FC236}">
                <a16:creationId xmlns:a16="http://schemas.microsoft.com/office/drawing/2014/main" id="{B97FD900-5937-6A80-4244-42F88DC02C47}"/>
              </a:ext>
            </a:extLst>
          </p:cNvPr>
          <p:cNvSpPr txBox="1"/>
          <p:nvPr/>
        </p:nvSpPr>
        <p:spPr>
          <a:xfrm>
            <a:off x="10758919" y="2371641"/>
            <a:ext cx="1397025" cy="2689904"/>
          </a:xfrm>
          <a:prstGeom prst="rect">
            <a:avLst/>
          </a:prstGeom>
          <a:noFill/>
        </p:spPr>
        <p:txBody>
          <a:bodyPr wrap="square">
            <a:spAutoFit/>
          </a:bodyPr>
          <a:lstStyle>
            <a:defPPr>
              <a:defRPr lang="zh-TW"/>
            </a:defPPr>
            <a:lvl1pPr algn="r">
              <a:lnSpc>
                <a:spcPct val="150000"/>
              </a:lnSpc>
              <a:defRPr sz="1000" b="1">
                <a:latin typeface="微軟正黑體" panose="020B0604030504040204" pitchFamily="34" charset="-120"/>
                <a:ea typeface="微軟正黑體" panose="020B0604030504040204" pitchFamily="34" charset="-120"/>
              </a:defRPr>
            </a:lvl1pPr>
          </a:lstStyle>
          <a:p>
            <a:r>
              <a:rPr lang="en-US" altLang="zh-TW"/>
              <a:t>1. </a:t>
            </a:r>
            <a:r>
              <a:rPr lang="zh-TW" altLang="en-US"/>
              <a:t>離苦得樂</a:t>
            </a:r>
          </a:p>
          <a:p>
            <a:r>
              <a:rPr lang="en-US" altLang="zh-TW"/>
              <a:t>2. </a:t>
            </a:r>
            <a:r>
              <a:rPr lang="zh-TW" altLang="en-US"/>
              <a:t>獨特優勢</a:t>
            </a:r>
          </a:p>
          <a:p>
            <a:r>
              <a:rPr lang="en-US" altLang="zh-TW"/>
              <a:t>3. </a:t>
            </a:r>
            <a:r>
              <a:rPr lang="zh-TW" altLang="en-US"/>
              <a:t>心智定位</a:t>
            </a:r>
          </a:p>
          <a:p>
            <a:r>
              <a:rPr lang="en-US" altLang="zh-TW" sz="1100">
                <a:highlight>
                  <a:srgbClr val="FFFF00"/>
                </a:highlight>
              </a:rPr>
              <a:t>4. </a:t>
            </a:r>
            <a:r>
              <a:rPr lang="zh-TW" altLang="en-US" sz="1100">
                <a:highlight>
                  <a:srgbClr val="FFFF00"/>
                </a:highlight>
              </a:rPr>
              <a:t>建立信任</a:t>
            </a:r>
          </a:p>
          <a:p>
            <a:r>
              <a:rPr lang="en-US" altLang="zh-TW"/>
              <a:t>5. </a:t>
            </a:r>
            <a:r>
              <a:rPr lang="zh-TW" altLang="en-US"/>
              <a:t>創造互動</a:t>
            </a:r>
          </a:p>
          <a:p>
            <a:r>
              <a:rPr lang="en-US" altLang="zh-TW"/>
              <a:t>6. </a:t>
            </a:r>
            <a:r>
              <a:rPr lang="zh-TW" altLang="en-US"/>
              <a:t>客從哪來</a:t>
            </a:r>
          </a:p>
          <a:p>
            <a:r>
              <a:rPr lang="en-US" altLang="zh-TW"/>
              <a:t>7. </a:t>
            </a:r>
            <a:r>
              <a:rPr lang="zh-TW" altLang="en-US"/>
              <a:t>心靈自由</a:t>
            </a:r>
          </a:p>
          <a:p>
            <a:r>
              <a:rPr lang="en-US" altLang="zh-TW"/>
              <a:t>8. </a:t>
            </a:r>
            <a:r>
              <a:rPr lang="zh-TW" altLang="en-US"/>
              <a:t>物超所值</a:t>
            </a:r>
          </a:p>
          <a:p>
            <a:r>
              <a:rPr lang="en-US" altLang="zh-TW"/>
              <a:t>9. </a:t>
            </a:r>
            <a:r>
              <a:rPr lang="zh-TW" altLang="en-US"/>
              <a:t>自動流程</a:t>
            </a:r>
          </a:p>
        </p:txBody>
      </p:sp>
    </p:spTree>
    <p:extLst>
      <p:ext uri="{BB962C8B-B14F-4D97-AF65-F5344CB8AC3E}">
        <p14:creationId xmlns:p14="http://schemas.microsoft.com/office/powerpoint/2010/main" val="2364872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87E9B-2C65-E1A5-41FB-0D44D00A1540}"/>
            </a:ext>
          </a:extLst>
        </p:cNvPr>
        <p:cNvGrpSpPr/>
        <p:nvPr/>
      </p:nvGrpSpPr>
      <p:grpSpPr>
        <a:xfrm>
          <a:off x="0" y="0"/>
          <a:ext cx="0" cy="0"/>
          <a:chOff x="0" y="0"/>
          <a:chExt cx="0" cy="0"/>
        </a:xfrm>
      </p:grpSpPr>
      <p:pic>
        <p:nvPicPr>
          <p:cNvPr id="11" name="Picture 5" descr="kahneman.png">
            <a:extLst>
              <a:ext uri="{FF2B5EF4-FFF2-40B4-BE49-F238E27FC236}">
                <a16:creationId xmlns:a16="http://schemas.microsoft.com/office/drawing/2014/main" id="{6865A828-4A62-988C-D068-083F98F313AB}"/>
              </a:ext>
            </a:extLst>
          </p:cNvPr>
          <p:cNvPicPr>
            <a:picLocks noChangeAspect="1"/>
          </p:cNvPicPr>
          <p:nvPr/>
        </p:nvPicPr>
        <p:blipFill>
          <a:blip r:embed="rId3"/>
          <a:stretch>
            <a:fillRect/>
          </a:stretch>
        </p:blipFill>
        <p:spPr>
          <a:xfrm>
            <a:off x="-299248" y="1280160"/>
            <a:ext cx="5298193" cy="5298193"/>
          </a:xfrm>
          <a:prstGeom prst="rect">
            <a:avLst/>
          </a:prstGeom>
        </p:spPr>
      </p:pic>
      <p:pic>
        <p:nvPicPr>
          <p:cNvPr id="13" name="Picture 7" descr="confucius.png">
            <a:extLst>
              <a:ext uri="{FF2B5EF4-FFF2-40B4-BE49-F238E27FC236}">
                <a16:creationId xmlns:a16="http://schemas.microsoft.com/office/drawing/2014/main" id="{E473A1DF-1907-ABAB-CC9F-A4D7599C59C2}"/>
              </a:ext>
            </a:extLst>
          </p:cNvPr>
          <p:cNvPicPr>
            <a:picLocks noChangeAspect="1"/>
          </p:cNvPicPr>
          <p:nvPr/>
        </p:nvPicPr>
        <p:blipFill>
          <a:blip r:embed="rId4"/>
          <a:stretch>
            <a:fillRect/>
          </a:stretch>
        </p:blipFill>
        <p:spPr>
          <a:xfrm>
            <a:off x="7445377" y="1259732"/>
            <a:ext cx="5298192" cy="5298192"/>
          </a:xfrm>
          <a:prstGeom prst="rect">
            <a:avLst/>
          </a:prstGeom>
        </p:spPr>
      </p:pic>
      <p:sp>
        <p:nvSpPr>
          <p:cNvPr id="3" name="Rectangle 2">
            <a:extLst>
              <a:ext uri="{FF2B5EF4-FFF2-40B4-BE49-F238E27FC236}">
                <a16:creationId xmlns:a16="http://schemas.microsoft.com/office/drawing/2014/main" id="{4D10FC94-0AD7-27F3-9E4C-D03E92FD2764}"/>
              </a:ext>
            </a:extLst>
          </p:cNvPr>
          <p:cNvSpPr/>
          <p:nvPr/>
        </p:nvSpPr>
        <p:spPr>
          <a:xfrm>
            <a:off x="731520" y="594360"/>
            <a:ext cx="73152" cy="5486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DB11A097-E938-EAA0-AF53-E1552789BE2B}"/>
              </a:ext>
            </a:extLst>
          </p:cNvPr>
          <p:cNvSpPr/>
          <p:nvPr/>
        </p:nvSpPr>
        <p:spPr>
          <a:xfrm>
            <a:off x="731520" y="132588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4B765DC-C7A1-C220-A7E2-E629618A22B3}"/>
              </a:ext>
            </a:extLst>
          </p:cNvPr>
          <p:cNvSpPr txBox="1"/>
          <p:nvPr/>
        </p:nvSpPr>
        <p:spPr>
          <a:xfrm>
            <a:off x="3878427" y="1673537"/>
            <a:ext cx="4800600" cy="1846659"/>
          </a:xfrm>
          <a:prstGeom prst="rect">
            <a:avLst/>
          </a:prstGeom>
          <a:noFill/>
        </p:spPr>
        <p:txBody>
          <a:bodyPr wrap="square" lIns="0" tIns="0" rIns="0" bIns="0">
            <a:spAutoFit/>
          </a:bodyPr>
          <a:lstStyle/>
          <a:p>
            <a:pPr>
              <a:spcAft>
                <a:spcPts val="1000"/>
              </a:spcAft>
              <a:defRPr sz="2000" b="1">
                <a:solidFill>
                  <a:srgbClr val="0369A1"/>
                </a:solidFill>
                <a:latin typeface="DFKai-SB"/>
              </a:defRPr>
            </a:pPr>
            <a:r>
              <a:rPr lang="en-US"/>
              <a:t>{</a:t>
            </a:r>
            <a:r>
              <a:rPr lang="zh-TW" altLang="en-US"/>
              <a:t>西方名人語錄</a:t>
            </a:r>
            <a:r>
              <a:rPr lang="en-US" altLang="zh-TW"/>
              <a:t>}</a:t>
            </a:r>
            <a:r>
              <a:rPr lang="zh-TW" altLang="zh-TW" b="1"/>
              <a:t> Lorem Ipsum is simply dummy text of the printing and typesetting industry. Lorem Ipsum has been the industry's standard dummy text ever since 1966, when designers at Letraset and James Mosle</a:t>
            </a:r>
            <a:endParaRPr b="0" i="0">
              <a:solidFill>
                <a:srgbClr val="334155"/>
              </a:solidFill>
              <a:latin typeface="DFKai-SB"/>
            </a:endParaRPr>
          </a:p>
        </p:txBody>
      </p:sp>
      <p:sp>
        <p:nvSpPr>
          <p:cNvPr id="9" name="TextBox 8">
            <a:extLst>
              <a:ext uri="{FF2B5EF4-FFF2-40B4-BE49-F238E27FC236}">
                <a16:creationId xmlns:a16="http://schemas.microsoft.com/office/drawing/2014/main" id="{9BBAE2DC-F933-93F0-7E10-EBD5E6DD6F11}"/>
              </a:ext>
            </a:extLst>
          </p:cNvPr>
          <p:cNvSpPr txBox="1"/>
          <p:nvPr/>
        </p:nvSpPr>
        <p:spPr>
          <a:xfrm>
            <a:off x="3878427" y="4583024"/>
            <a:ext cx="4800600" cy="1974900"/>
          </a:xfrm>
          <a:prstGeom prst="rect">
            <a:avLst/>
          </a:prstGeom>
          <a:noFill/>
        </p:spPr>
        <p:txBody>
          <a:bodyPr wrap="square" lIns="0" tIns="0" rIns="0" bIns="0">
            <a:spAutoFit/>
          </a:bodyPr>
          <a:lstStyle/>
          <a:p>
            <a:pPr algn="r">
              <a:spcAft>
                <a:spcPts val="1000"/>
              </a:spcAft>
              <a:defRPr sz="2000" b="1">
                <a:solidFill>
                  <a:srgbClr val="475569"/>
                </a:solidFill>
                <a:latin typeface="DFKai-SB"/>
              </a:defRPr>
            </a:pPr>
            <a:r>
              <a:rPr lang="en-US" altLang="zh-TW"/>
              <a:t>{</a:t>
            </a:r>
            <a:r>
              <a:rPr lang="zh-TW" altLang="en-US"/>
              <a:t>東方名人語錄</a:t>
            </a:r>
            <a:r>
              <a:rPr lang="en-US" altLang="zh-TW"/>
              <a:t>}</a:t>
            </a:r>
          </a:p>
          <a:p>
            <a:pPr algn="r">
              <a:spcAft>
                <a:spcPts val="1000"/>
              </a:spcAft>
              <a:defRPr sz="2000" b="1">
                <a:solidFill>
                  <a:srgbClr val="475569"/>
                </a:solidFill>
                <a:latin typeface="DFKai-SB"/>
              </a:defRPr>
            </a:pPr>
            <a:r>
              <a:rPr lang="zh-TW" altLang="zh-TW" b="1"/>
              <a:t>Lorem Ipsum is simply dummy text of the printing and typesetting industry. Lorem Ipsum has been the industry's standard dummy text ever since 1966, when designers at Letraset and James </a:t>
            </a:r>
            <a:endParaRPr b="0" i="0">
              <a:solidFill>
                <a:srgbClr val="334155"/>
              </a:solidFill>
              <a:latin typeface="DFKai-SB"/>
            </a:endParaRPr>
          </a:p>
        </p:txBody>
      </p:sp>
      <p:sp>
        <p:nvSpPr>
          <p:cNvPr id="15" name="TextBox 3">
            <a:extLst>
              <a:ext uri="{FF2B5EF4-FFF2-40B4-BE49-F238E27FC236}">
                <a16:creationId xmlns:a16="http://schemas.microsoft.com/office/drawing/2014/main" id="{F1A7D832-69AF-4D0C-87D5-6A3B93B2511F}"/>
              </a:ext>
            </a:extLst>
          </p:cNvPr>
          <p:cNvSpPr txBox="1"/>
          <p:nvPr/>
        </p:nvSpPr>
        <p:spPr>
          <a:xfrm>
            <a:off x="960120" y="548640"/>
            <a:ext cx="10497312" cy="731520"/>
          </a:xfrm>
          <a:prstGeom prst="rect">
            <a:avLst/>
          </a:prstGeom>
          <a:noFill/>
        </p:spPr>
        <p:txBody>
          <a:bodyPr wrap="square">
            <a:spAutoFit/>
          </a:bodyPr>
          <a:lstStyle/>
          <a:p>
            <a:pPr>
              <a:defRPr sz="3200" b="1">
                <a:solidFill>
                  <a:srgbClr val="083344"/>
                </a:solidFill>
                <a:latin typeface="Microsoft JhengHei"/>
              </a:defRPr>
            </a:pPr>
            <a:r>
              <a:t>推廣 4 —— 建立信任（Why） (2/2)</a:t>
            </a:r>
          </a:p>
        </p:txBody>
      </p:sp>
    </p:spTree>
    <p:extLst>
      <p:ext uri="{BB962C8B-B14F-4D97-AF65-F5344CB8AC3E}">
        <p14:creationId xmlns:p14="http://schemas.microsoft.com/office/powerpoint/2010/main" val="144254342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793</Words>
  <Application>Microsoft Office PowerPoint</Application>
  <PresentationFormat>寬螢幕</PresentationFormat>
  <Paragraphs>83</Paragraphs>
  <Slides>4</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vt:i4>
      </vt:variant>
    </vt:vector>
  </HeadingPairs>
  <TitlesOfParts>
    <vt:vector size="10" baseType="lpstr">
      <vt:lpstr>微軟正黑體</vt:lpstr>
      <vt:lpstr>DFKai-SB</vt:lpstr>
      <vt:lpstr>Aptos</vt:lpstr>
      <vt:lpstr>Aptos Display</vt:lpstr>
      <vt:lpstr>Arial</vt:lpstr>
      <vt:lpstr>Office 佈景主題</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Victor</dc:creator>
  <cp:lastModifiedBy>Chen Victor</cp:lastModifiedBy>
  <cp:revision>2</cp:revision>
  <dcterms:created xsi:type="dcterms:W3CDTF">2026-06-24T03:49:35Z</dcterms:created>
  <dcterms:modified xsi:type="dcterms:W3CDTF">2026-06-24T04:11:34Z</dcterms:modified>
</cp:coreProperties>
</file>