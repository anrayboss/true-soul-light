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這是本次公開課的精華總覽，強調認知對個人命運與創富的決定性作用。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簡報將分為五個部分進行詳細拆解。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不確定性增強的時代，擺爛只能被淘汰，必須切換到奔跑戰鬥模式。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前三個階段的財富核心分別是土地、資本與效率、以及網絡流量。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進入智能時代，注意力和認知成為稀缺的核心資產，駕馭工具者得天下。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降低了工具門檻，但也放大了人與人之間認知水準所帶來的財富差距。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誰搶佔了入口，誰就控制了用戶的注意力和認知，這是商業變現的起點。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行為經濟學揭示了人性的弱點，有限理性指出了注意力聚焦的重要性。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創業要具備反脆弱性，並在數據時代警惕認知被大數據掌控。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認知是因，財富是果。行動模式決定了質變的速度。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管道是自動化現金流的來源，提升系統效率（算力）是維護管道的關鍵。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12聯盟與常規學校不同，其核心是提供在傳統教育體系中缺乏的「創業教育」。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平台提供免費乾貨課程，提倡利用碎片化時間學用綁定。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目前促銷力度極大，拿到解鎖碼就可以免費看一年學習區內容。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12聯盟不僅是學習平台，更是個人低風險創業與建立管道的實戰基地。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今天的行動是成功的開始，立刻執行這三項功課！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</a:pPr>
            <a:r>
              <a:rPr sz="4400" b="1">
                <a:solidFill>
                  <a:srgbClr val="C084FC"/>
                </a:solidFill>
                <a:latin typeface="Microsoft JhengHei"/>
              </a:rPr>
              <a:t>艾莫 0611 鑽石營公開課</a:t>
            </a:r>
          </a:p>
          <a:p>
            <a:pPr algn="ctr"/>
            <a:r>
              <a:rPr sz="2400">
                <a:solidFill>
                  <a:srgbClr val="818CF8"/>
                </a:solidFill>
                <a:latin typeface="Microsoft JhengHei"/>
              </a:rPr>
              <a:t>認知經濟學與創業者變現指南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內容核心摘要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2000">
                <a:solidFill>
                  <a:srgbClr val="F1F5F9"/>
                </a:solidFill>
                <a:latin typeface="Microsoft JhengHei"/>
              </a:rPr>
              <a:t>艾莫 (Amo) 老師深度探討「認知經濟學」，剖析在 AI 智能時代普通人面臨的危機與轉型契機。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核心觀點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：認知已取代資本成為新時代的核心財富來源。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理論支柱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：卡尼曼、西蒙、塔勒布、赫拉利。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財富公式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：認知 $\rightarrow$ 決策 $\rightarrow$ 行動 $\rightarrow$ 結果 $\rightarrow$ 財富 $\rightarrow$ 管道。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實踐平台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：12 聯盟平台，提倡以碎片化時間進行系統化創業教育，藉由「建管道、得自由」協助創業者以極低成本實現財務與心靈自由。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重點大綱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一、 智能時代的變革與認知的崛起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二、 認知經濟學的四大理論基礎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三、 核心財富公式與變現路徑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四、 12 聯盟平台與創業教育實踐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五、 今日實戰功課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一、 智能時代的變革與認知的崛起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時代模式的轉變與面臨的挑戰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人類財富歷史的四大階段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認知如何決定 AI 工具成效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科技巨頭的入口之爭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時代模式的轉變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大眾的現狀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：許多人在不確定性下選擇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躺平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 與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擺爛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企業家的應對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：上進的企業家已調整為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「戰鬥模式」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 與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「奔跑模式」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全新時代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：迎來 12 聯盟劉宇總裁開啟的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5.0 系統與智能平台時代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人類財富歷史的四大階段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1.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農業時代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 (一萬年)：土地 + 勞動力 = 財富。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2.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工業時代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 (幾百年)：機器 + 工廠 + 資本 = 財富。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財富公式：$\text{資本} \times \text{效率} = \text{財富}$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3.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信息時代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 (三十年)：互聯網 + 軟體 + 流量 = 財富。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財富公式：$\text{信息} \times \text{網絡} = \text{財富}$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人類財富歷史的四大階段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4.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智能/認知時代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 (2022年11月3日起，ChatGPT 發布)：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資訊與知識已嚴重過載。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財富來自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注意力、信任關係、決策、算法、個人 IP 影響力與心智佔領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認知決定工具的成效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AI 工具全民皆可得，但最大差距在於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「駕馭工具的人的認知」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同樣的 AI 工具：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有人僅能賺取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3,200 NTD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 (100 USD)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有人能創造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3,200 億 NTD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 (100 億 USD) 的企業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核心差距在於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「認知」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，而非工具本身。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全球科技巨頭到底在爭奪什麼？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80990" y="3017520"/>
            <a:ext cx="1828800" cy="1828800"/>
          </a:xfrm>
          <a:prstGeom prst="ellipse">
            <a:avLst/>
          </a:prstGeom>
          <a:solidFill>
            <a:srgbClr val="4F46E5"/>
          </a:solidFill>
          <a:ln w="254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認知入口</a:t>
            </a:r>
          </a:p>
          <a:p>
            <a:pPr algn="ctr"/>
            <a:r>
              <a:rPr sz="1000">
                <a:solidFill>
                  <a:srgbClr val="E0E7FF"/>
                </a:solidFill>
                <a:latin typeface="Microsoft JhengHei"/>
              </a:rPr>
              <a:t>Cognitive 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23790" y="146304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FFFFFF"/>
                </a:solidFill>
                <a:latin typeface="Microsoft JhengHei"/>
              </a:rPr>
              <a:t>真靈光</a:t>
            </a:r>
          </a:p>
          <a:p>
            <a:pPr algn="ctr"/>
            <a:r>
              <a:rPr sz="1100">
                <a:solidFill>
                  <a:srgbClr val="FBBF24"/>
                </a:solidFill>
                <a:latin typeface="Microsoft JhengHei"/>
              </a:rPr>
              <a:t>身心靈一站式認知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390" y="2377440"/>
            <a:ext cx="0" cy="640080"/>
          </a:xfrm>
          <a:prstGeom prst="line">
            <a:avLst/>
          </a:prstGeom>
          <a:ln w="19050">
            <a:solidFill>
              <a:srgbClr val="FBBF24"/>
            </a:solidFill>
            <a:prstDash val="dash"/>
            <a:endArrow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340510" y="347472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FFFFFF"/>
                </a:solidFill>
                <a:latin typeface="Microsoft JhengHei"/>
              </a:rPr>
              <a:t>OpenAI</a:t>
            </a:r>
          </a:p>
          <a:p>
            <a:pPr algn="ctr"/>
            <a:r>
              <a:rPr sz="1100">
                <a:solidFill>
                  <a:srgbClr val="818CF8"/>
                </a:solidFill>
                <a:latin typeface="Microsoft JhengHei"/>
              </a:rPr>
              <a:t>未來知識入口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83710" y="3931920"/>
            <a:ext cx="1097280" cy="0"/>
          </a:xfrm>
          <a:prstGeom prst="line">
            <a:avLst/>
          </a:prstGeom>
          <a:ln w="19050">
            <a:solidFill>
              <a:srgbClr val="818CF8"/>
            </a:solidFill>
            <a:prstDash val="dash"/>
            <a:endArrow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07070" y="347472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FFFFFF"/>
                </a:solidFill>
                <a:latin typeface="Microsoft JhengHei"/>
              </a:rPr>
              <a:t>Google</a:t>
            </a:r>
          </a:p>
          <a:p>
            <a:pPr algn="ctr"/>
            <a:r>
              <a:rPr sz="1100">
                <a:solidFill>
                  <a:srgbClr val="34D399"/>
                </a:solidFill>
                <a:latin typeface="Microsoft JhengHei"/>
              </a:rPr>
              <a:t>資訊入口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009790" y="3931920"/>
            <a:ext cx="1097280" cy="0"/>
          </a:xfrm>
          <a:prstGeom prst="line">
            <a:avLst/>
          </a:prstGeom>
          <a:ln w="19050">
            <a:solidFill>
              <a:srgbClr val="34D399"/>
            </a:solidFill>
            <a:prstDash val="dash"/>
            <a:endArrow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63470" y="530352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FFFFFF"/>
                </a:solidFill>
                <a:latin typeface="Microsoft JhengHei"/>
              </a:rPr>
              <a:t>Apple</a:t>
            </a:r>
          </a:p>
          <a:p>
            <a:pPr algn="ctr"/>
            <a:r>
              <a:rPr sz="1100">
                <a:solidFill>
                  <a:srgbClr val="EF4444"/>
                </a:solidFill>
                <a:latin typeface="Microsoft JhengHei"/>
              </a:rPr>
              <a:t>用戶體驗入口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449470" y="4572000"/>
            <a:ext cx="1005840" cy="731520"/>
          </a:xfrm>
          <a:prstGeom prst="line">
            <a:avLst/>
          </a:prstGeom>
          <a:ln w="19050">
            <a:solidFill>
              <a:srgbClr val="EF4444"/>
            </a:solidFill>
            <a:prstDash val="dash"/>
            <a:endArrow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84110" y="530352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FFFFFF"/>
                </a:solidFill>
                <a:latin typeface="Microsoft JhengHei"/>
              </a:rPr>
              <a:t>Meta</a:t>
            </a:r>
          </a:p>
          <a:p>
            <a:pPr algn="ctr"/>
            <a:r>
              <a:rPr sz="1100">
                <a:solidFill>
                  <a:srgbClr val="F472B6"/>
                </a:solidFill>
                <a:latin typeface="Microsoft JhengHei"/>
              </a:rPr>
              <a:t>社交認知入口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6735470" y="4572000"/>
            <a:ext cx="1005840" cy="731520"/>
          </a:xfrm>
          <a:prstGeom prst="line">
            <a:avLst/>
          </a:prstGeom>
          <a:ln w="19050">
            <a:solidFill>
              <a:srgbClr val="F472B6"/>
            </a:solidFill>
            <a:prstDash val="dash"/>
            <a:endArrow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創業者與平台的入口之爭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凱麗 (Calerie)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：爭奪「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健康、財富與成長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的入口」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12 聯盟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：爭奪「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創業者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的入口」 (劉宇總裁投資 3,200 億 NTD / 100 億 USD 打造)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二、 認知經濟學的四大理論基礎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丹尼爾·卡尼曼 — 行為經濟學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赫伯特·西蒙 — 有限理性理論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納西姆·塔勒布 — 反脆弱理論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尤瓦爾·赫拉利 — 數據與認知控制權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大師理論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丹尼爾·卡尼曼 (Daniel Kahneman) — 行為經濟學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人類並不理性，大多數決策都來自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認知偏差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這解釋了社群媒體對大眾認知的巨大塑造力 (如多國立法限制16歲以下使用社群媒體)。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赫伯特·西蒙 (Herbert Simon) — 有限理性理論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在信息超載、知識過剩時代，選擇過多反而讓人迷失。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「注意力」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 成為最稀缺資源，聚焦在何處便在哪裡產生結果。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大師理論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納西姆·塔勒布 (Nassim Taleb) — 反脆弱理論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未來充滿不確定性，戰勝不可知未來的方法不是單純的學歷，而是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「能夠從不確定性中獲利 (反脆弱)」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尤瓦爾·赫拉利 (Yuval Harari)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未來核心競爭是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「數據與認知控制權之爭」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大企業透過數據精準分析與強大算力來掌控人類的認知。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三、 核心財富公式與變現路徑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財富遞進公式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賺錢與賠錢的本質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管道的持有與算力優化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終極自由的目標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財富遞進公式與認知變現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財富遞進公式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2000">
                <a:solidFill>
                  <a:srgbClr val="F1F5F9"/>
                </a:solidFill>
                <a:latin typeface="Microsoft JhengHei"/>
              </a:rPr>
              <a:t>$$\text{認知} \rightarrow \text{決策} \rightarrow \text{行動 (模式)} \rightarrow \text{結果 (量變到質變)} \rightarrow \text{財富} \rightarrow \text{管道 (現金流)}$$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賺錢與賠錢的本質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賺錢是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「認知變現」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，賠錢是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「認知缺陷」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人們永遠賺不到自己認知以外的錢。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管道持有與算力優化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終點是管道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：賺錢的起點是認知，終點是管道。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持有成本與算力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管道建成後需要維護 (存在維護成本)。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為了避免管道持有成本過高，必須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「提升算力」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 以降低維護成本。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「建管道、得自由」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實現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財務自由、時間自由、心靈自由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四、 12 聯盟平台與創業教育實踐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三種不同的教育體系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12 聯盟的定位與免費資源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會員與 VIP 區權益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低成本創業實踐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三種教育體系與 12 聯盟定位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應試教育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：以中國大陸為代表的升學與考試體系。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就業教育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：以歐美為代表的專業與職業技能培養。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創業教育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12 聯盟的核心定位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，旨在培育自主創業者與管道建立者。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12 聯盟平台免費資源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免費頻道課程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：健康頻道 (12堂)、財富頻道 (12堂)、成長頻道 (12堂)，每堂課約 10 分鐘。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學用綁定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：將學習綁定在做家務、開車、運動等碎片化時間，進行系統化學習。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輕量化學習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：低門檻、無負擔，隨時隨地學習創業思維。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會員與 VIP 區資費權益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學習區年卡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：原價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3,840 NTD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 (120 USD)。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VIP 區資費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：原價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115,168 NTD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 (3,599 USD)。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限時促銷優惠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：可向引介會員領取解鎖碼，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免費體驗一年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 (可使用至 2027 年 6 月 6 日)。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12 聯盟創業實踐價值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零門檻實踐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：提供低成本、零門檻 of 創業實踐機會。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四力合一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：整合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平台力、系統力、團隊力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 與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個人內驅力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終極目標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：藉由系統化教育，協助個人實現「建管道、得自由」。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五、 今日實戰功課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📝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社群互動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：撰寫推薦文與社群互相留言。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📊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分析練習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：分析 AI 量子儀器 SWOT 與 PEST。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💡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心法實踐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：實踐 5C 思維 ——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以客為尊，越簡單越好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